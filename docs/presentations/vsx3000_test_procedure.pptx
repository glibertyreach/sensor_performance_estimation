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f1bdcf05-a819-6d5e-0c9a-b21ea73bf511}">
          <p14:sldIdLst>
            <p14:sldId id="256"/>
            <p14:sldId id="257"/>
            <p14:sldId id="258"/>
            <p14:sldId id="259"/>
            <p14:sldId id="260"/>
          </p14:sldIdLst>
        </p14:section>
        <p14:section name="Setup" id="{d1e57a67-64f3-9762-7f55-f456370301e8}">
          <p14:sldIdLst>
            <p14:sldId id="261"/>
            <p14:sldId id="262"/>
            <p14:sldId id="263"/>
            <p14:sldId id="264"/>
          </p14:sldIdLst>
        </p14:section>
        <p14:section name="Capture" id="{e3694b31-d332-bc0e-e88f-5ff94e0f10cc}">
          <p14:sldIdLst>
            <p14:sldId id="265"/>
            <p14:sldId id="266"/>
            <p14:sldId id="267"/>
            <p14:sldId id="268"/>
            <p14:sldId id="269"/>
            <p14:sldId id="270"/>
            <p14:sldId id="271"/>
            <p14:sldId id="272"/>
          </p14:sldIdLst>
        </p14:section>
        <p14:section name="Checks" id="{f1cc29d5-fe59-58b9-6c50-61ed5b9620ed}">
          <p14:sldIdLst>
            <p14:sldId id="273"/>
          </p14:sldIdLst>
        </p14:section>
        <p14:section name="Wrap-up" id="{5eb43848-f8d3-91aa-0e6c-c4dfc9c640c7}">
          <p14:sldIdLst>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walks through the technician procedure for the VSX3000 characterization session: preparation, registration, the plan, the five capture series, the pose log and manifest, the checks, and the deliverables. It follows sections 3 to 15 of the procedure; the targets and fixtures are in the procurement and build deck and in section 1. The analysis definitions are in the characterization specification; the procedure says how to capture, not how to compute.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1 of the procedure gives the order and the dependencies: registration feeds every analysis, the noise level from A sets the thresholds of B, C and D, the edge spread function from B predicts the area bias measured in C, and E reuses the B and C frames. Series run in the order A, B, Z, C, D without moving the sensor between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budget assumes a frame rate of 10 frames per second and 3 seconds per move plus settle; the VSX3000 frame rate in the chosen trigger mode replaces them. The extended 5 percent detection series takes about a third of the robot time; the engineer can halve it by lowering the extended trials from 300 to 150, at the cost of a wider interval on the 5 percent point. Section 13 of the procedure has the budget table per series.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target swap is followed by the mount check of step 4.8, and the planner has already placed drift sentinels in the pose list before series A, every 60 minutes, and after the last pose of each series, on whatever target is mounted at that moment. Tell the engineer at once if a series stops early; later series depend on earlier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1f of the procedure. Once the robot model and controller are settled, the robot program can be written with Claude Code to the interface of section 11. The dry run must include the 2 mm back-off below each series Z pose and the approach retreat of every other pose.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2 of the procedure. The robot must report its actual, encoder-derived flange pose at the capture time, to 0.01 mm, time-stamped against the frames; if it cannot, tell the engineer before starting, because for series Z the read-back pose is the step truth. Do not change the active base frame, the exposure or any sensor setting during the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optional separate drift run also belongs here: on the same day or the day before, the board on a fixed stand at 800 mm, the sensor powered from cold, 30 frames every 2 minutes for 8 hours with the loggers running and nothing touched. It measures the sensor's own drift against its temperature; the sentinels in the session stay required because only they see the robot and the mounts.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Procedure section 4. The plane-correspondence solve fixes the camera's pose in the robot base from the depth planes alone: no pattern plate, no IR image, no emitter switching. What planes cannot observe, the sideways position of a target on the flange, comes from the as-built datum and the once-per-mount check against the left IR image. The registration's translation cancels in series Z, which is a difference of registered poses.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Procedure step 4.8. The check frames are not part of the plan and need no pose-log lines; keep them in mount_check_&lt;target&gt;/ in the session folder. The tool reads targets.json, targets_asbuilt.csv and parameters.json from the folder of registration.json. For the board, which has no features, H and V are skipped and the verdict says 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Procedure section 5. Run plan_stations once the registration is accepted and the sensor values are in sensor_config.json; it writes poses.csv, plan_summary.txt, plan.png, targets.json and parameters.json. Read plan_summary.txt before starting: it lists every pose the coverage rule pulled inward, every adjustment and every warning. Decide the optional captures before the first capture and plan once; adding the filters-off repeat, the open-background variant or the C-frame reuse later changes the random offsets of later series.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6 of the procedure. A target that would not fit the field at a corner is pulled inward by the coverage rule and the achieved field fraction is logged in the row; do not move it back out. The tilt sub-series cannot run at 400 mm with the 200 x 150 mm board because the tilted board's near edge would come closer than the near limit, so the planner moves that sweep to 476 mm.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Procedure section 5, robot program outline, and section 11 for the pose log. The one exception to the approach rule is the optional lateral sweep of series B, where odd-numbered poses approach from the negative side and even-numbered from the positive side, so that hysteresis can be measured; the row says so in its approach_direction note.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Procedure section 5. Pose numbers have three digits; the optional captures planned outside the budget number their poses from 1000, 2000, 3000, 4000 and 5000 and so have four. A target without a back plate (the board) writes G0 in the file 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random lateral offsets sample every sub-pixel phase of each edge; the plan holds them in millimeters so the robot only executes the row. Comparing the two gaps tests whether the normalized edge response depends on step height. The left and right edges of the square have opposite occlusion geometry relative to the baseline, which is why both polarities and all four edges are captured.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Procedure section 8 and Figure 8. The true step between two visits is the difference of their registered front-plane depths, so the registration's translation cancels and only the robot's relative motion matters; the smallest rung, 0.1 mm, is twice the robot repeatability. The ramp finds the quantum without small Z moves: each image row lies at one true depth and the rows step through the quanta.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Procedure sections 9 and 10. Sensed area depends on where a feature's edge falls relative to the pixel grid and the projector dots, so the random offsets average over the phase and also measure its spread. The 0 percent detection level is not measured; the analysis predicts it from the fitted curve below the 5 percent point and labels it a prediction. If time is short, 150 extended trials still measure the 5 percent level, to about plus or minus 3.5 percent.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Procedure section 11. After the session the engineer runs make_manifest with the pose log, the capture folder, the plan and the registration; it matches every file to its plan row by name, takes the read-back pose from the log and computes the target pose in the camera frame. A pose without files or a file without a pose is a warning; problems in the log or plan stop the tool. Never use poses.csv as the pose log: it holds the commanded poses, and the analysis needs the reported ones. A log rounded to 0.1 mm makes the smallest Z rungs meaningless.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Procedure section 12. Run the quick check as soon as a series is complete, while the robot and targets are still set up, so that a flagged pose can be re-captured without a re-mount. The same tool does the mount check (--mount-check) and the post check of series D (--pilot 800). Its limits are options listed in appendix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Procedure section 15, which also tabulates the sources of error: robot repeatability and absolute accuracy, the registration residual, the plane-registration depth offset, the as-built uncertainties, plate flatness, thermal drift, interreflection, the sensor's temporal filter. The relative measurements are robust; the smallest Z steps and the absolute bias are the ones most limited by the setup.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Procedure section 13. The engineer runs the six analyses in the order A, B, Z, C, D, E with one command; A supplies the noise level that B, C and D use, and B supplies the edge spread function that C compares with. The output forward_model_parameters.json is the hand-off to the forward-noise simulator.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11277295" cy="1463040"/>
          </a:xfrm>
          <a:prstGeom prst="rect">
            <a:avLst/>
          </a:prstGeom>
          <a:noFill/>
          <a:ln/>
        </p:spPr>
        <p:txBody>
          <a:bodyPr wrap="square" rtlCol="0"/>
          <a:lstStyle>
            <a:lvl1pPr algn="l" indent="0" marL="0">
              <a:buNone/>
              <a:defRPr lang="en-US" sz="4400" b="1" dirty="0">
                <a:solidFill>
                  <a:schemeClr val="bg1"/>
                </a:solidFill>
                <a:latin typeface="+mj-lt" pitchFamily="34" charset="0"/>
                <a:ea typeface="+mj-lt" pitchFamily="34" charset="-122"/>
                <a:cs typeface="+mj-lt" pitchFamily="34" charset="-120"/>
              </a:defRPr>
            </a:lvl1pPr>
          </a:lstStyle>
          <a:p>
            <a:pPr algn="l" indent="0" marL="0">
              <a:buNone/>
            </a:pPr>
            <a:r>
              <a:rPr lang="en-US" sz="4400" b="1" dirty="0">
                <a:solidFill>
                  <a:schemeClr val="bg1"/>
                </a:solidFill>
                <a:latin typeface="+mj-lt" pitchFamily="34" charset="0"/>
                <a:ea typeface="+mj-lt" pitchFamily="34" charset="-122"/>
                <a:cs typeface="+mj-lt" pitchFamily="34" charset="-120"/>
              </a:rPr>
              <a:t>Title</a:t>
            </a:r>
            <a:endParaRPr lang="en-US" sz="4400" dirty="0"/>
          </a:p>
        </p:txBody>
      </p:sp>
      <p:sp>
        <p:nvSpPr>
          <p:cNvPr id="3" name="Text 0"/>
          <p:cNvSpPr/>
          <p:nvPr>
            <p:ph idx="101" type="body" hasCustomPrompt="1"/>
          </p:nvPr>
        </p:nvSpPr>
        <p:spPr>
          <a:xfrm>
            <a:off x="457200" y="2103120"/>
            <a:ext cx="8229600" cy="822960"/>
          </a:xfrm>
          <a:prstGeom prst="rect">
            <a:avLst/>
          </a:prstGeom>
          <a:noFill/>
          <a:ln/>
        </p:spPr>
        <p:txBody>
          <a:bodyPr wrap="square" rtlCol="0"/>
          <a:lstStyle>
            <a:lvl1pPr algn="l" indent="0" marL="0">
              <a:buNone/>
              <a:defRPr lang="en-US" sz="2200" dirty="0">
                <a:solidFill>
                  <a:schemeClr val="accent6"/>
                </a:solidFill>
              </a:defRPr>
            </a:lvl1pPr>
          </a:lstStyle>
          <a:p>
            <a:pPr algn="l" indent="0" marL="0">
              <a:buNone/>
            </a:pPr>
            <a:r>
              <a:rPr lang="en-US" sz="2200" dirty="0">
                <a:solidFill>
                  <a:schemeClr val="accent6"/>
                </a:solidFill>
              </a:rPr>
              <a:t>Subtitle</a:t>
            </a:r>
            <a:endParaRPr lang="en-US" sz="2200" dirty="0"/>
          </a:p>
        </p:txBody>
      </p:sp>
      <p:sp>
        <p:nvSpPr>
          <p:cNvPr id="4" name="Text 0"/>
          <p:cNvSpPr/>
          <p:nvPr>
            <p:ph idx="102" type="body" hasCustomPrompt="1"/>
          </p:nvPr>
        </p:nvSpPr>
        <p:spPr>
          <a:xfrm>
            <a:off x="457200" y="6035040"/>
            <a:ext cx="11277295" cy="365760"/>
          </a:xfrm>
          <a:prstGeom prst="rect">
            <a:avLst/>
          </a:prstGeom>
          <a:noFill/>
          <a:ln/>
        </p:spPr>
        <p:txBody>
          <a:bodyPr wrap="square" rtlCol="0"/>
          <a:lstStyle>
            <a:lvl1pPr algn="l" indent="0" marL="0">
              <a:buNone/>
              <a:defRPr lang="en-US" sz="1400" dirty="0">
                <a:solidFill>
                  <a:schemeClr val="accent6"/>
                </a:solidFill>
              </a:defRPr>
            </a:lvl1pPr>
          </a:lstStyle>
          <a:p>
            <a:pPr algn="l" indent="0" marL="0">
              <a:buNone/>
            </a:pPr>
            <a:r>
              <a:rPr lang="en-US" sz="1400" dirty="0">
                <a:solidFill>
                  <a:schemeClr val="accent6"/>
                </a:solidFill>
              </a:rPr>
              <a:t>Footer</a:t>
            </a: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_ONLY">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11277295" cy="685800"/>
          </a:xfrm>
          <a:prstGeom prst="rect">
            <a:avLst/>
          </a:prstGeom>
          <a:noFill/>
          <a:ln/>
        </p:spPr>
        <p:txBody>
          <a:bodyPr wrap="square" rtlCol="0"/>
          <a:lstStyle>
            <a:lvl1pPr algn="l" indent="0" marL="0">
              <a:buNone/>
              <a:defRPr lang="en-US" sz="3400" b="1" dirty="0">
                <a:solidFill>
                  <a:schemeClr val="tx2"/>
                </a:solidFill>
                <a:latin typeface="+mj-lt" pitchFamily="34" charset="0"/>
                <a:ea typeface="+mj-lt" pitchFamily="34" charset="-122"/>
                <a:cs typeface="+mj-lt" pitchFamily="34" charset="-120"/>
              </a:defRPr>
            </a:lvl1pPr>
          </a:lstStyle>
          <a:p>
            <a:pPr algn="l" indent="0" marL="0">
              <a:buNone/>
            </a:pPr>
            <a:r>
              <a:rPr lang="en-US" sz="3400" b="1" dirty="0">
                <a:solidFill>
                  <a:schemeClr val="tx2"/>
                </a:solidFill>
                <a:latin typeface="+mj-lt" pitchFamily="34" charset="0"/>
                <a:ea typeface="+mj-lt" pitchFamily="34" charset="-122"/>
                <a:cs typeface="+mj-lt" pitchFamily="34" charset="-120"/>
              </a:rPr>
              <a:t>Title</a:t>
            </a:r>
            <a:endParaRPr lang="en-US" sz="34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nchor="b"/>
          <a:lstStyle>
            <a:lvl1pPr>
              <a:defRPr sz="12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nchor="b"/>
          <a:lstStyle>
            <a:lvl1pPr>
              <a:defRPr sz="12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3.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3.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3.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3.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3.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3.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3.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3.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3.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slideLayout" Target="../slideLayouts/slideLayout3.xml"/><Relationship Id="rId7"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image" Target="../media/image-19-7.png"/><Relationship Id="rId8" Type="http://schemas.openxmlformats.org/officeDocument/2006/relationships/slideLayout" Target="../slideLayouts/slideLayout3.xml"/><Relationship Id="rId9"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image" Target="../media/image-20-7.png"/><Relationship Id="rId8" Type="http://schemas.openxmlformats.org/officeDocument/2006/relationships/image" Target="../media/image-20-8.png"/><Relationship Id="rId9" Type="http://schemas.openxmlformats.org/officeDocument/2006/relationships/slideLayout" Target="../slideLayouts/slideLayout3.xml"/><Relationship Id="rId10"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11277295" cy="1463040"/>
          </a:xfrm>
          <a:prstGeom prst="rect">
            <a:avLst/>
          </a:prstGeom>
          <a:noFill/>
          <a:ln/>
        </p:spPr>
        <p:txBody>
          <a:bodyPr wrap="square" lIns="0" tIns="0" rIns="0" bIns="0" rtlCol="0" anchor="b"/>
          <a:lstStyle/>
          <a:p>
            <a:pPr algn="l" indent="0" marL="0">
              <a:buNone/>
            </a:pPr>
            <a:r>
              <a:rPr lang="en-US" sz="3000" b="1" dirty="0">
                <a:solidFill>
                  <a:schemeClr val="bg1"/>
                </a:solidFill>
                <a:latin typeface="+mj-lt" pitchFamily="34" charset="0"/>
                <a:ea typeface="+mj-lt" pitchFamily="34" charset="-122"/>
                <a:cs typeface="+mj-lt" pitchFamily="34" charset="-120"/>
              </a:rPr>
              <a:t>VSX3000 Performance Testing: Test Procedure and Robot Program</a:t>
            </a:r>
            <a:endParaRPr lang="en-US" sz="4400" dirty="0"/>
          </a:p>
        </p:txBody>
      </p:sp>
      <p:sp>
        <p:nvSpPr>
          <p:cNvPr id="3" name="Text 0"/>
          <p:cNvSpPr/>
          <p:nvPr>
            <p:ph idx="101" type="body" hasCustomPrompt="1"/>
          </p:nvPr>
        </p:nvSpPr>
        <p:spPr>
          <a:xfrm>
            <a:off x="457200" y="2103120"/>
            <a:ext cx="8229600" cy="822960"/>
          </a:xfrm>
          <a:prstGeom prst="rect">
            <a:avLst/>
          </a:prstGeom>
          <a:noFill/>
          <a:ln/>
        </p:spPr>
        <p:txBody>
          <a:bodyPr wrap="square" lIns="0" tIns="0" rIns="0" bIns="0" rtlCol="0" anchor="t"/>
          <a:lstStyle/>
          <a:p>
            <a:pPr algn="l" indent="0" marL="0">
              <a:buNone/>
            </a:pPr>
            <a:r>
              <a:rPr lang="en-US" sz="2200" dirty="0">
                <a:solidFill>
                  <a:schemeClr val="accent6"/>
                </a:solidFill>
              </a:rPr>
              <a:t>Running the five capture series and what the robot program must do</a:t>
            </a:r>
            <a:endParaRPr lang="en-US" sz="2200" dirty="0"/>
          </a:p>
        </p:txBody>
      </p:sp>
      <p:sp>
        <p:nvSpPr>
          <p:cNvPr id="4" name="Text 0"/>
          <p:cNvSpPr/>
          <p:nvPr>
            <p:ph idx="102" type="body" hasCustomPrompt="1"/>
          </p:nvPr>
        </p:nvSpPr>
        <p:spPr>
          <a:xfrm>
            <a:off x="457200" y="6035040"/>
            <a:ext cx="11277295" cy="365760"/>
          </a:xfrm>
          <a:prstGeom prst="rect">
            <a:avLst/>
          </a:prstGeom>
          <a:noFill/>
          <a:ln/>
        </p:spPr>
        <p:txBody>
          <a:bodyPr wrap="square" lIns="0" tIns="0" rIns="0" bIns="0" rtlCol="0" anchor="b"/>
          <a:lstStyle/>
          <a:p>
            <a:pPr algn="l" indent="0" marL="0">
              <a:buNone/>
            </a:pPr>
            <a:r>
              <a:rPr lang="en-US" sz="1400" dirty="0">
                <a:solidFill>
                  <a:schemeClr val="accent6"/>
                </a:solidFill>
              </a:rPr>
              <a:t>Test procedure  ·  October 2026</a:t>
            </a:r>
            <a:endParaRPr lang="en-US" sz="1400" dirty="0"/>
          </a:p>
        </p:txBody>
      </p:sp>
      <p:sp>
        <p:nvSpPr>
          <p:cNvPr id="5" name="Graphic sensor body"/>
          <p:cNvSpPr/>
          <p:nvPr/>
        </p:nvSpPr>
        <p:spPr>
          <a:xfrm>
            <a:off x="457200" y="4023360"/>
            <a:ext cx="1005840" cy="1371600"/>
          </a:xfrm>
          <a:prstGeom prst="roundRect">
            <a:avLst>
              <a:gd name="adj" fmla="val 10909"/>
            </a:avLst>
          </a:prstGeom>
          <a:solidFill>
            <a:schemeClr val="accent2"/>
          </a:solidFill>
          <a:ln w="25400">
            <a:solidFill>
              <a:schemeClr val="accent6"/>
            </a:solidFill>
            <a:prstDash val="solid"/>
          </a:ln>
        </p:spPr>
      </p:sp>
      <p:sp>
        <p:nvSpPr>
          <p:cNvPr id="6" name="Graphic sensor lens"/>
          <p:cNvSpPr/>
          <p:nvPr/>
        </p:nvSpPr>
        <p:spPr>
          <a:xfrm>
            <a:off x="868680" y="4480560"/>
            <a:ext cx="457200" cy="457200"/>
          </a:xfrm>
          <a:prstGeom prst="ellipse">
            <a:avLst/>
          </a:prstGeom>
          <a:solidFill>
            <a:schemeClr val="accent3"/>
          </a:solidFill>
          <a:ln/>
        </p:spPr>
      </p:sp>
      <p:sp>
        <p:nvSpPr>
          <p:cNvPr id="7" name="Graphic board 1"/>
          <p:cNvSpPr/>
          <p:nvPr/>
        </p:nvSpPr>
        <p:spPr>
          <a:xfrm>
            <a:off x="3511296" y="3657600"/>
            <a:ext cx="128016" cy="2103120"/>
          </a:xfrm>
          <a:prstGeom prst="roundRect">
            <a:avLst>
              <a:gd name="adj" fmla="val 28571"/>
            </a:avLst>
          </a:prstGeom>
          <a:solidFill>
            <a:schemeClr val="accent6"/>
          </a:solidFill>
          <a:ln w="25400">
            <a:solidFill>
              <a:schemeClr val="accent3"/>
            </a:solidFill>
            <a:prstDash val="solid"/>
          </a:ln>
        </p:spPr>
      </p:sp>
      <p:sp>
        <p:nvSpPr>
          <p:cNvPr id="8" name="Graphic board 1 tool-frame origin"/>
          <p:cNvSpPr/>
          <p:nvPr/>
        </p:nvSpPr>
        <p:spPr>
          <a:xfrm>
            <a:off x="3465576" y="4599432"/>
            <a:ext cx="219456" cy="219456"/>
          </a:xfrm>
          <a:prstGeom prst="ellipse">
            <a:avLst/>
          </a:prstGeom>
          <a:solidFill>
            <a:schemeClr val="accent1"/>
          </a:solidFill>
          <a:ln/>
        </p:spPr>
      </p:sp>
      <p:sp>
        <p:nvSpPr>
          <p:cNvPr id="9" name="Graphic board 2"/>
          <p:cNvSpPr/>
          <p:nvPr/>
        </p:nvSpPr>
        <p:spPr>
          <a:xfrm rot="900000">
            <a:off x="4279392" y="3657600"/>
            <a:ext cx="128016" cy="2103120"/>
          </a:xfrm>
          <a:prstGeom prst="roundRect">
            <a:avLst>
              <a:gd name="adj" fmla="val 28571"/>
            </a:avLst>
          </a:prstGeom>
          <a:solidFill>
            <a:schemeClr val="accent6"/>
          </a:solidFill>
          <a:ln w="25400">
            <a:solidFill>
              <a:schemeClr val="accent3"/>
            </a:solidFill>
            <a:prstDash val="solid"/>
          </a:ln>
        </p:spPr>
      </p:sp>
      <p:sp>
        <p:nvSpPr>
          <p:cNvPr id="10" name="Graphic board 2 tool-frame origin"/>
          <p:cNvSpPr/>
          <p:nvPr/>
        </p:nvSpPr>
        <p:spPr>
          <a:xfrm>
            <a:off x="4233672" y="4599432"/>
            <a:ext cx="219456" cy="219456"/>
          </a:xfrm>
          <a:prstGeom prst="ellipse">
            <a:avLst/>
          </a:prstGeom>
          <a:solidFill>
            <a:schemeClr val="accent1"/>
          </a:solidFill>
          <a:ln/>
        </p:spPr>
      </p:sp>
      <p:sp>
        <p:nvSpPr>
          <p:cNvPr id="11" name="Graphic board 3"/>
          <p:cNvSpPr/>
          <p:nvPr/>
        </p:nvSpPr>
        <p:spPr>
          <a:xfrm rot="1800000">
            <a:off x="5047488" y="3657600"/>
            <a:ext cx="128016" cy="2103120"/>
          </a:xfrm>
          <a:prstGeom prst="roundRect">
            <a:avLst>
              <a:gd name="adj" fmla="val 28571"/>
            </a:avLst>
          </a:prstGeom>
          <a:solidFill>
            <a:schemeClr val="accent6"/>
          </a:solidFill>
          <a:ln w="25400">
            <a:solidFill>
              <a:schemeClr val="accent3"/>
            </a:solidFill>
            <a:prstDash val="solid"/>
          </a:ln>
        </p:spPr>
      </p:sp>
      <p:sp>
        <p:nvSpPr>
          <p:cNvPr id="12" name="Graphic board 3 tool-frame origin"/>
          <p:cNvSpPr/>
          <p:nvPr/>
        </p:nvSpPr>
        <p:spPr>
          <a:xfrm>
            <a:off x="5001768" y="4599432"/>
            <a:ext cx="219456" cy="219456"/>
          </a:xfrm>
          <a:prstGeom prst="ellipse">
            <a:avLst/>
          </a:prstGeom>
          <a:solidFill>
            <a:schemeClr val="accent1"/>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11277295" cy="685800"/>
          </a:xfrm>
          <a:prstGeom prst="rect">
            <a:avLst/>
          </a:prstGeom>
          <a:noFill/>
          <a:ln/>
        </p:spPr>
        <p:txBody>
          <a:bodyPr wrap="square" lIns="0" tIns="0" rIns="0" bIns="0" rtlCol="0" anchor="t"/>
          <a:lstStyle/>
          <a:p>
            <a:pPr algn="l" indent="0" marL="0">
              <a:buNone/>
            </a:pPr>
            <a:r>
              <a:rPr lang="en-US" sz="3400" b="1" dirty="0">
                <a:solidFill>
                  <a:schemeClr val="tx2"/>
                </a:solidFill>
                <a:latin typeface="+mj-lt" pitchFamily="34" charset="0"/>
                <a:ea typeface="+mj-lt" pitchFamily="34" charset="-122"/>
                <a:cs typeface="+mj-lt" pitchFamily="34" charset="-120"/>
              </a:rPr>
              <a:t>What we are measuring, and why</a:t>
            </a:r>
            <a:endParaRPr lang="en-US" sz="3400" dirty="0"/>
          </a:p>
        </p:txBody>
      </p:sp>
      <p:sp>
        <p:nvSpPr>
          <p:cNvPr id="3" name="Column 1 card"/>
          <p:cNvSpPr/>
          <p:nvPr/>
        </p:nvSpPr>
        <p:spPr>
          <a:xfrm>
            <a:off x="457200" y="1417320"/>
            <a:ext cx="3576218" cy="3794760"/>
          </a:xfrm>
          <a:prstGeom prst="roundRect">
            <a:avLst>
              <a:gd name="adj" fmla="val 3068"/>
            </a:avLst>
          </a:prstGeom>
          <a:solidFill>
            <a:schemeClr val="bg2"/>
          </a:solidFill>
          <a:ln/>
        </p:spPr>
      </p:sp>
      <p:sp>
        <p:nvSpPr>
          <p:cNvPr id="4" name="Column 1 icon circle"/>
          <p:cNvSpPr/>
          <p:nvPr/>
        </p:nvSpPr>
        <p:spPr>
          <a:xfrm>
            <a:off x="685800" y="1668780"/>
            <a:ext cx="502920" cy="502920"/>
          </a:xfrm>
          <a:prstGeom prst="ellipse">
            <a:avLst/>
          </a:prstGeom>
          <a:solidFill>
            <a:schemeClr val="accent2"/>
          </a:solidFill>
          <a:ln/>
        </p:spPr>
      </p:sp>
      <p:pic>
        <p:nvPicPr>
          <p:cNvPr id="5" name="Column 1 icon glyph" descr="crosshairs icon">    </p:cNvPr>
          <p:cNvPicPr>
            <a:picLocks noChangeAspect="1"/>
          </p:cNvPicPr>
          <p:nvPr/>
        </p:nvPicPr>
        <p:blipFill>
          <a:blip r:embed="rId1"/>
          <a:stretch>
            <a:fillRect/>
          </a:stretch>
        </p:blipFill>
        <p:spPr>
          <a:xfrm>
            <a:off x="811530" y="1794510"/>
            <a:ext cx="251460" cy="251460"/>
          </a:xfrm>
          <a:prstGeom prst="rect">
            <a:avLst/>
          </a:prstGeom>
        </p:spPr>
      </p:pic>
      <p:sp>
        <p:nvSpPr>
          <p:cNvPr id="6" name="Column 1 head"/>
          <p:cNvSpPr txBox="1"/>
          <p:nvPr/>
        </p:nvSpPr>
        <p:spPr>
          <a:xfrm>
            <a:off x="1371600" y="1645920"/>
            <a:ext cx="2433218" cy="548640"/>
          </a:xfrm>
          <a:prstGeom prst="rect">
            <a:avLst/>
          </a:prstGeom>
          <a:noFill/>
          <a:ln/>
        </p:spPr>
        <p:txBody>
          <a:bodyPr wrap="square" lIns="0" tIns="0" rIns="0" bIns="0" rtlCol="0" anchor="ctr"/>
          <a:lstStyle/>
          <a:p>
            <a:pPr algn="l" indent="0" marL="0">
              <a:buNone/>
            </a:pPr>
            <a:r>
              <a:rPr lang="en-US" sz="1800" b="1" dirty="0">
                <a:solidFill>
                  <a:schemeClr val="tx2"/>
                </a:solidFill>
                <a:latin typeface="+mj-lt" pitchFamily="34" charset="0"/>
                <a:ea typeface="+mj-lt" pitchFamily="34" charset="-122"/>
                <a:cs typeface="+mj-lt" pitchFamily="34" charset="-120"/>
              </a:rPr>
              <a:t>The five series</a:t>
            </a:r>
            <a:endParaRPr lang="en-US" sz="1800" dirty="0"/>
          </a:p>
        </p:txBody>
      </p:sp>
      <p:sp>
        <p:nvSpPr>
          <p:cNvPr id="7" name="Column 1 points"/>
          <p:cNvSpPr txBox="1"/>
          <p:nvPr/>
        </p:nvSpPr>
        <p:spPr>
          <a:xfrm>
            <a:off x="685800" y="2286000"/>
            <a:ext cx="3119018" cy="2834640"/>
          </a:xfrm>
          <a:prstGeom prst="rect">
            <a:avLst/>
          </a:prstGeom>
          <a:noFill/>
          <a:ln/>
        </p:spPr>
        <p:txBody>
          <a:bodyPr wrap="square" lIns="0" tIns="0" rIns="0" bIns="0" rtlCol="0" anchor="t"/>
          <a:lstStyle/>
          <a:p>
            <a:pPr algn="l" marL="177800" indent="-177800">
              <a:spcAft>
                <a:spcPts val="400"/>
              </a:spcAft>
              <a:buSzPct val="100000"/>
              <a:buChar char="•"/>
            </a:pPr>
            <a:r>
              <a:rPr lang="en-US" sz="1400" dirty="0">
                <a:solidFill>
                  <a:schemeClr val="tx1"/>
                </a:solidFill>
              </a:rPr>
              <a:t>A: depth noise against distance, incidence angle and drift, on the board</a:t>
            </a:r>
            <a:endParaRPr lang="en-US" sz="1400" dirty="0"/>
          </a:p>
          <a:p>
            <a:pPr algn="l" marL="177800" indent="-177800">
              <a:spcAft>
                <a:spcPts val="400"/>
              </a:spcAft>
              <a:buSzPct val="100000"/>
              <a:buChar char="•"/>
            </a:pPr>
            <a:r>
              <a:rPr lang="en-US" sz="1400" dirty="0">
                <a:solidFill>
                  <a:schemeClr val="tx1"/>
                </a:solidFill>
              </a:rPr>
              <a:t>B: lateral resolution from the edge targets, at two step heights</a:t>
            </a:r>
            <a:endParaRPr lang="en-US" sz="1400" dirty="0"/>
          </a:p>
          <a:p>
            <a:pPr algn="l" marL="177800" indent="-177800">
              <a:spcAft>
                <a:spcPts val="400"/>
              </a:spcAft>
              <a:buSzPct val="100000"/>
              <a:buChar char="•"/>
            </a:pPr>
            <a:r>
              <a:rPr lang="en-US" sz="1400" dirty="0">
                <a:solidFill>
                  <a:schemeClr val="tx1"/>
                </a:solidFill>
              </a:rPr>
              <a:t>Z: the smallest detectable depth step and the depth quantum</a:t>
            </a:r>
            <a:endParaRPr lang="en-US" sz="1400" dirty="0"/>
          </a:p>
          <a:p>
            <a:pPr algn="l" marL="177800" indent="-177800">
              <a:spcAft>
                <a:spcPts val="400"/>
              </a:spcAft>
              <a:buSzPct val="100000"/>
              <a:buChar char="•"/>
            </a:pPr>
            <a:r>
              <a:rPr lang="en-US" sz="1400" dirty="0">
                <a:solidFill>
                  <a:schemeClr val="tx1"/>
                </a:solidFill>
              </a:rPr>
              <a:t>C: true against sensed area of disks and cutouts</a:t>
            </a:r>
            <a:endParaRPr lang="en-US" sz="1400" dirty="0"/>
          </a:p>
          <a:p>
            <a:pPr algn="l" marL="177800" indent="-177800">
              <a:spcAft>
                <a:spcPts val="400"/>
              </a:spcAft>
              <a:buSzPct val="100000"/>
              <a:buChar char="•"/>
            </a:pPr>
            <a:r>
              <a:rPr lang="en-US" sz="1400" dirty="0">
                <a:solidFill>
                  <a:schemeClr val="tx1"/>
                </a:solidFill>
              </a:rPr>
              <a:t>D: the minimum detectable feature size, as a detection probability</a:t>
            </a:r>
            <a:endParaRPr lang="en-US" sz="1400" dirty="0"/>
          </a:p>
        </p:txBody>
      </p:sp>
      <p:sp>
        <p:nvSpPr>
          <p:cNvPr id="8" name="Column 2 card"/>
          <p:cNvSpPr/>
          <p:nvPr/>
        </p:nvSpPr>
        <p:spPr>
          <a:xfrm>
            <a:off x="4307738" y="1417320"/>
            <a:ext cx="3576218" cy="3794760"/>
          </a:xfrm>
          <a:prstGeom prst="roundRect">
            <a:avLst>
              <a:gd name="adj" fmla="val 3068"/>
            </a:avLst>
          </a:prstGeom>
          <a:solidFill>
            <a:schemeClr val="bg2"/>
          </a:solidFill>
          <a:ln/>
        </p:spPr>
      </p:sp>
      <p:sp>
        <p:nvSpPr>
          <p:cNvPr id="9" name="Column 2 icon circle"/>
          <p:cNvSpPr/>
          <p:nvPr/>
        </p:nvSpPr>
        <p:spPr>
          <a:xfrm>
            <a:off x="4536338" y="1668780"/>
            <a:ext cx="502920" cy="502920"/>
          </a:xfrm>
          <a:prstGeom prst="ellipse">
            <a:avLst/>
          </a:prstGeom>
          <a:solidFill>
            <a:schemeClr val="accent2"/>
          </a:solidFill>
          <a:ln/>
        </p:spPr>
      </p:sp>
      <p:pic>
        <p:nvPicPr>
          <p:cNvPr id="10" name="Column 2 icon glyph" descr="robot icon">    </p:cNvPr>
          <p:cNvPicPr>
            <a:picLocks noChangeAspect="1"/>
          </p:cNvPicPr>
          <p:nvPr/>
        </p:nvPicPr>
        <p:blipFill>
          <a:blip r:embed="rId2"/>
          <a:stretch>
            <a:fillRect/>
          </a:stretch>
        </p:blipFill>
        <p:spPr>
          <a:xfrm>
            <a:off x="4662068" y="1794510"/>
            <a:ext cx="251460" cy="251460"/>
          </a:xfrm>
          <a:prstGeom prst="rect">
            <a:avLst/>
          </a:prstGeom>
        </p:spPr>
      </p:pic>
      <p:sp>
        <p:nvSpPr>
          <p:cNvPr id="11" name="Column 2 head"/>
          <p:cNvSpPr txBox="1"/>
          <p:nvPr/>
        </p:nvSpPr>
        <p:spPr>
          <a:xfrm>
            <a:off x="5222138" y="1645920"/>
            <a:ext cx="2433218" cy="548640"/>
          </a:xfrm>
          <a:prstGeom prst="rect">
            <a:avLst/>
          </a:prstGeom>
          <a:noFill/>
          <a:ln/>
        </p:spPr>
        <p:txBody>
          <a:bodyPr wrap="square" lIns="0" tIns="0" rIns="0" bIns="0" rtlCol="0" anchor="ctr"/>
          <a:lstStyle/>
          <a:p>
            <a:pPr algn="l" indent="0" marL="0">
              <a:buNone/>
            </a:pPr>
            <a:r>
              <a:rPr lang="en-US" sz="1800" b="1" dirty="0">
                <a:solidFill>
                  <a:schemeClr val="tx2"/>
                </a:solidFill>
                <a:latin typeface="+mj-lt" pitchFamily="34" charset="0"/>
                <a:ea typeface="+mj-lt" pitchFamily="34" charset="-122"/>
                <a:cs typeface="+mj-lt" pitchFamily="34" charset="-120"/>
              </a:rPr>
              <a:t>What the robot gives us</a:t>
            </a:r>
            <a:endParaRPr lang="en-US" sz="1800" dirty="0"/>
          </a:p>
        </p:txBody>
      </p:sp>
      <p:sp>
        <p:nvSpPr>
          <p:cNvPr id="12" name="Column 2 points"/>
          <p:cNvSpPr txBox="1"/>
          <p:nvPr/>
        </p:nvSpPr>
        <p:spPr>
          <a:xfrm>
            <a:off x="4536338" y="2286000"/>
            <a:ext cx="3119018" cy="2834640"/>
          </a:xfrm>
          <a:prstGeom prst="rect">
            <a:avLst/>
          </a:prstGeom>
          <a:noFill/>
          <a:ln/>
        </p:spPr>
        <p:txBody>
          <a:bodyPr wrap="square" lIns="0" tIns="0" rIns="0" bIns="0" rtlCol="0" anchor="t"/>
          <a:lstStyle/>
          <a:p>
            <a:pPr algn="l" marL="177800" indent="-177800">
              <a:spcAft>
                <a:spcPts val="400"/>
              </a:spcAft>
              <a:buSzPct val="100000"/>
              <a:buChar char="•"/>
            </a:pPr>
            <a:r>
              <a:rPr lang="en-US" sz="1400" dirty="0">
                <a:solidFill>
                  <a:schemeClr val="tx1"/>
                </a:solidFill>
              </a:rPr>
              <a:t>Commanded, repeatable, logged target poses in front of a fixed sensor</a:t>
            </a:r>
            <a:endParaRPr lang="en-US" sz="1400" dirty="0"/>
          </a:p>
          <a:p>
            <a:pPr algn="l" marL="177800" indent="-177800">
              <a:spcAft>
                <a:spcPts val="400"/>
              </a:spcAft>
              <a:buSzPct val="100000"/>
              <a:buChar char="•"/>
            </a:pPr>
            <a:r>
              <a:rPr lang="en-US" sz="1400" dirty="0">
                <a:solidFill>
                  <a:schemeClr val="tx1"/>
                </a:solidFill>
              </a:rPr>
              <a:t>Ground truth in the sensor frame through one registration from the board's plane</a:t>
            </a:r>
            <a:endParaRPr lang="en-US" sz="1400" dirty="0"/>
          </a:p>
          <a:p>
            <a:pPr algn="l" marL="177800" indent="-177800">
              <a:spcAft>
                <a:spcPts val="400"/>
              </a:spcAft>
              <a:buSzPct val="100000"/>
              <a:buChar char="•"/>
            </a:pPr>
            <a:r>
              <a:rPr lang="en-US" sz="1400" dirty="0">
                <a:solidFill>
                  <a:schemeClr val="tx1"/>
                </a:solidFill>
              </a:rPr>
              <a:t>Read-back poses at 0.01 mm: the step truth of series Z</a:t>
            </a:r>
            <a:endParaRPr lang="en-US" sz="1400" dirty="0"/>
          </a:p>
          <a:p>
            <a:pPr algn="l" marL="177800" indent="-177800">
              <a:spcAft>
                <a:spcPts val="400"/>
              </a:spcAft>
              <a:buSzPct val="100000"/>
              <a:buChar char="•"/>
            </a:pPr>
            <a:r>
              <a:rPr lang="en-US" sz="1400" dirty="0">
                <a:solidFill>
                  <a:schemeClr val="tx1"/>
                </a:solidFill>
              </a:rPr>
              <a:t>Every pose approached from the same direction, so backlash enters no comparison</a:t>
            </a:r>
            <a:endParaRPr lang="en-US" sz="1400" dirty="0"/>
          </a:p>
        </p:txBody>
      </p:sp>
      <p:sp>
        <p:nvSpPr>
          <p:cNvPr id="13" name="Column 3 card"/>
          <p:cNvSpPr/>
          <p:nvPr/>
        </p:nvSpPr>
        <p:spPr>
          <a:xfrm>
            <a:off x="8158277" y="1417320"/>
            <a:ext cx="3576218" cy="3794760"/>
          </a:xfrm>
          <a:prstGeom prst="roundRect">
            <a:avLst>
              <a:gd name="adj" fmla="val 3068"/>
            </a:avLst>
          </a:prstGeom>
          <a:solidFill>
            <a:schemeClr val="bg2"/>
          </a:solidFill>
          <a:ln/>
        </p:spPr>
      </p:sp>
      <p:sp>
        <p:nvSpPr>
          <p:cNvPr id="14" name="Column 3 icon circle"/>
          <p:cNvSpPr/>
          <p:nvPr/>
        </p:nvSpPr>
        <p:spPr>
          <a:xfrm>
            <a:off x="8386877" y="1668780"/>
            <a:ext cx="502920" cy="502920"/>
          </a:xfrm>
          <a:prstGeom prst="ellipse">
            <a:avLst/>
          </a:prstGeom>
          <a:solidFill>
            <a:schemeClr val="accent2"/>
          </a:solidFill>
          <a:ln/>
        </p:spPr>
      </p:sp>
      <p:pic>
        <p:nvPicPr>
          <p:cNvPr id="15" name="Column 3 icon glyph" descr="clipboardCheck icon">    </p:cNvPr>
          <p:cNvPicPr>
            <a:picLocks noChangeAspect="1"/>
          </p:cNvPicPr>
          <p:nvPr/>
        </p:nvPicPr>
        <p:blipFill>
          <a:blip r:embed="rId3"/>
          <a:stretch>
            <a:fillRect/>
          </a:stretch>
        </p:blipFill>
        <p:spPr>
          <a:xfrm>
            <a:off x="8512607" y="1794510"/>
            <a:ext cx="251460" cy="251460"/>
          </a:xfrm>
          <a:prstGeom prst="rect">
            <a:avLst/>
          </a:prstGeom>
        </p:spPr>
      </p:pic>
      <p:sp>
        <p:nvSpPr>
          <p:cNvPr id="16" name="Column 3 head"/>
          <p:cNvSpPr txBox="1"/>
          <p:nvPr/>
        </p:nvSpPr>
        <p:spPr>
          <a:xfrm>
            <a:off x="9072677" y="1645920"/>
            <a:ext cx="2433218" cy="548640"/>
          </a:xfrm>
          <a:prstGeom prst="rect">
            <a:avLst/>
          </a:prstGeom>
          <a:noFill/>
          <a:ln/>
        </p:spPr>
        <p:txBody>
          <a:bodyPr wrap="square" lIns="0" tIns="0" rIns="0" bIns="0" rtlCol="0" anchor="ctr"/>
          <a:lstStyle/>
          <a:p>
            <a:pPr algn="l" indent="0" marL="0">
              <a:buNone/>
            </a:pPr>
            <a:r>
              <a:rPr lang="en-US" sz="1800" b="1" dirty="0">
                <a:solidFill>
                  <a:schemeClr val="tx2"/>
                </a:solidFill>
                <a:latin typeface="+mj-lt" pitchFamily="34" charset="0"/>
                <a:ea typeface="+mj-lt" pitchFamily="34" charset="-122"/>
                <a:cs typeface="+mj-lt" pitchFamily="34" charset="-120"/>
              </a:rPr>
              <a:t>What the session produces</a:t>
            </a:r>
            <a:endParaRPr lang="en-US" sz="1800" dirty="0"/>
          </a:p>
        </p:txBody>
      </p:sp>
      <p:sp>
        <p:nvSpPr>
          <p:cNvPr id="17" name="Column 3 points"/>
          <p:cNvSpPr txBox="1"/>
          <p:nvPr/>
        </p:nvSpPr>
        <p:spPr>
          <a:xfrm>
            <a:off x="8386877" y="2286000"/>
            <a:ext cx="3119018" cy="2834640"/>
          </a:xfrm>
          <a:prstGeom prst="rect">
            <a:avLst/>
          </a:prstGeom>
          <a:noFill/>
          <a:ln/>
        </p:spPr>
        <p:txBody>
          <a:bodyPr wrap="square" lIns="0" tIns="0" rIns="0" bIns="0" rtlCol="0" anchor="t"/>
          <a:lstStyle/>
          <a:p>
            <a:pPr algn="l" marL="177800" indent="-177800">
              <a:spcAft>
                <a:spcPts val="400"/>
              </a:spcAft>
              <a:buSzPct val="100000"/>
              <a:buChar char="•"/>
            </a:pPr>
            <a:r>
              <a:rPr lang="en-US" sz="1400" dirty="0">
                <a:solidFill>
                  <a:schemeClr val="tx1"/>
                </a:solidFill>
              </a:rPr>
              <a:t>One session folder of raw .mc frames with a manifest that says, for every file, which target was where</a:t>
            </a:r>
            <a:endParaRPr lang="en-US" sz="1400" dirty="0"/>
          </a:p>
          <a:p>
            <a:pPr algn="l" marL="177800" indent="-177800">
              <a:spcAft>
                <a:spcPts val="400"/>
              </a:spcAft>
              <a:buSzPct val="100000"/>
              <a:buChar char="•"/>
            </a:pPr>
            <a:r>
              <a:rPr lang="en-US" sz="1400" dirty="0">
                <a:solidFill>
                  <a:schemeClr val="tx1"/>
                </a:solidFill>
              </a:rPr>
              <a:t>Six analyses that write forward_model_parameters.json, the hand-off to the forward-noise simulator</a:t>
            </a:r>
            <a:endParaRPr lang="en-US" sz="1400" dirty="0"/>
          </a:p>
          <a:p>
            <a:pPr algn="l" marL="177800" indent="-177800">
              <a:spcAft>
                <a:spcPts val="400"/>
              </a:spcAft>
              <a:buSzPct val="100000"/>
              <a:buChar char="•"/>
            </a:pPr>
            <a:r>
              <a:rPr lang="en-US" sz="1400" dirty="0">
                <a:solidFill>
                  <a:schemeClr val="tx1"/>
                </a:solidFill>
              </a:rPr>
              <a:t>Analysis E, boundary bias, reuses the B and C frames and needs no captures of its own</a:t>
            </a:r>
            <a:endParaRPr lang="en-US" sz="1400" dirty="0"/>
          </a:p>
        </p:txBody>
      </p:sp>
      <p:sp>
        <p:nvSpPr>
          <p:cNvPr id="18" name="Message box"/>
          <p:cNvSpPr/>
          <p:nvPr/>
        </p:nvSpPr>
        <p:spPr>
          <a:xfrm>
            <a:off x="457200" y="5394960"/>
            <a:ext cx="11277295" cy="731520"/>
          </a:xfrm>
          <a:prstGeom prst="roundRect">
            <a:avLst>
              <a:gd name="adj" fmla="val 15000"/>
            </a:avLst>
          </a:prstGeom>
          <a:solidFill>
            <a:schemeClr val="bg2"/>
          </a:solidFill>
          <a:ln w="25400">
            <a:solidFill>
              <a:schemeClr val="accent1"/>
            </a:solidFill>
            <a:prstDash val="solid"/>
          </a:ln>
        </p:spPr>
      </p:sp>
      <p:sp>
        <p:nvSpPr>
          <p:cNvPr id="19" name="Message icon circle"/>
          <p:cNvSpPr/>
          <p:nvPr/>
        </p:nvSpPr>
        <p:spPr>
          <a:xfrm>
            <a:off x="685800" y="5440680"/>
            <a:ext cx="640080" cy="640080"/>
          </a:xfrm>
          <a:prstGeom prst="ellipse">
            <a:avLst/>
          </a:prstGeom>
          <a:solidFill>
            <a:schemeClr val="accent1"/>
          </a:solidFill>
          <a:ln/>
        </p:spPr>
      </p:sp>
      <p:pic>
        <p:nvPicPr>
          <p:cNvPr id="20" name="Message icon glyph" descr="table icon">    </p:cNvPr>
          <p:cNvPicPr>
            <a:picLocks noChangeAspect="1"/>
          </p:cNvPicPr>
          <p:nvPr/>
        </p:nvPicPr>
        <p:blipFill>
          <a:blip r:embed="rId4"/>
          <a:stretch>
            <a:fillRect/>
          </a:stretch>
        </p:blipFill>
        <p:spPr>
          <a:xfrm>
            <a:off x="845820" y="5600700"/>
            <a:ext cx="320040" cy="320040"/>
          </a:xfrm>
          <a:prstGeom prst="rect">
            <a:avLst/>
          </a:prstGeom>
        </p:spPr>
      </p:pic>
      <p:sp>
        <p:nvSpPr>
          <p:cNvPr id="21" name="Key message"/>
          <p:cNvSpPr txBox="1"/>
          <p:nvPr/>
        </p:nvSpPr>
        <p:spPr>
          <a:xfrm>
            <a:off x="1508760" y="5394960"/>
            <a:ext cx="9997135" cy="731520"/>
          </a:xfrm>
          <a:prstGeom prst="rect">
            <a:avLst/>
          </a:prstGeom>
          <a:noFill/>
          <a:ln/>
        </p:spPr>
        <p:txBody>
          <a:bodyPr wrap="square" lIns="0" tIns="0" rIns="0" bIns="0" rtlCol="0" anchor="ctr"/>
          <a:lstStyle/>
          <a:p>
            <a:pPr algn="l" indent="0" marL="0">
              <a:buNone/>
            </a:pPr>
            <a:r>
              <a:rPr lang="en-US" sz="1800" b="1" dirty="0">
                <a:solidFill>
                  <a:schemeClr val="tx2"/>
                </a:solidFill>
              </a:rPr>
              <a:t>If the manifest is wrong, the results are wrong: much of the procedure is about getting that table right.</a:t>
            </a:r>
            <a:endParaRPr lang="en-US" sz="18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nchor="b"/>
          <a:lstStyle>
            <a:lvl1pPr>
              <a:defRPr sz="12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11277295" cy="685800"/>
          </a:xfrm>
          <a:prstGeom prst="rect">
            <a:avLst/>
          </a:prstGeom>
          <a:noFill/>
          <a:ln/>
        </p:spPr>
        <p:txBody>
          <a:bodyPr wrap="square" lIns="0" tIns="0" rIns="0" bIns="0" rtlCol="0" anchor="t"/>
          <a:lstStyle/>
          <a:p>
            <a:pPr algn="l" indent="0" marL="0">
              <a:buNone/>
            </a:pPr>
            <a:r>
              <a:rPr lang="en-US" sz="3400" b="1" dirty="0">
                <a:solidFill>
                  <a:schemeClr val="tx2"/>
                </a:solidFill>
                <a:latin typeface="+mj-lt" pitchFamily="34" charset="0"/>
                <a:ea typeface="+mj-lt" pitchFamily="34" charset="-122"/>
                <a:cs typeface="+mj-lt" pitchFamily="34" charset="-120"/>
              </a:rPr>
              <a:t>One session folder, 7,202 poses, 42,920 frames</a:t>
            </a:r>
            <a:endParaRPr lang="en-US" sz="3400" dirty="0"/>
          </a:p>
        </p:txBody>
      </p:sp>
      <p:sp>
        <p:nvSpPr>
          <p:cNvPr id="3" name="Stat 1 card"/>
          <p:cNvSpPr/>
          <p:nvPr/>
        </p:nvSpPr>
        <p:spPr>
          <a:xfrm>
            <a:off x="457200" y="1417320"/>
            <a:ext cx="3576218" cy="2377440"/>
          </a:xfrm>
          <a:prstGeom prst="roundRect">
            <a:avLst>
              <a:gd name="adj" fmla="val 4615"/>
            </a:avLst>
          </a:prstGeom>
          <a:solidFill>
            <a:schemeClr val="bg2"/>
          </a:solidFill>
          <a:ln/>
        </p:spPr>
      </p:sp>
      <p:sp>
        <p:nvSpPr>
          <p:cNvPr id="4" name="Stat 1 icon circle"/>
          <p:cNvSpPr/>
          <p:nvPr/>
        </p:nvSpPr>
        <p:spPr>
          <a:xfrm>
            <a:off x="685800" y="1645920"/>
            <a:ext cx="502920" cy="502920"/>
          </a:xfrm>
          <a:prstGeom prst="ellipse">
            <a:avLst/>
          </a:prstGeom>
          <a:solidFill>
            <a:schemeClr val="accent2"/>
          </a:solidFill>
          <a:ln/>
        </p:spPr>
      </p:sp>
      <p:pic>
        <p:nvPicPr>
          <p:cNvPr id="5" name="Stat 1 icon glyph" descr="clipboard icon">    </p:cNvPr>
          <p:cNvPicPr>
            <a:picLocks noChangeAspect="1"/>
          </p:cNvPicPr>
          <p:nvPr/>
        </p:nvPicPr>
        <p:blipFill>
          <a:blip r:embed="rId1"/>
          <a:stretch>
            <a:fillRect/>
          </a:stretch>
        </p:blipFill>
        <p:spPr>
          <a:xfrm>
            <a:off x="811530" y="1771650"/>
            <a:ext cx="251460" cy="251460"/>
          </a:xfrm>
          <a:prstGeom prst="rect">
            <a:avLst/>
          </a:prstGeom>
        </p:spPr>
      </p:pic>
      <p:sp>
        <p:nvSpPr>
          <p:cNvPr id="6" name="Stat 1 value"/>
          <p:cNvSpPr txBox="1"/>
          <p:nvPr/>
        </p:nvSpPr>
        <p:spPr>
          <a:xfrm>
            <a:off x="685800" y="2240280"/>
            <a:ext cx="3119018" cy="822960"/>
          </a:xfrm>
          <a:prstGeom prst="rect">
            <a:avLst/>
          </a:prstGeom>
          <a:noFill/>
          <a:ln/>
        </p:spPr>
        <p:txBody>
          <a:bodyPr wrap="square" lIns="0" tIns="0" rIns="0" bIns="0" rtlCol="0" anchor="ctr"/>
          <a:lstStyle/>
          <a:p>
            <a:pPr algn="l" indent="0" marL="0">
              <a:buNone/>
            </a:pPr>
            <a:r>
              <a:rPr lang="en-US" sz="5400" b="1" dirty="0">
                <a:solidFill>
                  <a:schemeClr val="accent1"/>
                </a:solidFill>
                <a:latin typeface="+mj-lt" pitchFamily="34" charset="0"/>
                <a:ea typeface="+mj-lt" pitchFamily="34" charset="-122"/>
                <a:cs typeface="+mj-lt" pitchFamily="34" charset="-120"/>
              </a:rPr>
              <a:t>7,202</a:t>
            </a:r>
            <a:endParaRPr lang="en-US" sz="5400" dirty="0"/>
          </a:p>
        </p:txBody>
      </p:sp>
      <p:sp>
        <p:nvSpPr>
          <p:cNvPr id="7" name="Stat 1 label"/>
          <p:cNvSpPr txBox="1"/>
          <p:nvPr/>
        </p:nvSpPr>
        <p:spPr>
          <a:xfrm>
            <a:off x="685800" y="3063240"/>
            <a:ext cx="3119018" cy="731520"/>
          </a:xfrm>
          <a:prstGeom prst="rect">
            <a:avLst/>
          </a:prstGeom>
          <a:noFill/>
          <a:ln/>
        </p:spPr>
        <p:txBody>
          <a:bodyPr wrap="square" lIns="0" tIns="0" rIns="0" bIns="0" rtlCol="0" anchor="t"/>
          <a:lstStyle/>
          <a:p>
            <a:pPr algn="l" indent="0" marL="0">
              <a:buNone/>
            </a:pPr>
            <a:r>
              <a:rPr lang="en-US" sz="1400" dirty="0">
                <a:solidFill>
                  <a:schemeClr val="tx1"/>
                </a:solidFill>
              </a:rPr>
              <a:t>robot poses in the default plan, in the planner's order</a:t>
            </a:r>
            <a:endParaRPr lang="en-US" sz="1400" dirty="0"/>
          </a:p>
        </p:txBody>
      </p:sp>
      <p:sp>
        <p:nvSpPr>
          <p:cNvPr id="8" name="Stat 2 card"/>
          <p:cNvSpPr/>
          <p:nvPr/>
        </p:nvSpPr>
        <p:spPr>
          <a:xfrm>
            <a:off x="4307738" y="1417320"/>
            <a:ext cx="3576218" cy="2377440"/>
          </a:xfrm>
          <a:prstGeom prst="roundRect">
            <a:avLst>
              <a:gd name="adj" fmla="val 4615"/>
            </a:avLst>
          </a:prstGeom>
          <a:solidFill>
            <a:schemeClr val="bg2"/>
          </a:solidFill>
          <a:ln/>
        </p:spPr>
      </p:sp>
      <p:sp>
        <p:nvSpPr>
          <p:cNvPr id="9" name="Stat 2 icon circle"/>
          <p:cNvSpPr/>
          <p:nvPr/>
        </p:nvSpPr>
        <p:spPr>
          <a:xfrm>
            <a:off x="4536338" y="1645920"/>
            <a:ext cx="502920" cy="502920"/>
          </a:xfrm>
          <a:prstGeom prst="ellipse">
            <a:avLst/>
          </a:prstGeom>
          <a:solidFill>
            <a:schemeClr val="accent2"/>
          </a:solidFill>
          <a:ln/>
        </p:spPr>
      </p:sp>
      <p:pic>
        <p:nvPicPr>
          <p:cNvPr id="10" name="Stat 2 icon glyph" descr="clock icon">    </p:cNvPr>
          <p:cNvPicPr>
            <a:picLocks noChangeAspect="1"/>
          </p:cNvPicPr>
          <p:nvPr/>
        </p:nvPicPr>
        <p:blipFill>
          <a:blip r:embed="rId2"/>
          <a:stretch>
            <a:fillRect/>
          </a:stretch>
        </p:blipFill>
        <p:spPr>
          <a:xfrm>
            <a:off x="4662068" y="1771650"/>
            <a:ext cx="251460" cy="251460"/>
          </a:xfrm>
          <a:prstGeom prst="rect">
            <a:avLst/>
          </a:prstGeom>
        </p:spPr>
      </p:pic>
      <p:sp>
        <p:nvSpPr>
          <p:cNvPr id="11" name="Stat 2 value"/>
          <p:cNvSpPr txBox="1"/>
          <p:nvPr/>
        </p:nvSpPr>
        <p:spPr>
          <a:xfrm>
            <a:off x="4536338" y="2240280"/>
            <a:ext cx="3119018" cy="822960"/>
          </a:xfrm>
          <a:prstGeom prst="rect">
            <a:avLst/>
          </a:prstGeom>
          <a:noFill/>
          <a:ln/>
        </p:spPr>
        <p:txBody>
          <a:bodyPr wrap="square" lIns="0" tIns="0" rIns="0" bIns="0" rtlCol="0" anchor="ctr"/>
          <a:lstStyle/>
          <a:p>
            <a:pPr algn="l" indent="0" marL="0">
              <a:buNone/>
            </a:pPr>
            <a:r>
              <a:rPr lang="en-US" sz="5400" b="1" dirty="0">
                <a:solidFill>
                  <a:schemeClr val="accent1"/>
                </a:solidFill>
                <a:latin typeface="+mj-lt" pitchFamily="34" charset="0"/>
                <a:ea typeface="+mj-lt" pitchFamily="34" charset="-122"/>
                <a:cs typeface="+mj-lt" pitchFamily="34" charset="-120"/>
              </a:rPr>
              <a:t>7.2 h</a:t>
            </a:r>
            <a:endParaRPr lang="en-US" sz="5400" dirty="0"/>
          </a:p>
        </p:txBody>
      </p:sp>
      <p:sp>
        <p:nvSpPr>
          <p:cNvPr id="12" name="Stat 2 label"/>
          <p:cNvSpPr txBox="1"/>
          <p:nvPr/>
        </p:nvSpPr>
        <p:spPr>
          <a:xfrm>
            <a:off x="4536338" y="3063240"/>
            <a:ext cx="3119018" cy="731520"/>
          </a:xfrm>
          <a:prstGeom prst="rect">
            <a:avLst/>
          </a:prstGeom>
          <a:noFill/>
          <a:ln/>
        </p:spPr>
        <p:txBody>
          <a:bodyPr wrap="square" lIns="0" tIns="0" rIns="0" bIns="0" rtlCol="0" anchor="t"/>
          <a:lstStyle/>
          <a:p>
            <a:pPr algn="l" indent="0" marL="0">
              <a:buNone/>
            </a:pPr>
            <a:r>
              <a:rPr lang="en-US" sz="1400" dirty="0">
                <a:solidFill>
                  <a:schemeClr val="tx1"/>
                </a:solidFill>
              </a:rPr>
              <a:t>of robot time at 10 frames per second and 3 s per move; two to three working days with swaps, checks and warm-up</a:t>
            </a:r>
            <a:endParaRPr lang="en-US" sz="1400" dirty="0"/>
          </a:p>
        </p:txBody>
      </p:sp>
      <p:sp>
        <p:nvSpPr>
          <p:cNvPr id="13" name="Stat 3 card"/>
          <p:cNvSpPr/>
          <p:nvPr/>
        </p:nvSpPr>
        <p:spPr>
          <a:xfrm>
            <a:off x="8158277" y="1417320"/>
            <a:ext cx="3576218" cy="2377440"/>
          </a:xfrm>
          <a:prstGeom prst="roundRect">
            <a:avLst>
              <a:gd name="adj" fmla="val 4615"/>
            </a:avLst>
          </a:prstGeom>
          <a:solidFill>
            <a:schemeClr val="bg2"/>
          </a:solidFill>
          <a:ln/>
        </p:spPr>
      </p:sp>
      <p:sp>
        <p:nvSpPr>
          <p:cNvPr id="14" name="Stat 3 icon circle"/>
          <p:cNvSpPr/>
          <p:nvPr/>
        </p:nvSpPr>
        <p:spPr>
          <a:xfrm>
            <a:off x="8386877" y="1645920"/>
            <a:ext cx="502920" cy="502920"/>
          </a:xfrm>
          <a:prstGeom prst="ellipse">
            <a:avLst/>
          </a:prstGeom>
          <a:solidFill>
            <a:schemeClr val="accent2"/>
          </a:solidFill>
          <a:ln/>
        </p:spPr>
      </p:sp>
      <p:pic>
        <p:nvPicPr>
          <p:cNvPr id="15" name="Stat 3 icon glyph" descr="bullseye icon">    </p:cNvPr>
          <p:cNvPicPr>
            <a:picLocks noChangeAspect="1"/>
          </p:cNvPicPr>
          <p:nvPr/>
        </p:nvPicPr>
        <p:blipFill>
          <a:blip r:embed="rId3"/>
          <a:stretch>
            <a:fillRect/>
          </a:stretch>
        </p:blipFill>
        <p:spPr>
          <a:xfrm>
            <a:off x="8512607" y="1771650"/>
            <a:ext cx="251460" cy="251460"/>
          </a:xfrm>
          <a:prstGeom prst="rect">
            <a:avLst/>
          </a:prstGeom>
        </p:spPr>
      </p:pic>
      <p:sp>
        <p:nvSpPr>
          <p:cNvPr id="16" name="Stat 3 value"/>
          <p:cNvSpPr txBox="1"/>
          <p:nvPr/>
        </p:nvSpPr>
        <p:spPr>
          <a:xfrm>
            <a:off x="8386877" y="2240280"/>
            <a:ext cx="3119018" cy="822960"/>
          </a:xfrm>
          <a:prstGeom prst="rect">
            <a:avLst/>
          </a:prstGeom>
          <a:noFill/>
          <a:ln/>
        </p:spPr>
        <p:txBody>
          <a:bodyPr wrap="square" lIns="0" tIns="0" rIns="0" bIns="0" rtlCol="0" anchor="ctr"/>
          <a:lstStyle/>
          <a:p>
            <a:pPr algn="l" indent="0" marL="0">
              <a:buNone/>
            </a:pPr>
            <a:r>
              <a:rPr lang="en-US" sz="5400" b="1" dirty="0">
                <a:solidFill>
                  <a:schemeClr val="accent1"/>
                </a:solidFill>
                <a:latin typeface="+mj-lt" pitchFamily="34" charset="0"/>
                <a:ea typeface="+mj-lt" pitchFamily="34" charset="-122"/>
                <a:cs typeface="+mj-lt" pitchFamily="34" charset="-120"/>
              </a:rPr>
              <a:t>430 GB</a:t>
            </a:r>
            <a:endParaRPr lang="en-US" sz="5400" dirty="0"/>
          </a:p>
        </p:txBody>
      </p:sp>
      <p:sp>
        <p:nvSpPr>
          <p:cNvPr id="17" name="Stat 3 label"/>
          <p:cNvSpPr txBox="1"/>
          <p:nvPr/>
        </p:nvSpPr>
        <p:spPr>
          <a:xfrm>
            <a:off x="8386877" y="3063240"/>
            <a:ext cx="3119018" cy="731520"/>
          </a:xfrm>
          <a:prstGeom prst="rect">
            <a:avLst/>
          </a:prstGeom>
          <a:noFill/>
          <a:ln/>
        </p:spPr>
        <p:txBody>
          <a:bodyPr wrap="square" lIns="0" tIns="0" rIns="0" bIns="0" rtlCol="0" anchor="t"/>
          <a:lstStyle/>
          <a:p>
            <a:pPr algn="l" indent="0" marL="0">
              <a:buNone/>
            </a:pPr>
            <a:r>
              <a:rPr lang="en-US" sz="1400" dirty="0">
                <a:solidFill>
                  <a:schemeClr val="tx1"/>
                </a:solidFill>
              </a:rPr>
              <a:t>of .mc frames at 10 GB per 1,000 frames; check storage before starting</a:t>
            </a:r>
            <a:endParaRPr lang="en-US" sz="1400" dirty="0"/>
          </a:p>
        </p:txBody>
      </p:sp>
      <p:sp>
        <p:nvSpPr>
          <p:cNvPr id="18" name="Message icon circle"/>
          <p:cNvSpPr/>
          <p:nvPr/>
        </p:nvSpPr>
        <p:spPr>
          <a:xfrm>
            <a:off x="457200" y="4160520"/>
            <a:ext cx="548640" cy="548640"/>
          </a:xfrm>
          <a:prstGeom prst="ellipse">
            <a:avLst/>
          </a:prstGeom>
          <a:solidFill>
            <a:schemeClr val="accent1"/>
          </a:solidFill>
          <a:ln/>
        </p:spPr>
      </p:sp>
      <p:pic>
        <p:nvPicPr>
          <p:cNvPr id="19" name="Message icon glyph" descr="table icon">    </p:cNvPr>
          <p:cNvPicPr>
            <a:picLocks noChangeAspect="1"/>
          </p:cNvPicPr>
          <p:nvPr/>
        </p:nvPicPr>
        <p:blipFill>
          <a:blip r:embed="rId4"/>
          <a:stretch>
            <a:fillRect/>
          </a:stretch>
        </p:blipFill>
        <p:spPr>
          <a:xfrm>
            <a:off x="594360" y="4297680"/>
            <a:ext cx="274320" cy="274320"/>
          </a:xfrm>
          <a:prstGeom prst="rect">
            <a:avLst/>
          </a:prstGeom>
        </p:spPr>
      </p:pic>
      <p:sp>
        <p:nvSpPr>
          <p:cNvPr id="20" name="Key message"/>
          <p:cNvSpPr txBox="1"/>
          <p:nvPr/>
        </p:nvSpPr>
        <p:spPr>
          <a:xfrm>
            <a:off x="1188720" y="4069080"/>
            <a:ext cx="10545775" cy="731520"/>
          </a:xfrm>
          <a:prstGeom prst="rect">
            <a:avLst/>
          </a:prstGeom>
          <a:noFill/>
          <a:ln/>
        </p:spPr>
        <p:txBody>
          <a:bodyPr wrap="square" lIns="0" tIns="0" rIns="0" bIns="0" rtlCol="0" anchor="ctr"/>
          <a:lstStyle/>
          <a:p>
            <a:pPr algn="l" indent="0" marL="0">
              <a:buNone/>
            </a:pPr>
            <a:r>
              <a:rPr lang="en-US" sz="2200" b="1" i="1" dirty="0">
                <a:solidFill>
                  <a:schemeClr val="tx2"/>
                </a:solidFill>
              </a:rPr>
              <a:t>Save every frame raw, with one manifest row per frame, so any analysis can be re-run without re-capturing.</a:t>
            </a:r>
            <a:endParaRPr lang="en-US" sz="2200" dirty="0"/>
          </a:p>
        </p:txBody>
      </p:sp>
      <p:sp>
        <p:nvSpPr>
          <p:cNvPr id="21" name="Body"/>
          <p:cNvSpPr txBox="1"/>
          <p:nvPr/>
        </p:nvSpPr>
        <p:spPr>
          <a:xfrm>
            <a:off x="457200" y="5074920"/>
            <a:ext cx="11277295" cy="1051560"/>
          </a:xfrm>
          <a:prstGeom prst="rect">
            <a:avLst/>
          </a:prstGeom>
          <a:noFill/>
          <a:ln/>
        </p:spPr>
        <p:txBody>
          <a:bodyPr wrap="square" lIns="0" tIns="0" rIns="0" bIns="0" rtlCol="0" anchor="t"/>
          <a:lstStyle/>
          <a:p>
            <a:pPr algn="l" indent="0" marL="0">
              <a:buNone/>
            </a:pPr>
            <a:r>
              <a:rPr lang="en-US" sz="1600" dirty="0">
                <a:solidFill>
                  <a:schemeClr val="tx1"/>
                </a:solidFill>
              </a:rPr>
              <a:t>The default plan is the capture budget of procedure section 13. Outside it are the optional captures the engineer plans only when needed: the filters-off repeat of A and B, the staircase of Z, the lateral sweep of B, the open-background variant of C, and the separate 8 hour drift run taken with the robot idle.</a:t>
            </a:r>
            <a:endParaRPr lang="en-US" sz="16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nchor="b"/>
          <a:lstStyle>
            <a:lvl1pPr>
              <a:defRPr sz="12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11277295" cy="685800"/>
          </a:xfrm>
          <a:prstGeom prst="rect">
            <a:avLst/>
          </a:prstGeom>
          <a:noFill/>
          <a:ln/>
        </p:spPr>
        <p:txBody>
          <a:bodyPr wrap="square" lIns="0" tIns="0" rIns="0" bIns="0" rtlCol="0" anchor="t"/>
          <a:lstStyle/>
          <a:p>
            <a:pPr algn="l" indent="0" marL="0">
              <a:buNone/>
            </a:pPr>
            <a:r>
              <a:rPr lang="en-US" sz="3400" b="1" dirty="0">
                <a:solidFill>
                  <a:schemeClr val="tx2"/>
                </a:solidFill>
                <a:latin typeface="+mj-lt" pitchFamily="34" charset="0"/>
                <a:ea typeface="+mj-lt" pitchFamily="34" charset="-122"/>
                <a:cs typeface="+mj-lt" pitchFamily="34" charset="-120"/>
              </a:rPr>
              <a:t>The session at a glance</a:t>
            </a:r>
            <a:endParaRPr lang="en-US" sz="3400" dirty="0"/>
          </a:p>
        </p:txBody>
      </p:sp>
      <p:sp>
        <p:nvSpPr>
          <p:cNvPr id="3" name="Step 1 card"/>
          <p:cNvSpPr/>
          <p:nvPr/>
        </p:nvSpPr>
        <p:spPr>
          <a:xfrm>
            <a:off x="457200" y="1417320"/>
            <a:ext cx="2407844" cy="2125980"/>
          </a:xfrm>
          <a:prstGeom prst="roundRect">
            <a:avLst>
              <a:gd name="adj" fmla="val 5161"/>
            </a:avLst>
          </a:prstGeom>
          <a:solidFill>
            <a:schemeClr val="bg2"/>
          </a:solidFill>
          <a:ln/>
        </p:spPr>
      </p:sp>
      <p:sp>
        <p:nvSpPr>
          <p:cNvPr id="4" name="Step 1 badge"/>
          <p:cNvSpPr txBox="1"/>
          <p:nvPr/>
        </p:nvSpPr>
        <p:spPr>
          <a:xfrm>
            <a:off x="685800" y="1645920"/>
            <a:ext cx="502920" cy="50292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5" name="Step 1 head"/>
          <p:cNvSpPr txBox="1"/>
          <p:nvPr/>
        </p:nvSpPr>
        <p:spPr>
          <a:xfrm>
            <a:off x="1371600" y="1645920"/>
            <a:ext cx="1264844" cy="502920"/>
          </a:xfrm>
          <a:prstGeom prst="rect">
            <a:avLst/>
          </a:prstGeom>
          <a:noFill/>
          <a:ln/>
        </p:spPr>
        <p:txBody>
          <a:bodyPr wrap="square" lIns="0" tIns="0" rIns="0" bIns="0" rtlCol="0" anchor="ctr"/>
          <a:lstStyle/>
          <a:p>
            <a:pPr algn="l" indent="0" marL="0">
              <a:buNone/>
            </a:pPr>
            <a:r>
              <a:rPr lang="en-US" sz="1600" b="1" dirty="0">
                <a:solidFill>
                  <a:schemeClr val="tx2"/>
                </a:solidFill>
              </a:rPr>
              <a:t>Prepare</a:t>
            </a:r>
            <a:endParaRPr lang="en-US" sz="1600" dirty="0"/>
          </a:p>
        </p:txBody>
      </p:sp>
      <p:sp>
        <p:nvSpPr>
          <p:cNvPr id="6" name="Step 1 text"/>
          <p:cNvSpPr txBox="1"/>
          <p:nvPr/>
        </p:nvSpPr>
        <p:spPr>
          <a:xfrm>
            <a:off x="685800" y="2240280"/>
            <a:ext cx="1950644" cy="1074420"/>
          </a:xfrm>
          <a:prstGeom prst="rect">
            <a:avLst/>
          </a:prstGeom>
          <a:noFill/>
          <a:ln/>
        </p:spPr>
        <p:txBody>
          <a:bodyPr wrap="square" lIns="0" tIns="0" rIns="0" bIns="0" rtlCol="0" anchor="t"/>
          <a:lstStyle/>
          <a:p>
            <a:pPr algn="l" indent="0" marL="0">
              <a:buNone/>
            </a:pPr>
            <a:r>
              <a:rPr lang="en-US" sz="1400" dirty="0">
                <a:solidFill>
                  <a:schemeClr val="tx1"/>
                </a:solidFill>
              </a:rPr>
              <a:t>Loggers on; sensor configuration fixed and recorded; warm-up until the plane Z stops drifting; settle check</a:t>
            </a:r>
            <a:endParaRPr lang="en-US" sz="1400" dirty="0"/>
          </a:p>
        </p:txBody>
      </p:sp>
      <p:sp>
        <p:nvSpPr>
          <p:cNvPr id="7" name="Arrow 1 to 2"/>
          <p:cNvSpPr/>
          <p:nvPr/>
        </p:nvSpPr>
        <p:spPr>
          <a:xfrm>
            <a:off x="3025064" y="2297430"/>
            <a:ext cx="228600" cy="365760"/>
          </a:xfrm>
          <a:prstGeom prst="chevron">
            <a:avLst/>
          </a:prstGeom>
          <a:solidFill>
            <a:schemeClr val="accent2"/>
          </a:solidFill>
          <a:ln/>
        </p:spPr>
      </p:sp>
      <p:sp>
        <p:nvSpPr>
          <p:cNvPr id="8" name="Step 2 card"/>
          <p:cNvSpPr/>
          <p:nvPr/>
        </p:nvSpPr>
        <p:spPr>
          <a:xfrm>
            <a:off x="3413684" y="1417320"/>
            <a:ext cx="2407844" cy="2125980"/>
          </a:xfrm>
          <a:prstGeom prst="roundRect">
            <a:avLst>
              <a:gd name="adj" fmla="val 5161"/>
            </a:avLst>
          </a:prstGeom>
          <a:solidFill>
            <a:schemeClr val="bg2"/>
          </a:solidFill>
          <a:ln/>
        </p:spPr>
      </p:sp>
      <p:sp>
        <p:nvSpPr>
          <p:cNvPr id="9" name="Step 2 badge"/>
          <p:cNvSpPr txBox="1"/>
          <p:nvPr/>
        </p:nvSpPr>
        <p:spPr>
          <a:xfrm>
            <a:off x="3642284" y="1645920"/>
            <a:ext cx="502920" cy="50292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0" name="Step 2 head"/>
          <p:cNvSpPr txBox="1"/>
          <p:nvPr/>
        </p:nvSpPr>
        <p:spPr>
          <a:xfrm>
            <a:off x="4328084" y="1645920"/>
            <a:ext cx="1264844" cy="502920"/>
          </a:xfrm>
          <a:prstGeom prst="rect">
            <a:avLst/>
          </a:prstGeom>
          <a:noFill/>
          <a:ln/>
        </p:spPr>
        <p:txBody>
          <a:bodyPr wrap="square" lIns="0" tIns="0" rIns="0" bIns="0" rtlCol="0" anchor="ctr"/>
          <a:lstStyle/>
          <a:p>
            <a:pPr algn="l" indent="0" marL="0">
              <a:buNone/>
            </a:pPr>
            <a:r>
              <a:rPr lang="en-US" sz="1600" b="1" dirty="0">
                <a:solidFill>
                  <a:schemeClr val="tx2"/>
                </a:solidFill>
              </a:rPr>
              <a:t>Register</a:t>
            </a:r>
            <a:endParaRPr lang="en-US" sz="1600" dirty="0"/>
          </a:p>
        </p:txBody>
      </p:sp>
      <p:sp>
        <p:nvSpPr>
          <p:cNvPr id="11" name="Step 2 text"/>
          <p:cNvSpPr txBox="1"/>
          <p:nvPr/>
        </p:nvSpPr>
        <p:spPr>
          <a:xfrm>
            <a:off x="3642284" y="2240280"/>
            <a:ext cx="1950644" cy="1074420"/>
          </a:xfrm>
          <a:prstGeom prst="rect">
            <a:avLst/>
          </a:prstGeom>
          <a:noFill/>
          <a:ln/>
        </p:spPr>
        <p:txBody>
          <a:bodyPr wrap="square" lIns="0" tIns="0" rIns="0" bIns="0" rtlCol="0" anchor="t"/>
          <a:lstStyle/>
          <a:p>
            <a:pPr algn="l" indent="0" marL="0">
              <a:buNone/>
            </a:pPr>
            <a:r>
              <a:rPr lang="en-US" sz="1400" dirty="0">
                <a:solidFill>
                  <a:schemeClr val="tx1"/>
                </a:solidFill>
              </a:rPr>
              <a:t>30 hand-jogged poses of the board; the plane-correspondence solve; accept at 0.15 mm RMS or better</a:t>
            </a:r>
            <a:endParaRPr lang="en-US" sz="1400" dirty="0"/>
          </a:p>
        </p:txBody>
      </p:sp>
      <p:sp>
        <p:nvSpPr>
          <p:cNvPr id="12" name="Arrow 2 to 3"/>
          <p:cNvSpPr/>
          <p:nvPr/>
        </p:nvSpPr>
        <p:spPr>
          <a:xfrm>
            <a:off x="5981548" y="2297430"/>
            <a:ext cx="228600" cy="365760"/>
          </a:xfrm>
          <a:prstGeom prst="chevron">
            <a:avLst/>
          </a:prstGeom>
          <a:solidFill>
            <a:schemeClr val="accent2"/>
          </a:solidFill>
          <a:ln/>
        </p:spPr>
      </p:sp>
      <p:sp>
        <p:nvSpPr>
          <p:cNvPr id="13" name="Step 3 card"/>
          <p:cNvSpPr/>
          <p:nvPr/>
        </p:nvSpPr>
        <p:spPr>
          <a:xfrm>
            <a:off x="6370168" y="1417320"/>
            <a:ext cx="2407844" cy="2125980"/>
          </a:xfrm>
          <a:prstGeom prst="roundRect">
            <a:avLst>
              <a:gd name="adj" fmla="val 5161"/>
            </a:avLst>
          </a:prstGeom>
          <a:solidFill>
            <a:schemeClr val="bg2"/>
          </a:solidFill>
          <a:ln/>
        </p:spPr>
      </p:sp>
      <p:sp>
        <p:nvSpPr>
          <p:cNvPr id="14" name="Step 3 badge"/>
          <p:cNvSpPr txBox="1"/>
          <p:nvPr/>
        </p:nvSpPr>
        <p:spPr>
          <a:xfrm>
            <a:off x="6598768" y="1645920"/>
            <a:ext cx="502920" cy="50292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5" name="Step 3 head"/>
          <p:cNvSpPr txBox="1"/>
          <p:nvPr/>
        </p:nvSpPr>
        <p:spPr>
          <a:xfrm>
            <a:off x="7284568" y="1645920"/>
            <a:ext cx="1264844" cy="502920"/>
          </a:xfrm>
          <a:prstGeom prst="rect">
            <a:avLst/>
          </a:prstGeom>
          <a:noFill/>
          <a:ln/>
        </p:spPr>
        <p:txBody>
          <a:bodyPr wrap="square" lIns="0" tIns="0" rIns="0" bIns="0" rtlCol="0" anchor="ctr"/>
          <a:lstStyle/>
          <a:p>
            <a:pPr algn="l" indent="0" marL="0">
              <a:buNone/>
            </a:pPr>
            <a:r>
              <a:rPr lang="en-US" sz="1600" b="1" dirty="0">
                <a:solidFill>
                  <a:schemeClr val="tx2"/>
                </a:solidFill>
              </a:rPr>
              <a:t>Plan</a:t>
            </a:r>
            <a:endParaRPr lang="en-US" sz="1600" dirty="0"/>
          </a:p>
        </p:txBody>
      </p:sp>
      <p:sp>
        <p:nvSpPr>
          <p:cNvPr id="16" name="Step 3 text"/>
          <p:cNvSpPr txBox="1"/>
          <p:nvPr/>
        </p:nvSpPr>
        <p:spPr>
          <a:xfrm>
            <a:off x="6598768" y="2240280"/>
            <a:ext cx="1950644" cy="1074420"/>
          </a:xfrm>
          <a:prstGeom prst="rect">
            <a:avLst/>
          </a:prstGeom>
          <a:noFill/>
          <a:ln/>
        </p:spPr>
        <p:txBody>
          <a:bodyPr wrap="square" lIns="0" tIns="0" rIns="0" bIns="0" rtlCol="0" anchor="t"/>
          <a:lstStyle/>
          <a:p>
            <a:pPr algn="l" indent="0" marL="0">
              <a:buNone/>
            </a:pPr>
            <a:r>
              <a:rPr lang="en-US" sz="1400" dirty="0">
                <a:solidFill>
                  <a:schemeClr val="tx1"/>
                </a:solidFill>
              </a:rPr>
              <a:t>plan_stations writes poses.csv, the summary and the picture; record the seed</a:t>
            </a:r>
            <a:endParaRPr lang="en-US" sz="1400" dirty="0"/>
          </a:p>
        </p:txBody>
      </p:sp>
      <p:sp>
        <p:nvSpPr>
          <p:cNvPr id="17" name="Arrow 3 to 4"/>
          <p:cNvSpPr/>
          <p:nvPr/>
        </p:nvSpPr>
        <p:spPr>
          <a:xfrm>
            <a:off x="8938031" y="2297430"/>
            <a:ext cx="228600" cy="365760"/>
          </a:xfrm>
          <a:prstGeom prst="chevron">
            <a:avLst/>
          </a:prstGeom>
          <a:solidFill>
            <a:schemeClr val="accent2"/>
          </a:solidFill>
          <a:ln/>
        </p:spPr>
      </p:sp>
      <p:sp>
        <p:nvSpPr>
          <p:cNvPr id="18" name="Step 4 card"/>
          <p:cNvSpPr/>
          <p:nvPr/>
        </p:nvSpPr>
        <p:spPr>
          <a:xfrm>
            <a:off x="9326651" y="1417320"/>
            <a:ext cx="2407844" cy="2125980"/>
          </a:xfrm>
          <a:prstGeom prst="roundRect">
            <a:avLst>
              <a:gd name="adj" fmla="val 5161"/>
            </a:avLst>
          </a:prstGeom>
          <a:solidFill>
            <a:schemeClr val="bg2"/>
          </a:solidFill>
          <a:ln/>
        </p:spPr>
      </p:sp>
      <p:sp>
        <p:nvSpPr>
          <p:cNvPr id="19" name="Step 4 badge"/>
          <p:cNvSpPr txBox="1"/>
          <p:nvPr/>
        </p:nvSpPr>
        <p:spPr>
          <a:xfrm>
            <a:off x="9555251" y="1645920"/>
            <a:ext cx="502920" cy="50292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20" name="Step 4 head"/>
          <p:cNvSpPr txBox="1"/>
          <p:nvPr/>
        </p:nvSpPr>
        <p:spPr>
          <a:xfrm>
            <a:off x="10241051" y="1645920"/>
            <a:ext cx="1264844" cy="502920"/>
          </a:xfrm>
          <a:prstGeom prst="rect">
            <a:avLst/>
          </a:prstGeom>
          <a:noFill/>
          <a:ln/>
        </p:spPr>
        <p:txBody>
          <a:bodyPr wrap="square" lIns="0" tIns="0" rIns="0" bIns="0" rtlCol="0" anchor="ctr"/>
          <a:lstStyle/>
          <a:p>
            <a:pPr algn="l" indent="0" marL="0">
              <a:buNone/>
            </a:pPr>
            <a:r>
              <a:rPr lang="en-US" sz="1600" b="1" dirty="0">
                <a:solidFill>
                  <a:schemeClr val="tx2"/>
                </a:solidFill>
              </a:rPr>
              <a:t>Series A and B</a:t>
            </a:r>
            <a:endParaRPr lang="en-US" sz="1600" dirty="0"/>
          </a:p>
        </p:txBody>
      </p:sp>
      <p:sp>
        <p:nvSpPr>
          <p:cNvPr id="21" name="Step 4 text"/>
          <p:cNvSpPr txBox="1"/>
          <p:nvPr/>
        </p:nvSpPr>
        <p:spPr>
          <a:xfrm>
            <a:off x="9555251" y="2240280"/>
            <a:ext cx="1950644" cy="1074420"/>
          </a:xfrm>
          <a:prstGeom prst="rect">
            <a:avLst/>
          </a:prstGeom>
          <a:noFill/>
          <a:ln/>
        </p:spPr>
        <p:txBody>
          <a:bodyPr wrap="square" lIns="0" tIns="0" rIns="0" bIns="0" rtlCol="0" anchor="t"/>
          <a:lstStyle/>
          <a:p>
            <a:pPr algn="l" indent="0" marL="0">
              <a:buNone/>
            </a:pPr>
            <a:r>
              <a:rPr lang="en-US" sz="1400" dirty="0">
                <a:solidFill>
                  <a:schemeClr val="tx1"/>
                </a:solidFill>
              </a:rPr>
              <a:t>Noise on the board, then edges on T3a and T3b at both gaps</a:t>
            </a:r>
            <a:endParaRPr lang="en-US" sz="1400" dirty="0"/>
          </a:p>
        </p:txBody>
      </p:sp>
      <p:sp>
        <p:nvSpPr>
          <p:cNvPr id="22" name="Step 5 card"/>
          <p:cNvSpPr/>
          <p:nvPr/>
        </p:nvSpPr>
        <p:spPr>
          <a:xfrm>
            <a:off x="457200" y="4000500"/>
            <a:ext cx="2407844" cy="2125980"/>
          </a:xfrm>
          <a:prstGeom prst="roundRect">
            <a:avLst>
              <a:gd name="adj" fmla="val 5161"/>
            </a:avLst>
          </a:prstGeom>
          <a:solidFill>
            <a:schemeClr val="bg2"/>
          </a:solidFill>
          <a:ln/>
        </p:spPr>
      </p:sp>
      <p:sp>
        <p:nvSpPr>
          <p:cNvPr id="23" name="Step 5 badge"/>
          <p:cNvSpPr txBox="1"/>
          <p:nvPr/>
        </p:nvSpPr>
        <p:spPr>
          <a:xfrm>
            <a:off x="685800" y="4229100"/>
            <a:ext cx="502920" cy="50292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24" name="Step 5 head"/>
          <p:cNvSpPr txBox="1"/>
          <p:nvPr/>
        </p:nvSpPr>
        <p:spPr>
          <a:xfrm>
            <a:off x="1371600" y="4229100"/>
            <a:ext cx="1264844" cy="502920"/>
          </a:xfrm>
          <a:prstGeom prst="rect">
            <a:avLst/>
          </a:prstGeom>
          <a:noFill/>
          <a:ln/>
        </p:spPr>
        <p:txBody>
          <a:bodyPr wrap="square" lIns="0" tIns="0" rIns="0" bIns="0" rtlCol="0" anchor="ctr"/>
          <a:lstStyle/>
          <a:p>
            <a:pPr algn="l" indent="0" marL="0">
              <a:buNone/>
            </a:pPr>
            <a:r>
              <a:rPr lang="en-US" sz="1600" b="1" dirty="0">
                <a:solidFill>
                  <a:schemeClr val="tx2"/>
                </a:solidFill>
              </a:rPr>
              <a:t>Series Z</a:t>
            </a:r>
            <a:endParaRPr lang="en-US" sz="1600" dirty="0"/>
          </a:p>
        </p:txBody>
      </p:sp>
      <p:sp>
        <p:nvSpPr>
          <p:cNvPr id="25" name="Step 5 text"/>
          <p:cNvSpPr txBox="1"/>
          <p:nvPr/>
        </p:nvSpPr>
        <p:spPr>
          <a:xfrm>
            <a:off x="685800" y="4823460"/>
            <a:ext cx="1950644" cy="1074420"/>
          </a:xfrm>
          <a:prstGeom prst="rect">
            <a:avLst/>
          </a:prstGeom>
          <a:noFill/>
          <a:ln/>
        </p:spPr>
        <p:txBody>
          <a:bodyPr wrap="square" lIns="0" tIns="0" rIns="0" bIns="0" rtlCol="0" anchor="t"/>
          <a:lstStyle/>
          <a:p>
            <a:pPr algn="l" indent="0" marL="0">
              <a:buNone/>
            </a:pPr>
            <a:r>
              <a:rPr lang="en-US" sz="1400" dirty="0">
                <a:solidFill>
                  <a:schemeClr val="tx1"/>
                </a:solidFill>
              </a:rPr>
              <a:t>Step ladder and ramp on the board, every pose approached from below</a:t>
            </a:r>
            <a:endParaRPr lang="en-US" sz="1400" dirty="0"/>
          </a:p>
        </p:txBody>
      </p:sp>
      <p:sp>
        <p:nvSpPr>
          <p:cNvPr id="26" name="Arrow 5 to 6"/>
          <p:cNvSpPr/>
          <p:nvPr/>
        </p:nvSpPr>
        <p:spPr>
          <a:xfrm>
            <a:off x="3025064" y="4880610"/>
            <a:ext cx="228600" cy="365760"/>
          </a:xfrm>
          <a:prstGeom prst="chevron">
            <a:avLst/>
          </a:prstGeom>
          <a:solidFill>
            <a:schemeClr val="accent2"/>
          </a:solidFill>
          <a:ln/>
        </p:spPr>
      </p:sp>
      <p:sp>
        <p:nvSpPr>
          <p:cNvPr id="27" name="Step 6 card"/>
          <p:cNvSpPr/>
          <p:nvPr/>
        </p:nvSpPr>
        <p:spPr>
          <a:xfrm>
            <a:off x="3413684" y="4000500"/>
            <a:ext cx="2407844" cy="2125980"/>
          </a:xfrm>
          <a:prstGeom prst="roundRect">
            <a:avLst>
              <a:gd name="adj" fmla="val 5161"/>
            </a:avLst>
          </a:prstGeom>
          <a:solidFill>
            <a:schemeClr val="bg2"/>
          </a:solidFill>
          <a:ln/>
        </p:spPr>
      </p:sp>
      <p:sp>
        <p:nvSpPr>
          <p:cNvPr id="28" name="Step 6 badge"/>
          <p:cNvSpPr txBox="1"/>
          <p:nvPr/>
        </p:nvSpPr>
        <p:spPr>
          <a:xfrm>
            <a:off x="3642284" y="4229100"/>
            <a:ext cx="502920" cy="50292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6</a:t>
            </a:r>
            <a:endParaRPr lang="en-US" sz="1800" dirty="0"/>
          </a:p>
        </p:txBody>
      </p:sp>
      <p:sp>
        <p:nvSpPr>
          <p:cNvPr id="29" name="Step 6 head"/>
          <p:cNvSpPr txBox="1"/>
          <p:nvPr/>
        </p:nvSpPr>
        <p:spPr>
          <a:xfrm>
            <a:off x="4328084" y="4229100"/>
            <a:ext cx="1264844" cy="502920"/>
          </a:xfrm>
          <a:prstGeom prst="rect">
            <a:avLst/>
          </a:prstGeom>
          <a:noFill/>
          <a:ln/>
        </p:spPr>
        <p:txBody>
          <a:bodyPr wrap="square" lIns="0" tIns="0" rIns="0" bIns="0" rtlCol="0" anchor="ctr"/>
          <a:lstStyle/>
          <a:p>
            <a:pPr algn="l" indent="0" marL="0">
              <a:buNone/>
            </a:pPr>
            <a:r>
              <a:rPr lang="en-US" sz="1600" b="1" dirty="0">
                <a:solidFill>
                  <a:schemeClr val="tx2"/>
                </a:solidFill>
              </a:rPr>
              <a:t>Series C and D</a:t>
            </a:r>
            <a:endParaRPr lang="en-US" sz="1600" dirty="0"/>
          </a:p>
        </p:txBody>
      </p:sp>
      <p:sp>
        <p:nvSpPr>
          <p:cNvPr id="30" name="Step 6 text"/>
          <p:cNvSpPr txBox="1"/>
          <p:nvPr/>
        </p:nvSpPr>
        <p:spPr>
          <a:xfrm>
            <a:off x="3642284" y="4823460"/>
            <a:ext cx="1950644" cy="1074420"/>
          </a:xfrm>
          <a:prstGeom prst="rect">
            <a:avLst/>
          </a:prstGeom>
          <a:noFill/>
          <a:ln/>
        </p:spPr>
        <p:txBody>
          <a:bodyPr wrap="square" lIns="0" tIns="0" rIns="0" bIns="0" rtlCol="0" anchor="t"/>
          <a:lstStyle/>
          <a:p>
            <a:pPr algn="l" indent="0" marL="0">
              <a:buNone/>
            </a:pPr>
            <a:r>
              <a:rPr lang="en-US" sz="1400" dirty="0">
                <a:solidFill>
                  <a:schemeClr val="tx1"/>
                </a:solidFill>
              </a:rPr>
              <a:t>Areas and detection trials on T4 and T5 at both gaps</a:t>
            </a:r>
            <a:endParaRPr lang="en-US" sz="1400" dirty="0"/>
          </a:p>
        </p:txBody>
      </p:sp>
      <p:sp>
        <p:nvSpPr>
          <p:cNvPr id="31" name="Arrow 6 to 7"/>
          <p:cNvSpPr/>
          <p:nvPr/>
        </p:nvSpPr>
        <p:spPr>
          <a:xfrm>
            <a:off x="5981548" y="4880610"/>
            <a:ext cx="228600" cy="365760"/>
          </a:xfrm>
          <a:prstGeom prst="chevron">
            <a:avLst/>
          </a:prstGeom>
          <a:solidFill>
            <a:schemeClr val="accent2"/>
          </a:solidFill>
          <a:ln/>
        </p:spPr>
      </p:sp>
      <p:sp>
        <p:nvSpPr>
          <p:cNvPr id="32" name="Step 7 card"/>
          <p:cNvSpPr/>
          <p:nvPr/>
        </p:nvSpPr>
        <p:spPr>
          <a:xfrm>
            <a:off x="6370168" y="4000500"/>
            <a:ext cx="2407844" cy="2125980"/>
          </a:xfrm>
          <a:prstGeom prst="roundRect">
            <a:avLst>
              <a:gd name="adj" fmla="val 5161"/>
            </a:avLst>
          </a:prstGeom>
          <a:solidFill>
            <a:schemeClr val="bg2"/>
          </a:solidFill>
          <a:ln/>
        </p:spPr>
      </p:sp>
      <p:sp>
        <p:nvSpPr>
          <p:cNvPr id="33" name="Step 7 badge"/>
          <p:cNvSpPr txBox="1"/>
          <p:nvPr/>
        </p:nvSpPr>
        <p:spPr>
          <a:xfrm>
            <a:off x="6598768" y="4229100"/>
            <a:ext cx="502920" cy="50292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7</a:t>
            </a:r>
            <a:endParaRPr lang="en-US" sz="1800" dirty="0"/>
          </a:p>
        </p:txBody>
      </p:sp>
      <p:sp>
        <p:nvSpPr>
          <p:cNvPr id="34" name="Step 7 head"/>
          <p:cNvSpPr txBox="1"/>
          <p:nvPr/>
        </p:nvSpPr>
        <p:spPr>
          <a:xfrm>
            <a:off x="7284568" y="4229100"/>
            <a:ext cx="1264844" cy="502920"/>
          </a:xfrm>
          <a:prstGeom prst="rect">
            <a:avLst/>
          </a:prstGeom>
          <a:noFill/>
          <a:ln/>
        </p:spPr>
        <p:txBody>
          <a:bodyPr wrap="square" lIns="0" tIns="0" rIns="0" bIns="0" rtlCol="0" anchor="ctr"/>
          <a:lstStyle/>
          <a:p>
            <a:pPr algn="l" indent="0" marL="0">
              <a:buNone/>
            </a:pPr>
            <a:r>
              <a:rPr lang="en-US" sz="1600" b="1" dirty="0">
                <a:solidFill>
                  <a:schemeClr val="tx2"/>
                </a:solidFill>
              </a:rPr>
              <a:t>Hand over</a:t>
            </a:r>
            <a:endParaRPr lang="en-US" sz="1600" dirty="0"/>
          </a:p>
        </p:txBody>
      </p:sp>
      <p:sp>
        <p:nvSpPr>
          <p:cNvPr id="35" name="Step 7 text"/>
          <p:cNvSpPr txBox="1"/>
          <p:nvPr/>
        </p:nvSpPr>
        <p:spPr>
          <a:xfrm>
            <a:off x="6598768" y="4823460"/>
            <a:ext cx="1950644" cy="1074420"/>
          </a:xfrm>
          <a:prstGeom prst="rect">
            <a:avLst/>
          </a:prstGeom>
          <a:noFill/>
          <a:ln/>
        </p:spPr>
        <p:txBody>
          <a:bodyPr wrap="square" lIns="0" tIns="0" rIns="0" bIns="0" rtlCol="0" anchor="t"/>
          <a:lstStyle/>
          <a:p>
            <a:pPr algn="l" indent="0" marL="0">
              <a:buNone/>
            </a:pPr>
            <a:r>
              <a:rPr lang="en-US" sz="1400" dirty="0">
                <a:solidFill>
                  <a:schemeClr val="tx1"/>
                </a:solidFill>
              </a:rPr>
              <a:t>Pose log, manifest, checks, session log, environment log, photos</a:t>
            </a:r>
            <a:endParaRPr lang="en-US" sz="1400" dirty="0"/>
          </a:p>
        </p:txBody>
      </p:sp>
      <p:sp>
        <p:nvSpPr>
          <p:cNvPr id="36" name="Return connector down"/>
          <p:cNvSpPr/>
          <p:nvPr/>
        </p:nvSpPr>
        <p:spPr>
          <a:xfrm>
            <a:off x="10530573" y="3543300"/>
            <a:ext cx="0" cy="228600"/>
          </a:xfrm>
          <a:prstGeom prst="line">
            <a:avLst/>
          </a:prstGeom>
          <a:noFill/>
          <a:ln w="25400">
            <a:solidFill>
              <a:schemeClr val="accent2"/>
            </a:solidFill>
            <a:prstDash val="solid"/>
          </a:ln>
        </p:spPr>
      </p:sp>
      <p:sp>
        <p:nvSpPr>
          <p:cNvPr id="37" name="Return connector across"/>
          <p:cNvSpPr/>
          <p:nvPr/>
        </p:nvSpPr>
        <p:spPr>
          <a:xfrm>
            <a:off x="1661122" y="3771900"/>
            <a:ext cx="8869451" cy="0"/>
          </a:xfrm>
          <a:prstGeom prst="line">
            <a:avLst/>
          </a:prstGeom>
          <a:noFill/>
          <a:ln w="25400">
            <a:solidFill>
              <a:schemeClr val="accent2"/>
            </a:solidFill>
            <a:prstDash val="solid"/>
          </a:ln>
        </p:spPr>
      </p:sp>
      <p:sp>
        <p:nvSpPr>
          <p:cNvPr id="38" name="Return connector into row 2"/>
          <p:cNvSpPr/>
          <p:nvPr/>
        </p:nvSpPr>
        <p:spPr>
          <a:xfrm>
            <a:off x="1661122" y="3771900"/>
            <a:ext cx="0" cy="45720"/>
          </a:xfrm>
          <a:prstGeom prst="line">
            <a:avLst/>
          </a:prstGeom>
          <a:noFill/>
          <a:ln w="25400">
            <a:solidFill>
              <a:schemeClr val="accent2"/>
            </a:solidFill>
            <a:prstDash val="solid"/>
          </a:ln>
        </p:spPr>
      </p:sp>
      <p:sp>
        <p:nvSpPr>
          <p:cNvPr id="39" name="Return connector arrowhead"/>
          <p:cNvSpPr/>
          <p:nvPr/>
        </p:nvSpPr>
        <p:spPr>
          <a:xfrm flipV="1">
            <a:off x="1523962" y="3817620"/>
            <a:ext cx="274320" cy="182880"/>
          </a:xfrm>
          <a:prstGeom prst="triangle">
            <a:avLst/>
          </a:prstGeom>
          <a:solidFill>
            <a:schemeClr val="accent2"/>
          </a:solidFill>
          <a:ln/>
        </p:spPr>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nchor="b"/>
          <a:lstStyle>
            <a:lvl1pPr>
              <a:defRPr sz="12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11277295" cy="685800"/>
          </a:xfrm>
          <a:prstGeom prst="rect">
            <a:avLst/>
          </a:prstGeom>
          <a:noFill/>
          <a:ln/>
        </p:spPr>
        <p:txBody>
          <a:bodyPr wrap="square" lIns="0" tIns="0" rIns="0" bIns="0" rtlCol="0" anchor="t"/>
          <a:lstStyle/>
          <a:p>
            <a:pPr algn="l" indent="0" marL="0">
              <a:buNone/>
            </a:pPr>
            <a:r>
              <a:rPr lang="en-US" sz="3400" b="1" dirty="0">
                <a:solidFill>
                  <a:schemeClr val="tx2"/>
                </a:solidFill>
                <a:latin typeface="+mj-lt" pitchFamily="34" charset="0"/>
                <a:ea typeface="+mj-lt" pitchFamily="34" charset="-122"/>
                <a:cs typeface="+mj-lt" pitchFamily="34" charset="-120"/>
              </a:rPr>
              <a:t>Preparation before the first session</a:t>
            </a:r>
            <a:endParaRPr lang="en-US" sz="3400" dirty="0"/>
          </a:p>
        </p:txBody>
      </p:sp>
      <p:sp>
        <p:nvSpPr>
          <p:cNvPr id="3" name="Column 1 card"/>
          <p:cNvSpPr/>
          <p:nvPr/>
        </p:nvSpPr>
        <p:spPr>
          <a:xfrm>
            <a:off x="457200" y="1417320"/>
            <a:ext cx="3576218" cy="3794760"/>
          </a:xfrm>
          <a:prstGeom prst="roundRect">
            <a:avLst>
              <a:gd name="adj" fmla="val 3068"/>
            </a:avLst>
          </a:prstGeom>
          <a:solidFill>
            <a:schemeClr val="bg2"/>
          </a:solidFill>
          <a:ln/>
        </p:spPr>
      </p:sp>
      <p:sp>
        <p:nvSpPr>
          <p:cNvPr id="4" name="Column 1 icon circle"/>
          <p:cNvSpPr/>
          <p:nvPr/>
        </p:nvSpPr>
        <p:spPr>
          <a:xfrm>
            <a:off x="685800" y="1668780"/>
            <a:ext cx="502920" cy="502920"/>
          </a:xfrm>
          <a:prstGeom prst="ellipse">
            <a:avLst/>
          </a:prstGeom>
          <a:solidFill>
            <a:schemeClr val="accent2"/>
          </a:solidFill>
          <a:ln/>
        </p:spPr>
      </p:sp>
      <p:pic>
        <p:nvPicPr>
          <p:cNvPr id="5" name="Column 1 icon glyph" descr="robot icon">    </p:cNvPr>
          <p:cNvPicPr>
            <a:picLocks noChangeAspect="1"/>
          </p:cNvPicPr>
          <p:nvPr/>
        </p:nvPicPr>
        <p:blipFill>
          <a:blip r:embed="rId1"/>
          <a:stretch>
            <a:fillRect/>
          </a:stretch>
        </p:blipFill>
        <p:spPr>
          <a:xfrm>
            <a:off x="811530" y="1794510"/>
            <a:ext cx="251460" cy="251460"/>
          </a:xfrm>
          <a:prstGeom prst="rect">
            <a:avLst/>
          </a:prstGeom>
        </p:spPr>
      </p:pic>
      <p:sp>
        <p:nvSpPr>
          <p:cNvPr id="6" name="Column 1 head"/>
          <p:cNvSpPr txBox="1"/>
          <p:nvPr/>
        </p:nvSpPr>
        <p:spPr>
          <a:xfrm>
            <a:off x="1371600" y="1645920"/>
            <a:ext cx="2433218" cy="548640"/>
          </a:xfrm>
          <a:prstGeom prst="rect">
            <a:avLst/>
          </a:prstGeom>
          <a:noFill/>
          <a:ln/>
        </p:spPr>
        <p:txBody>
          <a:bodyPr wrap="square" lIns="0" tIns="0" rIns="0" bIns="0" rtlCol="0" anchor="ctr"/>
          <a:lstStyle/>
          <a:p>
            <a:pPr algn="l" indent="0" marL="0">
              <a:buNone/>
            </a:pPr>
            <a:r>
              <a:rPr lang="en-US" sz="1800" b="1" dirty="0">
                <a:solidFill>
                  <a:schemeClr val="tx2"/>
                </a:solidFill>
                <a:latin typeface="+mj-lt" pitchFamily="34" charset="0"/>
                <a:ea typeface="+mj-lt" pitchFamily="34" charset="-122"/>
                <a:cs typeface="+mj-lt" pitchFamily="34" charset="-120"/>
              </a:rPr>
              <a:t>Robot</a:t>
            </a:r>
            <a:endParaRPr lang="en-US" sz="1800" dirty="0"/>
          </a:p>
        </p:txBody>
      </p:sp>
      <p:sp>
        <p:nvSpPr>
          <p:cNvPr id="7" name="Column 1 points"/>
          <p:cNvSpPr txBox="1"/>
          <p:nvPr/>
        </p:nvSpPr>
        <p:spPr>
          <a:xfrm>
            <a:off x="685800" y="2286000"/>
            <a:ext cx="3119018" cy="2834640"/>
          </a:xfrm>
          <a:prstGeom prst="rect">
            <a:avLst/>
          </a:prstGeom>
          <a:noFill/>
          <a:ln/>
        </p:spPr>
        <p:txBody>
          <a:bodyPr wrap="square" lIns="0" tIns="0" rIns="0" bIns="0" rtlCol="0" anchor="t"/>
          <a:lstStyle/>
          <a:p>
            <a:pPr algn="l" marL="177800" indent="-177800">
              <a:spcAft>
                <a:spcPts val="400"/>
              </a:spcAft>
              <a:buSzPct val="100000"/>
              <a:buChar char="•"/>
            </a:pPr>
            <a:r>
              <a:rPr lang="en-US" sz="1400" dirty="0">
                <a:solidFill>
                  <a:schemeClr val="tx1"/>
                </a:solidFill>
              </a:rPr>
              <a:t>Flange confirmed against ISO 9409-1-50-4-M6; repeatability 0.05 mm or better</a:t>
            </a:r>
            <a:endParaRPr lang="en-US" sz="1400" dirty="0"/>
          </a:p>
          <a:p>
            <a:pPr algn="l" marL="177800" indent="-177800">
              <a:spcAft>
                <a:spcPts val="400"/>
              </a:spcAft>
              <a:buSzPct val="100000"/>
              <a:buChar char="•"/>
            </a:pPr>
            <a:r>
              <a:rPr lang="en-US" sz="1400" dirty="0">
                <a:solidFill>
                  <a:schemeClr val="tx1"/>
                </a:solidFill>
              </a:rPr>
              <a:t>Controller reports the actual pose at 0.01 mm with a time stamp</a:t>
            </a:r>
            <a:endParaRPr lang="en-US" sz="1400" dirty="0"/>
          </a:p>
          <a:p>
            <a:pPr algn="l" marL="177800" indent="-177800">
              <a:spcAft>
                <a:spcPts val="400"/>
              </a:spcAft>
              <a:buSzPct val="100000"/>
              <a:buChar char="•"/>
            </a:pPr>
            <a:r>
              <a:rPr lang="en-US" sz="1400" dirty="0">
                <a:solidFill>
                  <a:schemeClr val="tx1"/>
                </a:solidFill>
              </a:rPr>
              <a:t>Each fixture weighed; tool load data entered</a:t>
            </a:r>
            <a:endParaRPr lang="en-US" sz="1400" dirty="0"/>
          </a:p>
          <a:p>
            <a:pPr algn="l" marL="177800" indent="-177800">
              <a:spcAft>
                <a:spcPts val="400"/>
              </a:spcAft>
              <a:buSzPct val="100000"/>
              <a:buChar char="•"/>
            </a:pPr>
            <a:r>
              <a:rPr lang="en-US" sz="1400" dirty="0">
                <a:solidFill>
                  <a:schemeClr val="tx1"/>
                </a:solidFill>
              </a:rPr>
              <a:t>Robot program written to the pose-list interface; dry run of every pose at reduced speed with the largest target</a:t>
            </a:r>
            <a:endParaRPr lang="en-US" sz="1400" dirty="0"/>
          </a:p>
          <a:p>
            <a:pPr algn="l" marL="177800" indent="-177800">
              <a:spcAft>
                <a:spcPts val="400"/>
              </a:spcAft>
              <a:buSzPct val="100000"/>
              <a:buChar char="•"/>
            </a:pPr>
            <a:r>
              <a:rPr lang="en-US" sz="1400" dirty="0">
                <a:solidFill>
                  <a:schemeClr val="tx1"/>
                </a:solidFill>
              </a:rPr>
              <a:t>Safety review</a:t>
            </a:r>
            <a:endParaRPr lang="en-US" sz="1400" dirty="0"/>
          </a:p>
        </p:txBody>
      </p:sp>
      <p:sp>
        <p:nvSpPr>
          <p:cNvPr id="8" name="Column 2 card"/>
          <p:cNvSpPr/>
          <p:nvPr/>
        </p:nvSpPr>
        <p:spPr>
          <a:xfrm>
            <a:off x="4307738" y="1417320"/>
            <a:ext cx="3576218" cy="3794760"/>
          </a:xfrm>
          <a:prstGeom prst="roundRect">
            <a:avLst>
              <a:gd name="adj" fmla="val 3068"/>
            </a:avLst>
          </a:prstGeom>
          <a:solidFill>
            <a:schemeClr val="bg2"/>
          </a:solidFill>
          <a:ln/>
        </p:spPr>
      </p:sp>
      <p:sp>
        <p:nvSpPr>
          <p:cNvPr id="9" name="Column 2 icon circle"/>
          <p:cNvSpPr/>
          <p:nvPr/>
        </p:nvSpPr>
        <p:spPr>
          <a:xfrm>
            <a:off x="4536338" y="1668780"/>
            <a:ext cx="502920" cy="502920"/>
          </a:xfrm>
          <a:prstGeom prst="ellipse">
            <a:avLst/>
          </a:prstGeom>
          <a:solidFill>
            <a:schemeClr val="accent2"/>
          </a:solidFill>
          <a:ln/>
        </p:spPr>
      </p:sp>
      <p:pic>
        <p:nvPicPr>
          <p:cNvPr id="10" name="Column 2 icon glyph" descr="camera icon">    </p:cNvPr>
          <p:cNvPicPr>
            <a:picLocks noChangeAspect="1"/>
          </p:cNvPicPr>
          <p:nvPr/>
        </p:nvPicPr>
        <p:blipFill>
          <a:blip r:embed="rId2"/>
          <a:stretch>
            <a:fillRect/>
          </a:stretch>
        </p:blipFill>
        <p:spPr>
          <a:xfrm>
            <a:off x="4662068" y="1794510"/>
            <a:ext cx="251460" cy="251460"/>
          </a:xfrm>
          <a:prstGeom prst="rect">
            <a:avLst/>
          </a:prstGeom>
        </p:spPr>
      </p:pic>
      <p:sp>
        <p:nvSpPr>
          <p:cNvPr id="11" name="Column 2 head"/>
          <p:cNvSpPr txBox="1"/>
          <p:nvPr/>
        </p:nvSpPr>
        <p:spPr>
          <a:xfrm>
            <a:off x="5222138" y="1645920"/>
            <a:ext cx="2433218" cy="548640"/>
          </a:xfrm>
          <a:prstGeom prst="rect">
            <a:avLst/>
          </a:prstGeom>
          <a:noFill/>
          <a:ln/>
        </p:spPr>
        <p:txBody>
          <a:bodyPr wrap="square" lIns="0" tIns="0" rIns="0" bIns="0" rtlCol="0" anchor="ctr"/>
          <a:lstStyle/>
          <a:p>
            <a:pPr algn="l" indent="0" marL="0">
              <a:buNone/>
            </a:pPr>
            <a:r>
              <a:rPr lang="en-US" sz="1800" b="1" dirty="0">
                <a:solidFill>
                  <a:schemeClr val="tx2"/>
                </a:solidFill>
                <a:latin typeface="+mj-lt" pitchFamily="34" charset="0"/>
                <a:ea typeface="+mj-lt" pitchFamily="34" charset="-122"/>
                <a:cs typeface="+mj-lt" pitchFamily="34" charset="-120"/>
              </a:rPr>
              <a:t>Sensor and computers</a:t>
            </a:r>
            <a:endParaRPr lang="en-US" sz="1800" dirty="0"/>
          </a:p>
        </p:txBody>
      </p:sp>
      <p:sp>
        <p:nvSpPr>
          <p:cNvPr id="12" name="Column 2 points"/>
          <p:cNvSpPr txBox="1"/>
          <p:nvPr/>
        </p:nvSpPr>
        <p:spPr>
          <a:xfrm>
            <a:off x="4536338" y="2286000"/>
            <a:ext cx="3119018" cy="2834640"/>
          </a:xfrm>
          <a:prstGeom prst="rect">
            <a:avLst/>
          </a:prstGeom>
          <a:noFill/>
          <a:ln/>
        </p:spPr>
        <p:txBody>
          <a:bodyPr wrap="square" lIns="0" tIns="0" rIns="0" bIns="0" rtlCol="0" anchor="t"/>
          <a:lstStyle/>
          <a:p>
            <a:pPr algn="l" marL="177800" indent="-177800">
              <a:spcAft>
                <a:spcPts val="400"/>
              </a:spcAft>
              <a:buSzPct val="100000"/>
              <a:buChar char="•"/>
            </a:pPr>
            <a:r>
              <a:rPr lang="en-US" sz="1400" dirty="0">
                <a:solidFill>
                  <a:schemeClr val="tx1"/>
                </a:solidFill>
              </a:rPr>
              <a:t>Capture software set for the trigger and the pose-id file names</a:t>
            </a:r>
            <a:endParaRPr lang="en-US" sz="1400" dirty="0"/>
          </a:p>
          <a:p>
            <a:pPr algn="l" marL="177800" indent="-177800">
              <a:spcAft>
                <a:spcPts val="400"/>
              </a:spcAft>
              <a:buSzPct val="100000"/>
              <a:buChar char="•"/>
            </a:pPr>
            <a:r>
              <a:rPr lang="en-US" sz="1400" dirty="0">
                <a:solidFill>
                  <a:schemeClr val="tx1"/>
                </a:solidFill>
              </a:rPr>
              <a:t>Production sensor configuration chosen and recorded in sensor_config.json; filters-off repeat decided</a:t>
            </a:r>
            <a:endParaRPr lang="en-US" sz="1400" dirty="0"/>
          </a:p>
          <a:p>
            <a:pPr algn="l" marL="177800" indent="-177800">
              <a:spcAft>
                <a:spcPts val="400"/>
              </a:spcAft>
              <a:buSzPct val="100000"/>
              <a:buChar char="•"/>
            </a:pPr>
            <a:r>
              <a:rPr lang="en-US" sz="1400" dirty="0">
                <a:solidFill>
                  <a:schemeClr val="tx1"/>
                </a:solidFill>
              </a:rPr>
              <a:t>At least 430 GB free on the capture computer</a:t>
            </a:r>
            <a:endParaRPr lang="en-US" sz="1400" dirty="0"/>
          </a:p>
          <a:p>
            <a:pPr algn="l" marL="177800" indent="-177800">
              <a:spcAft>
                <a:spcPts val="400"/>
              </a:spcAft>
              <a:buSzPct val="100000"/>
              <a:buChar char="•"/>
            </a:pPr>
            <a:r>
              <a:rPr lang="en-US" sz="1400" dirty="0">
                <a:solidFill>
                  <a:schemeClr val="tx1"/>
                </a:solidFill>
              </a:rPr>
              <a:t>This repository installed on the analysis computer and self-tested</a:t>
            </a:r>
            <a:endParaRPr lang="en-US" sz="1400" dirty="0"/>
          </a:p>
        </p:txBody>
      </p:sp>
      <p:sp>
        <p:nvSpPr>
          <p:cNvPr id="13" name="Column 3 card"/>
          <p:cNvSpPr/>
          <p:nvPr/>
        </p:nvSpPr>
        <p:spPr>
          <a:xfrm>
            <a:off x="8158277" y="1417320"/>
            <a:ext cx="3576218" cy="3794760"/>
          </a:xfrm>
          <a:prstGeom prst="roundRect">
            <a:avLst>
              <a:gd name="adj" fmla="val 3068"/>
            </a:avLst>
          </a:prstGeom>
          <a:solidFill>
            <a:schemeClr val="bg2"/>
          </a:solidFill>
          <a:ln/>
        </p:spPr>
      </p:sp>
      <p:sp>
        <p:nvSpPr>
          <p:cNvPr id="14" name="Column 3 icon circle"/>
          <p:cNvSpPr/>
          <p:nvPr/>
        </p:nvSpPr>
        <p:spPr>
          <a:xfrm>
            <a:off x="8386877" y="1668780"/>
            <a:ext cx="502920" cy="502920"/>
          </a:xfrm>
          <a:prstGeom prst="ellipse">
            <a:avLst/>
          </a:prstGeom>
          <a:solidFill>
            <a:schemeClr val="accent2"/>
          </a:solidFill>
          <a:ln/>
        </p:spPr>
      </p:sp>
      <p:pic>
        <p:nvPicPr>
          <p:cNvPr id="15" name="Column 3 icon glyph" descr="layout icon">    </p:cNvPr>
          <p:cNvPicPr>
            <a:picLocks noChangeAspect="1"/>
          </p:cNvPicPr>
          <p:nvPr/>
        </p:nvPicPr>
        <p:blipFill>
          <a:blip r:embed="rId3"/>
          <a:stretch>
            <a:fillRect/>
          </a:stretch>
        </p:blipFill>
        <p:spPr>
          <a:xfrm>
            <a:off x="8512607" y="1794510"/>
            <a:ext cx="251460" cy="251460"/>
          </a:xfrm>
          <a:prstGeom prst="rect">
            <a:avLst/>
          </a:prstGeom>
        </p:spPr>
      </p:pic>
      <p:sp>
        <p:nvSpPr>
          <p:cNvPr id="16" name="Column 3 head"/>
          <p:cNvSpPr txBox="1"/>
          <p:nvPr/>
        </p:nvSpPr>
        <p:spPr>
          <a:xfrm>
            <a:off x="9072677" y="1645920"/>
            <a:ext cx="2433218" cy="548640"/>
          </a:xfrm>
          <a:prstGeom prst="rect">
            <a:avLst/>
          </a:prstGeom>
          <a:noFill/>
          <a:ln/>
        </p:spPr>
        <p:txBody>
          <a:bodyPr wrap="square" lIns="0" tIns="0" rIns="0" bIns="0" rtlCol="0" anchor="ctr"/>
          <a:lstStyle/>
          <a:p>
            <a:pPr algn="l" indent="0" marL="0">
              <a:buNone/>
            </a:pPr>
            <a:r>
              <a:rPr lang="en-US" sz="1800" b="1" dirty="0">
                <a:solidFill>
                  <a:schemeClr val="tx2"/>
                </a:solidFill>
                <a:latin typeface="+mj-lt" pitchFamily="34" charset="0"/>
                <a:ea typeface="+mj-lt" pitchFamily="34" charset="-122"/>
                <a:cs typeface="+mj-lt" pitchFamily="34" charset="-120"/>
              </a:rPr>
              <a:t>Cell</a:t>
            </a:r>
            <a:endParaRPr lang="en-US" sz="1800" dirty="0"/>
          </a:p>
        </p:txBody>
      </p:sp>
      <p:sp>
        <p:nvSpPr>
          <p:cNvPr id="17" name="Column 3 points"/>
          <p:cNvSpPr txBox="1"/>
          <p:nvPr/>
        </p:nvSpPr>
        <p:spPr>
          <a:xfrm>
            <a:off x="8386877" y="2286000"/>
            <a:ext cx="3119018" cy="2834640"/>
          </a:xfrm>
          <a:prstGeom prst="rect">
            <a:avLst/>
          </a:prstGeom>
          <a:noFill/>
          <a:ln/>
        </p:spPr>
        <p:txBody>
          <a:bodyPr wrap="square" lIns="0" tIns="0" rIns="0" bIns="0" rtlCol="0" anchor="t"/>
          <a:lstStyle/>
          <a:p>
            <a:pPr algn="l" marL="177800" indent="-177800">
              <a:spcAft>
                <a:spcPts val="400"/>
              </a:spcAft>
              <a:buSzPct val="100000"/>
              <a:buChar char="•"/>
            </a:pPr>
            <a:r>
              <a:rPr lang="en-US" sz="1400" dirty="0">
                <a:solidFill>
                  <a:schemeClr val="tx1"/>
                </a:solidFill>
              </a:rPr>
              <a:t>Layout study: target centers from 400 to 1600 mm, the five field positions and tilts to 45 degrees inside the robot's reach, before the sensor mount is fixed</a:t>
            </a:r>
            <a:endParaRPr lang="en-US" sz="1400" dirty="0"/>
          </a:p>
          <a:p>
            <a:pPr algn="l" marL="177800" indent="-177800">
              <a:spcAft>
                <a:spcPts val="400"/>
              </a:spcAft>
              <a:buSzPct val="100000"/>
              <a:buChar char="•"/>
            </a:pPr>
            <a:r>
              <a:rPr lang="en-US" sz="1400" dirty="0">
                <a:solidFill>
                  <a:schemeClr val="tx1"/>
                </a:solidFill>
              </a:rPr>
              <a:t>Run-out base plate bolted to the table</a:t>
            </a:r>
            <a:endParaRPr lang="en-US" sz="1400" dirty="0"/>
          </a:p>
          <a:p>
            <a:pPr algn="l" marL="177800" indent="-177800">
              <a:spcAft>
                <a:spcPts val="400"/>
              </a:spcAft>
              <a:buSzPct val="100000"/>
              <a:buChar char="•"/>
            </a:pPr>
            <a:r>
              <a:rPr lang="en-US" sz="1400" dirty="0">
                <a:solidFill>
                  <a:schemeClr val="tx1"/>
                </a:solidFill>
              </a:rPr>
              <a:t>Robot base frame identified and recorded; temperature loggers started and their clocks checked</a:t>
            </a:r>
            <a:endParaRPr lang="en-US" sz="1400" dirty="0"/>
          </a:p>
        </p:txBody>
      </p:sp>
      <p:sp>
        <p:nvSpPr>
          <p:cNvPr id="18" name="Message box"/>
          <p:cNvSpPr/>
          <p:nvPr/>
        </p:nvSpPr>
        <p:spPr>
          <a:xfrm>
            <a:off x="457200" y="5394960"/>
            <a:ext cx="11277295" cy="731520"/>
          </a:xfrm>
          <a:prstGeom prst="roundRect">
            <a:avLst>
              <a:gd name="adj" fmla="val 15000"/>
            </a:avLst>
          </a:prstGeom>
          <a:solidFill>
            <a:schemeClr val="bg2"/>
          </a:solidFill>
          <a:ln w="25400">
            <a:solidFill>
              <a:schemeClr val="accent1"/>
            </a:solidFill>
            <a:prstDash val="solid"/>
          </a:ln>
        </p:spPr>
      </p:sp>
      <p:sp>
        <p:nvSpPr>
          <p:cNvPr id="19" name="Message icon circle"/>
          <p:cNvSpPr/>
          <p:nvPr/>
        </p:nvSpPr>
        <p:spPr>
          <a:xfrm>
            <a:off x="685800" y="5440680"/>
            <a:ext cx="640080" cy="640080"/>
          </a:xfrm>
          <a:prstGeom prst="ellipse">
            <a:avLst/>
          </a:prstGeom>
          <a:solidFill>
            <a:schemeClr val="accent1"/>
          </a:solidFill>
          <a:ln/>
        </p:spPr>
      </p:sp>
      <p:pic>
        <p:nvPicPr>
          <p:cNvPr id="20" name="Message icon glyph" descr="tool icon">    </p:cNvPr>
          <p:cNvPicPr>
            <a:picLocks noChangeAspect="1"/>
          </p:cNvPicPr>
          <p:nvPr/>
        </p:nvPicPr>
        <p:blipFill>
          <a:blip r:embed="rId4"/>
          <a:stretch>
            <a:fillRect/>
          </a:stretch>
        </p:blipFill>
        <p:spPr>
          <a:xfrm>
            <a:off x="845820" y="5600700"/>
            <a:ext cx="320040" cy="320040"/>
          </a:xfrm>
          <a:prstGeom prst="rect">
            <a:avLst/>
          </a:prstGeom>
        </p:spPr>
      </p:pic>
      <p:sp>
        <p:nvSpPr>
          <p:cNvPr id="21" name="Key message"/>
          <p:cNvSpPr txBox="1"/>
          <p:nvPr/>
        </p:nvSpPr>
        <p:spPr>
          <a:xfrm>
            <a:off x="1508760" y="5394960"/>
            <a:ext cx="9997135" cy="731520"/>
          </a:xfrm>
          <a:prstGeom prst="rect">
            <a:avLst/>
          </a:prstGeom>
          <a:noFill/>
          <a:ln/>
        </p:spPr>
        <p:txBody>
          <a:bodyPr wrap="square" lIns="0" tIns="0" rIns="0" bIns="0" rtlCol="0" anchor="ctr"/>
          <a:lstStyle/>
          <a:p>
            <a:pPr algn="l" indent="0" marL="0">
              <a:buNone/>
            </a:pPr>
            <a:r>
              <a:rPr lang="en-US" sz="1800" b="1" dirty="0">
                <a:solidFill>
                  <a:schemeClr val="tx2"/>
                </a:solidFill>
              </a:rPr>
              <a:t>The targets, the adapter and the tools themselves are in the procurement and build deck and in section 1 of the procedure.</a:t>
            </a:r>
            <a:endParaRPr lang="en-US" sz="18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nchor="b"/>
          <a:lstStyle>
            <a:lvl1pPr>
              <a:defRPr sz="12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11277295" cy="685800"/>
          </a:xfrm>
          <a:prstGeom prst="rect">
            <a:avLst/>
          </a:prstGeom>
          <a:noFill/>
          <a:ln/>
        </p:spPr>
        <p:txBody>
          <a:bodyPr wrap="square" lIns="0" tIns="0" rIns="0" bIns="0" rtlCol="0" anchor="t"/>
          <a:lstStyle/>
          <a:p>
            <a:pPr algn="l" indent="0" marL="0">
              <a:buNone/>
            </a:pPr>
            <a:r>
              <a:rPr lang="en-US" sz="3400" b="1" dirty="0">
                <a:solidFill>
                  <a:schemeClr val="tx2"/>
                </a:solidFill>
                <a:latin typeface="+mj-lt" pitchFamily="34" charset="0"/>
                <a:ea typeface="+mj-lt" pitchFamily="34" charset="-122"/>
                <a:cs typeface="+mj-lt" pitchFamily="34" charset="-120"/>
              </a:rPr>
              <a:t>The sensor stays fixed; the robot carries the target</a:t>
            </a:r>
            <a:endParaRPr lang="en-US" sz="3400" dirty="0"/>
          </a:p>
        </p:txBody>
      </p:sp>
      <p:pic>
        <p:nvPicPr>
          <p:cNvPr id="3" name="The setup: the sensor on its rigid stand and the robot carrying a target on the adapter" descr="The setup: the sensor on its rigid stand and the robot carrying a target on the adapter">    </p:cNvPr>
          <p:cNvPicPr>
            <a:picLocks noChangeAspect="1"/>
          </p:cNvPicPr>
          <p:nvPr/>
        </p:nvPicPr>
        <p:blipFill>
          <a:blip r:embed="rId1"/>
          <a:stretch>
            <a:fillRect/>
          </a:stretch>
        </p:blipFill>
        <p:spPr>
          <a:xfrm>
            <a:off x="457200" y="2382715"/>
            <a:ext cx="7223760" cy="2778369"/>
          </a:xfrm>
          <a:prstGeom prst="rect">
            <a:avLst/>
          </a:prstGeom>
        </p:spPr>
      </p:pic>
      <p:sp>
        <p:nvSpPr>
          <p:cNvPr id="4" name="The setup: the sensor on its rigid stand and the robot carrying a target on the adapter frame"/>
          <p:cNvSpPr/>
          <p:nvPr/>
        </p:nvSpPr>
        <p:spPr>
          <a:xfrm>
            <a:off x="457200" y="2382715"/>
            <a:ext cx="7223760" cy="2778369"/>
          </a:xfrm>
          <a:prstGeom prst="rect">
            <a:avLst/>
          </a:prstGeom>
          <a:ln w="12700">
            <a:solidFill>
              <a:schemeClr val="accent6"/>
            </a:solidFill>
            <a:prstDash val="solid"/>
          </a:ln>
        </p:spPr>
      </p:sp>
      <p:sp>
        <p:nvSpPr>
          <p:cNvPr id="5" name="Board point icon 1 circle"/>
          <p:cNvSpPr/>
          <p:nvPr/>
        </p:nvSpPr>
        <p:spPr>
          <a:xfrm>
            <a:off x="7955280" y="1566672"/>
            <a:ext cx="411480" cy="411480"/>
          </a:xfrm>
          <a:prstGeom prst="ellipse">
            <a:avLst/>
          </a:prstGeom>
          <a:solidFill>
            <a:schemeClr val="accent2"/>
          </a:solidFill>
          <a:ln/>
        </p:spPr>
      </p:sp>
      <p:pic>
        <p:nvPicPr>
          <p:cNvPr id="6" name="Board point icon 1 glyph" descr="check icon">    </p:cNvPr>
          <p:cNvPicPr>
            <a:picLocks noChangeAspect="1"/>
          </p:cNvPicPr>
          <p:nvPr/>
        </p:nvPicPr>
        <p:blipFill>
          <a:blip r:embed="rId2"/>
          <a:stretch>
            <a:fillRect/>
          </a:stretch>
        </p:blipFill>
        <p:spPr>
          <a:xfrm>
            <a:off x="8058150" y="1669542"/>
            <a:ext cx="205740" cy="205740"/>
          </a:xfrm>
          <a:prstGeom prst="rect">
            <a:avLst/>
          </a:prstGeom>
        </p:spPr>
      </p:pic>
      <p:sp>
        <p:nvSpPr>
          <p:cNvPr id="7" name="Board point text 1"/>
          <p:cNvSpPr txBox="1"/>
          <p:nvPr/>
        </p:nvSpPr>
        <p:spPr>
          <a:xfrm>
            <a:off x="8549640" y="1417320"/>
            <a:ext cx="3184855" cy="710184"/>
          </a:xfrm>
          <a:prstGeom prst="rect">
            <a:avLst/>
          </a:prstGeom>
          <a:noFill/>
          <a:ln/>
        </p:spPr>
        <p:txBody>
          <a:bodyPr wrap="square" lIns="0" tIns="0" rIns="0" bIns="0" rtlCol="0" anchor="ctr"/>
          <a:lstStyle/>
          <a:p>
            <a:pPr algn="l" indent="0" marL="0">
              <a:buNone/>
            </a:pPr>
            <a:r>
              <a:rPr lang="en-US" sz="1400" dirty="0">
                <a:solidFill>
                  <a:schemeClr val="tx1"/>
                </a:solidFill>
              </a:rPr>
              <a:t>The sensor stands on its own rigid mount, mechanically separate from the robot base; a bump means a new session</a:t>
            </a:r>
            <a:endParaRPr lang="en-US" sz="1400" dirty="0"/>
          </a:p>
        </p:txBody>
      </p:sp>
      <p:sp>
        <p:nvSpPr>
          <p:cNvPr id="8" name="Board point icon 2 circle"/>
          <p:cNvSpPr/>
          <p:nvPr/>
        </p:nvSpPr>
        <p:spPr>
          <a:xfrm>
            <a:off x="7955280" y="2459736"/>
            <a:ext cx="411480" cy="411480"/>
          </a:xfrm>
          <a:prstGeom prst="ellipse">
            <a:avLst/>
          </a:prstGeom>
          <a:solidFill>
            <a:schemeClr val="accent2"/>
          </a:solidFill>
          <a:ln/>
        </p:spPr>
      </p:sp>
      <p:pic>
        <p:nvPicPr>
          <p:cNvPr id="9" name="Board point icon 2 glyph" descr="check icon">    </p:cNvPr>
          <p:cNvPicPr>
            <a:picLocks noChangeAspect="1"/>
          </p:cNvPicPr>
          <p:nvPr/>
        </p:nvPicPr>
        <p:blipFill>
          <a:blip r:embed="rId3"/>
          <a:stretch>
            <a:fillRect/>
          </a:stretch>
        </p:blipFill>
        <p:spPr>
          <a:xfrm>
            <a:off x="8058150" y="2562606"/>
            <a:ext cx="205740" cy="205740"/>
          </a:xfrm>
          <a:prstGeom prst="rect">
            <a:avLst/>
          </a:prstGeom>
        </p:spPr>
      </p:pic>
      <p:sp>
        <p:nvSpPr>
          <p:cNvPr id="10" name="Board point text 2"/>
          <p:cNvSpPr txBox="1"/>
          <p:nvPr/>
        </p:nvSpPr>
        <p:spPr>
          <a:xfrm>
            <a:off x="8549640" y="2310384"/>
            <a:ext cx="3184855" cy="710184"/>
          </a:xfrm>
          <a:prstGeom prst="rect">
            <a:avLst/>
          </a:prstGeom>
          <a:noFill/>
          <a:ln/>
        </p:spPr>
        <p:txBody>
          <a:bodyPr wrap="square" lIns="0" tIns="0" rIns="0" bIns="0" rtlCol="0" anchor="ctr"/>
          <a:lstStyle/>
          <a:p>
            <a:pPr algn="l" indent="0" marL="0">
              <a:buNone/>
            </a:pPr>
            <a:r>
              <a:rPr lang="en-US" sz="1400" dirty="0">
                <a:solidFill>
                  <a:schemeClr val="tx1"/>
                </a:solidFill>
              </a:rPr>
              <a:t>The robot carries the target on the adapter anywhere between 400 and 1600 mm, the working range of the test</a:t>
            </a:r>
            <a:endParaRPr lang="en-US" sz="1400" dirty="0"/>
          </a:p>
        </p:txBody>
      </p:sp>
      <p:sp>
        <p:nvSpPr>
          <p:cNvPr id="11" name="Board point icon 3 circle"/>
          <p:cNvSpPr/>
          <p:nvPr/>
        </p:nvSpPr>
        <p:spPr>
          <a:xfrm>
            <a:off x="7955280" y="3459480"/>
            <a:ext cx="411480" cy="411480"/>
          </a:xfrm>
          <a:prstGeom prst="ellipse">
            <a:avLst/>
          </a:prstGeom>
          <a:solidFill>
            <a:schemeClr val="accent2"/>
          </a:solidFill>
          <a:ln/>
        </p:spPr>
      </p:sp>
      <p:pic>
        <p:nvPicPr>
          <p:cNvPr id="12" name="Board point icon 3 glyph" descr="check icon">    </p:cNvPr>
          <p:cNvPicPr>
            <a:picLocks noChangeAspect="1"/>
          </p:cNvPicPr>
          <p:nvPr/>
        </p:nvPicPr>
        <p:blipFill>
          <a:blip r:embed="rId4"/>
          <a:stretch>
            <a:fillRect/>
          </a:stretch>
        </p:blipFill>
        <p:spPr>
          <a:xfrm>
            <a:off x="8058150" y="3562350"/>
            <a:ext cx="205740" cy="205740"/>
          </a:xfrm>
          <a:prstGeom prst="rect">
            <a:avLst/>
          </a:prstGeom>
        </p:spPr>
      </p:pic>
      <p:sp>
        <p:nvSpPr>
          <p:cNvPr id="13" name="Board point text 3"/>
          <p:cNvSpPr txBox="1"/>
          <p:nvPr/>
        </p:nvSpPr>
        <p:spPr>
          <a:xfrm>
            <a:off x="8549640" y="3203448"/>
            <a:ext cx="3184855" cy="923544"/>
          </a:xfrm>
          <a:prstGeom prst="rect">
            <a:avLst/>
          </a:prstGeom>
          <a:noFill/>
          <a:ln/>
        </p:spPr>
        <p:txBody>
          <a:bodyPr wrap="square" lIns="0" tIns="0" rIns="0" bIns="0" rtlCol="0" anchor="ctr"/>
          <a:lstStyle/>
          <a:p>
            <a:pPr algn="l" indent="0" marL="0">
              <a:buNone/>
            </a:pPr>
            <a:r>
              <a:rPr lang="en-US" sz="1400" dirty="0">
                <a:solidFill>
                  <a:schemeClr val="tx1"/>
                </a:solidFill>
              </a:rPr>
              <a:t>The laboratory is enclosed and its lighting constant: no light meter, no ambient-light log, no changes during the session</a:t>
            </a:r>
            <a:endParaRPr lang="en-US" sz="1400" dirty="0"/>
          </a:p>
        </p:txBody>
      </p:sp>
      <p:sp>
        <p:nvSpPr>
          <p:cNvPr id="14" name="Board point icon 4 circle"/>
          <p:cNvSpPr/>
          <p:nvPr/>
        </p:nvSpPr>
        <p:spPr>
          <a:xfrm>
            <a:off x="7955280" y="4459224"/>
            <a:ext cx="411480" cy="411480"/>
          </a:xfrm>
          <a:prstGeom prst="ellipse">
            <a:avLst/>
          </a:prstGeom>
          <a:solidFill>
            <a:schemeClr val="accent2"/>
          </a:solidFill>
          <a:ln/>
        </p:spPr>
      </p:sp>
      <p:pic>
        <p:nvPicPr>
          <p:cNvPr id="15" name="Board point icon 4 glyph" descr="check icon">    </p:cNvPr>
          <p:cNvPicPr>
            <a:picLocks noChangeAspect="1"/>
          </p:cNvPicPr>
          <p:nvPr/>
        </p:nvPicPr>
        <p:blipFill>
          <a:blip r:embed="rId5"/>
          <a:stretch>
            <a:fillRect/>
          </a:stretch>
        </p:blipFill>
        <p:spPr>
          <a:xfrm>
            <a:off x="8058150" y="4562094"/>
            <a:ext cx="205740" cy="205740"/>
          </a:xfrm>
          <a:prstGeom prst="rect">
            <a:avLst/>
          </a:prstGeom>
        </p:spPr>
      </p:pic>
      <p:sp>
        <p:nvSpPr>
          <p:cNvPr id="16" name="Board point text 4"/>
          <p:cNvSpPr txBox="1"/>
          <p:nvPr/>
        </p:nvSpPr>
        <p:spPr>
          <a:xfrm>
            <a:off x="8549640" y="4309872"/>
            <a:ext cx="3184855" cy="710184"/>
          </a:xfrm>
          <a:prstGeom prst="rect">
            <a:avLst/>
          </a:prstGeom>
          <a:noFill/>
          <a:ln/>
        </p:spPr>
        <p:txBody>
          <a:bodyPr wrap="square" lIns="0" tIns="0" rIns="0" bIns="0" rtlCol="0" anchor="ctr"/>
          <a:lstStyle/>
          <a:p>
            <a:pPr algn="l" indent="0" marL="0">
              <a:buNone/>
            </a:pPr>
            <a:r>
              <a:rPr lang="en-US" sz="1400" dirty="0">
                <a:solidFill>
                  <a:schemeClr val="tx1"/>
                </a:solidFill>
              </a:rPr>
              <a:t>Sensor-housing and air temperatures are logged every minute into environment_log.csv</a:t>
            </a:r>
            <a:endParaRPr lang="en-US" sz="1400" dirty="0"/>
          </a:p>
        </p:txBody>
      </p:sp>
      <p:sp>
        <p:nvSpPr>
          <p:cNvPr id="17" name="Board point icon 5 circle"/>
          <p:cNvSpPr/>
          <p:nvPr/>
        </p:nvSpPr>
        <p:spPr>
          <a:xfrm>
            <a:off x="7955280" y="5458968"/>
            <a:ext cx="411480" cy="411480"/>
          </a:xfrm>
          <a:prstGeom prst="ellipse">
            <a:avLst/>
          </a:prstGeom>
          <a:solidFill>
            <a:schemeClr val="accent2"/>
          </a:solidFill>
          <a:ln/>
        </p:spPr>
      </p:sp>
      <p:pic>
        <p:nvPicPr>
          <p:cNvPr id="18" name="Board point icon 5 glyph" descr="check icon">    </p:cNvPr>
          <p:cNvPicPr>
            <a:picLocks noChangeAspect="1"/>
          </p:cNvPicPr>
          <p:nvPr/>
        </p:nvPicPr>
        <p:blipFill>
          <a:blip r:embed="rId6"/>
          <a:stretch>
            <a:fillRect/>
          </a:stretch>
        </p:blipFill>
        <p:spPr>
          <a:xfrm>
            <a:off x="8058150" y="5561838"/>
            <a:ext cx="205740" cy="205740"/>
          </a:xfrm>
          <a:prstGeom prst="rect">
            <a:avLst/>
          </a:prstGeom>
        </p:spPr>
      </p:pic>
      <p:sp>
        <p:nvSpPr>
          <p:cNvPr id="19" name="Board point text 5"/>
          <p:cNvSpPr txBox="1"/>
          <p:nvPr/>
        </p:nvSpPr>
        <p:spPr>
          <a:xfrm>
            <a:off x="8549640" y="5202936"/>
            <a:ext cx="3184855" cy="923544"/>
          </a:xfrm>
          <a:prstGeom prst="rect">
            <a:avLst/>
          </a:prstGeom>
          <a:noFill/>
          <a:ln/>
        </p:spPr>
        <p:txBody>
          <a:bodyPr wrap="square" lIns="0" tIns="0" rIns="0" bIns="0" rtlCol="0" anchor="ctr"/>
          <a:lstStyle/>
          <a:p>
            <a:pPr algn="l" indent="0" marL="0">
              <a:buNone/>
            </a:pPr>
            <a:r>
              <a:rPr lang="en-US" sz="1400" dirty="0">
                <a:solidFill>
                  <a:schemeClr val="tx1"/>
                </a:solidFill>
              </a:rPr>
              <a:t>The origin of every pose is the optical center of the left IR camera; H and V are the image axes, Z the optical axis</a:t>
            </a:r>
            <a:endParaRPr lang="en-US" sz="14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nchor="b"/>
          <a:lstStyle>
            <a:lvl1pPr>
              <a:defRPr sz="12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11277295" cy="685800"/>
          </a:xfrm>
          <a:prstGeom prst="rect">
            <a:avLst/>
          </a:prstGeom>
          <a:noFill/>
          <a:ln/>
        </p:spPr>
        <p:txBody>
          <a:bodyPr wrap="square" lIns="0" tIns="0" rIns="0" bIns="0" rtlCol="0" anchor="t"/>
          <a:lstStyle/>
          <a:p>
            <a:pPr algn="l" indent="0" marL="0">
              <a:buNone/>
            </a:pPr>
            <a:r>
              <a:rPr lang="en-US" sz="3400" b="1" dirty="0">
                <a:solidFill>
                  <a:schemeClr val="tx2"/>
                </a:solidFill>
                <a:latin typeface="+mj-lt" pitchFamily="34" charset="0"/>
                <a:ea typeface="+mj-lt" pitchFamily="34" charset="-122"/>
                <a:cs typeface="+mj-lt" pitchFamily="34" charset="-120"/>
              </a:rPr>
              <a:t>Configuration, warm-up, settle and frame checks</a:t>
            </a:r>
            <a:endParaRPr lang="en-US" sz="3400" dirty="0"/>
          </a:p>
        </p:txBody>
      </p:sp>
      <p:sp>
        <p:nvSpPr>
          <p:cNvPr id="3" name="Check 1 card"/>
          <p:cNvSpPr/>
          <p:nvPr/>
        </p:nvSpPr>
        <p:spPr>
          <a:xfrm>
            <a:off x="457200" y="1417320"/>
            <a:ext cx="5501488" cy="1943100"/>
          </a:xfrm>
          <a:prstGeom prst="roundRect">
            <a:avLst>
              <a:gd name="adj" fmla="val 5647"/>
            </a:avLst>
          </a:prstGeom>
          <a:solidFill>
            <a:schemeClr val="bg1"/>
          </a:solidFill>
          <a:ln w="12700">
            <a:solidFill>
              <a:schemeClr val="accent6"/>
            </a:solidFill>
            <a:prstDash val="solid"/>
          </a:ln>
        </p:spPr>
      </p:sp>
      <p:sp>
        <p:nvSpPr>
          <p:cNvPr id="4" name="Check 1 icon circle"/>
          <p:cNvSpPr/>
          <p:nvPr/>
        </p:nvSpPr>
        <p:spPr>
          <a:xfrm>
            <a:off x="594360" y="1554480"/>
            <a:ext cx="640080" cy="640080"/>
          </a:xfrm>
          <a:prstGeom prst="ellipse">
            <a:avLst/>
          </a:prstGeom>
          <a:solidFill>
            <a:schemeClr val="accent2"/>
          </a:solidFill>
          <a:ln/>
        </p:spPr>
      </p:sp>
      <p:pic>
        <p:nvPicPr>
          <p:cNvPr id="5" name="Check 1 icon glyph" descr="sliders icon">    </p:cNvPr>
          <p:cNvPicPr>
            <a:picLocks noChangeAspect="1"/>
          </p:cNvPicPr>
          <p:nvPr/>
        </p:nvPicPr>
        <p:blipFill>
          <a:blip r:embed="rId1"/>
          <a:stretch>
            <a:fillRect/>
          </a:stretch>
        </p:blipFill>
        <p:spPr>
          <a:xfrm>
            <a:off x="754380" y="1714500"/>
            <a:ext cx="320040" cy="320040"/>
          </a:xfrm>
          <a:prstGeom prst="rect">
            <a:avLst/>
          </a:prstGeom>
        </p:spPr>
      </p:pic>
      <p:sp>
        <p:nvSpPr>
          <p:cNvPr id="6" name="Check 1 text"/>
          <p:cNvSpPr txBox="1"/>
          <p:nvPr/>
        </p:nvSpPr>
        <p:spPr>
          <a:xfrm>
            <a:off x="1417320" y="1554480"/>
            <a:ext cx="4404208" cy="1668780"/>
          </a:xfrm>
          <a:prstGeom prst="rect">
            <a:avLst/>
          </a:prstGeom>
          <a:noFill/>
          <a:ln/>
        </p:spPr>
        <p:txBody>
          <a:bodyPr wrap="square" lIns="0" tIns="0" rIns="0" bIns="0" rtlCol="0" anchor="t"/>
          <a:lstStyle/>
          <a:p>
            <a:pPr algn="l" indent="0" marL="0">
              <a:spcAft>
                <a:spcPts val="300"/>
              </a:spcAft>
              <a:buNone/>
            </a:pPr>
            <a:r>
              <a:rPr lang="en-US" sz="1800" b="1" dirty="0">
                <a:solidFill>
                  <a:schemeClr val="tx2"/>
                </a:solidFill>
              </a:rPr>
              <a:t>Sensor configuration (engineer)</a:t>
            </a:r>
            <a:endParaRPr lang="en-US" sz="1600" dirty="0"/>
          </a:p>
          <a:p>
            <a:pPr algn="l" indent="0" marL="0">
              <a:spcAft>
                <a:spcPts val="300"/>
              </a:spcAft>
              <a:buNone/>
            </a:pPr>
            <a:r>
              <a:rPr lang="en-US" sz="1600" b="1" dirty="0">
                <a:solidFill>
                  <a:schemeClr val="accent1"/>
                </a:solidFill>
              </a:rPr>
              <a:t>step 4.2</a:t>
            </a:r>
            <a:endParaRPr lang="en-US" sz="1600" dirty="0"/>
          </a:p>
          <a:p>
            <a:pPr algn="l" indent="0" marL="0">
              <a:buNone/>
            </a:pPr>
            <a:r>
              <a:rPr lang="en-US" sz="1400" dirty="0">
                <a:solidFill>
                  <a:schemeClr val="tx1"/>
                </a:solidFill>
              </a:rPr>
              <a:t>Auto-exposure off; exposure, gain, emitter power and trigger mode fixed; every filter setting, the SDK and firmware versions in sensor_config.json under a config_id</a:t>
            </a:r>
            <a:endParaRPr lang="en-US" sz="1600" dirty="0"/>
          </a:p>
        </p:txBody>
      </p:sp>
      <p:sp>
        <p:nvSpPr>
          <p:cNvPr id="7" name="Check 2 card"/>
          <p:cNvSpPr/>
          <p:nvPr/>
        </p:nvSpPr>
        <p:spPr>
          <a:xfrm>
            <a:off x="6233008" y="1417320"/>
            <a:ext cx="5501488" cy="1943100"/>
          </a:xfrm>
          <a:prstGeom prst="roundRect">
            <a:avLst>
              <a:gd name="adj" fmla="val 5647"/>
            </a:avLst>
          </a:prstGeom>
          <a:solidFill>
            <a:schemeClr val="bg1"/>
          </a:solidFill>
          <a:ln w="12700">
            <a:solidFill>
              <a:schemeClr val="accent6"/>
            </a:solidFill>
            <a:prstDash val="solid"/>
          </a:ln>
        </p:spPr>
      </p:sp>
      <p:sp>
        <p:nvSpPr>
          <p:cNvPr id="8" name="Check 2 icon circle"/>
          <p:cNvSpPr/>
          <p:nvPr/>
        </p:nvSpPr>
        <p:spPr>
          <a:xfrm>
            <a:off x="6370168" y="1554480"/>
            <a:ext cx="640080" cy="640080"/>
          </a:xfrm>
          <a:prstGeom prst="ellipse">
            <a:avLst/>
          </a:prstGeom>
          <a:solidFill>
            <a:schemeClr val="accent2"/>
          </a:solidFill>
          <a:ln/>
        </p:spPr>
      </p:sp>
      <p:pic>
        <p:nvPicPr>
          <p:cNvPr id="9" name="Check 2 icon glyph" descr="clock icon">    </p:cNvPr>
          <p:cNvPicPr>
            <a:picLocks noChangeAspect="1"/>
          </p:cNvPicPr>
          <p:nvPr/>
        </p:nvPicPr>
        <p:blipFill>
          <a:blip r:embed="rId2"/>
          <a:stretch>
            <a:fillRect/>
          </a:stretch>
        </p:blipFill>
        <p:spPr>
          <a:xfrm>
            <a:off x="6530188" y="1714500"/>
            <a:ext cx="320040" cy="320040"/>
          </a:xfrm>
          <a:prstGeom prst="rect">
            <a:avLst/>
          </a:prstGeom>
        </p:spPr>
      </p:pic>
      <p:sp>
        <p:nvSpPr>
          <p:cNvPr id="10" name="Check 2 text"/>
          <p:cNvSpPr txBox="1"/>
          <p:nvPr/>
        </p:nvSpPr>
        <p:spPr>
          <a:xfrm>
            <a:off x="7193128" y="1554480"/>
            <a:ext cx="4404208" cy="1668780"/>
          </a:xfrm>
          <a:prstGeom prst="rect">
            <a:avLst/>
          </a:prstGeom>
          <a:noFill/>
          <a:ln/>
        </p:spPr>
        <p:txBody>
          <a:bodyPr wrap="square" lIns="0" tIns="0" rIns="0" bIns="0" rtlCol="0" anchor="t"/>
          <a:lstStyle/>
          <a:p>
            <a:pPr algn="l" indent="0" marL="0">
              <a:spcAft>
                <a:spcPts val="300"/>
              </a:spcAft>
              <a:buNone/>
            </a:pPr>
            <a:r>
              <a:rPr lang="en-US" sz="1800" b="1" dirty="0">
                <a:solidFill>
                  <a:schemeClr val="tx2"/>
                </a:solidFill>
              </a:rPr>
              <a:t>Warm-up</a:t>
            </a:r>
            <a:endParaRPr lang="en-US" sz="1600" dirty="0"/>
          </a:p>
          <a:p>
            <a:pPr algn="l" indent="0" marL="0">
              <a:spcAft>
                <a:spcPts val="300"/>
              </a:spcAft>
              <a:buNone/>
            </a:pPr>
            <a:r>
              <a:rPr lang="en-US" sz="1600" b="1" dirty="0">
                <a:solidFill>
                  <a:schemeClr val="accent1"/>
                </a:solidFill>
              </a:rPr>
              <a:t>step 4.3</a:t>
            </a:r>
            <a:endParaRPr lang="en-US" sz="1600" dirty="0"/>
          </a:p>
          <a:p>
            <a:pPr algn="l" indent="0" marL="0">
              <a:buNone/>
            </a:pPr>
            <a:r>
              <a:rPr lang="en-US" sz="1400" dirty="0">
                <a:solidFill>
                  <a:schemeClr val="tx1"/>
                </a:solidFill>
              </a:rPr>
              <a:t>Power for at least 45 minutes; then the board at 800 mm, 10 frames every minute, until the mean plane Z drifts less than 0.1 of its temporal noise over 10 minutes</a:t>
            </a:r>
            <a:endParaRPr lang="en-US" sz="1600" dirty="0"/>
          </a:p>
        </p:txBody>
      </p:sp>
      <p:sp>
        <p:nvSpPr>
          <p:cNvPr id="11" name="Check 3 card"/>
          <p:cNvSpPr/>
          <p:nvPr/>
        </p:nvSpPr>
        <p:spPr>
          <a:xfrm>
            <a:off x="457200" y="3543300"/>
            <a:ext cx="5501488" cy="1943100"/>
          </a:xfrm>
          <a:prstGeom prst="roundRect">
            <a:avLst>
              <a:gd name="adj" fmla="val 5647"/>
            </a:avLst>
          </a:prstGeom>
          <a:solidFill>
            <a:schemeClr val="bg1"/>
          </a:solidFill>
          <a:ln w="12700">
            <a:solidFill>
              <a:schemeClr val="accent6"/>
            </a:solidFill>
            <a:prstDash val="solid"/>
          </a:ln>
        </p:spPr>
      </p:sp>
      <p:sp>
        <p:nvSpPr>
          <p:cNvPr id="12" name="Check 3 icon circle"/>
          <p:cNvSpPr/>
          <p:nvPr/>
        </p:nvSpPr>
        <p:spPr>
          <a:xfrm>
            <a:off x="594360" y="3680460"/>
            <a:ext cx="640080" cy="640080"/>
          </a:xfrm>
          <a:prstGeom prst="ellipse">
            <a:avLst/>
          </a:prstGeom>
          <a:solidFill>
            <a:schemeClr val="accent2"/>
          </a:solidFill>
          <a:ln/>
        </p:spPr>
      </p:sp>
      <p:pic>
        <p:nvPicPr>
          <p:cNvPr id="13" name="Check 3 icon glyph" descr="move icon">    </p:cNvPr>
          <p:cNvPicPr>
            <a:picLocks noChangeAspect="1"/>
          </p:cNvPicPr>
          <p:nvPr/>
        </p:nvPicPr>
        <p:blipFill>
          <a:blip r:embed="rId3"/>
          <a:stretch>
            <a:fillRect/>
          </a:stretch>
        </p:blipFill>
        <p:spPr>
          <a:xfrm>
            <a:off x="754380" y="3840480"/>
            <a:ext cx="320040" cy="320040"/>
          </a:xfrm>
          <a:prstGeom prst="rect">
            <a:avLst/>
          </a:prstGeom>
        </p:spPr>
      </p:pic>
      <p:sp>
        <p:nvSpPr>
          <p:cNvPr id="14" name="Check 3 text"/>
          <p:cNvSpPr txBox="1"/>
          <p:nvPr/>
        </p:nvSpPr>
        <p:spPr>
          <a:xfrm>
            <a:off x="1417320" y="3680460"/>
            <a:ext cx="4404208" cy="1668780"/>
          </a:xfrm>
          <a:prstGeom prst="rect">
            <a:avLst/>
          </a:prstGeom>
          <a:noFill/>
          <a:ln/>
        </p:spPr>
        <p:txBody>
          <a:bodyPr wrap="square" lIns="0" tIns="0" rIns="0" bIns="0" rtlCol="0" anchor="t"/>
          <a:lstStyle/>
          <a:p>
            <a:pPr algn="l" indent="0" marL="0">
              <a:spcAft>
                <a:spcPts val="300"/>
              </a:spcAft>
              <a:buNone/>
            </a:pPr>
            <a:r>
              <a:rPr lang="en-US" sz="1800" b="1" dirty="0">
                <a:solidFill>
                  <a:schemeClr val="tx2"/>
                </a:solidFill>
              </a:rPr>
              <a:t>Settle and vibration</a:t>
            </a:r>
            <a:endParaRPr lang="en-US" sz="1600" dirty="0"/>
          </a:p>
          <a:p>
            <a:pPr algn="l" indent="0" marL="0">
              <a:spcAft>
                <a:spcPts val="300"/>
              </a:spcAft>
              <a:buNone/>
            </a:pPr>
            <a:r>
              <a:rPr lang="en-US" sz="1600" b="1" dirty="0">
                <a:solidFill>
                  <a:schemeClr val="accent1"/>
                </a:solidFill>
              </a:rPr>
              <a:t>step 4.4</a:t>
            </a:r>
            <a:endParaRPr lang="en-US" sz="1600" dirty="0"/>
          </a:p>
          <a:p>
            <a:pPr algn="l" indent="0" marL="0">
              <a:buNone/>
            </a:pPr>
            <a:r>
              <a:rPr lang="en-US" sz="1400" dirty="0">
                <a:solidFill>
                  <a:schemeClr val="tx1"/>
                </a:solidFill>
              </a:rPr>
              <a:t>At 400 mm, 100 frames with the servos on after a move and 100 with the brakes on; raise the 2 s settle time or stiffen the mount if the servo-on noise exceeds the brakes-on noise by more than 10 percent</a:t>
            </a:r>
            <a:endParaRPr lang="en-US" sz="1600" dirty="0"/>
          </a:p>
        </p:txBody>
      </p:sp>
      <p:sp>
        <p:nvSpPr>
          <p:cNvPr id="15" name="Check 4 card"/>
          <p:cNvSpPr/>
          <p:nvPr/>
        </p:nvSpPr>
        <p:spPr>
          <a:xfrm>
            <a:off x="6233008" y="3543300"/>
            <a:ext cx="5501488" cy="1943100"/>
          </a:xfrm>
          <a:prstGeom prst="roundRect">
            <a:avLst>
              <a:gd name="adj" fmla="val 5647"/>
            </a:avLst>
          </a:prstGeom>
          <a:solidFill>
            <a:schemeClr val="bg1"/>
          </a:solidFill>
          <a:ln w="12700">
            <a:solidFill>
              <a:schemeClr val="accent6"/>
            </a:solidFill>
            <a:prstDash val="solid"/>
          </a:ln>
        </p:spPr>
      </p:sp>
      <p:sp>
        <p:nvSpPr>
          <p:cNvPr id="16" name="Check 4 icon circle"/>
          <p:cNvSpPr/>
          <p:nvPr/>
        </p:nvSpPr>
        <p:spPr>
          <a:xfrm>
            <a:off x="6370168" y="3680460"/>
            <a:ext cx="640080" cy="640080"/>
          </a:xfrm>
          <a:prstGeom prst="ellipse">
            <a:avLst/>
          </a:prstGeom>
          <a:solidFill>
            <a:schemeClr val="accent2"/>
          </a:solidFill>
          <a:ln/>
        </p:spPr>
      </p:sp>
      <p:pic>
        <p:nvPicPr>
          <p:cNvPr id="17" name="Check 4 icon glyph" descr="camera icon">    </p:cNvPr>
          <p:cNvPicPr>
            <a:picLocks noChangeAspect="1"/>
          </p:cNvPicPr>
          <p:nvPr/>
        </p:nvPicPr>
        <p:blipFill>
          <a:blip r:embed="rId4"/>
          <a:stretch>
            <a:fillRect/>
          </a:stretch>
        </p:blipFill>
        <p:spPr>
          <a:xfrm>
            <a:off x="6530188" y="3840480"/>
            <a:ext cx="320040" cy="320040"/>
          </a:xfrm>
          <a:prstGeom prst="rect">
            <a:avLst/>
          </a:prstGeom>
        </p:spPr>
      </p:pic>
      <p:sp>
        <p:nvSpPr>
          <p:cNvPr id="18" name="Check 4 text"/>
          <p:cNvSpPr txBox="1"/>
          <p:nvPr/>
        </p:nvSpPr>
        <p:spPr>
          <a:xfrm>
            <a:off x="7193128" y="3680460"/>
            <a:ext cx="4404208" cy="1668780"/>
          </a:xfrm>
          <a:prstGeom prst="rect">
            <a:avLst/>
          </a:prstGeom>
          <a:noFill/>
          <a:ln/>
        </p:spPr>
        <p:txBody>
          <a:bodyPr wrap="square" lIns="0" tIns="0" rIns="0" bIns="0" rtlCol="0" anchor="t"/>
          <a:lstStyle/>
          <a:p>
            <a:pPr algn="l" indent="0" marL="0">
              <a:spcAft>
                <a:spcPts val="300"/>
              </a:spcAft>
              <a:buNone/>
            </a:pPr>
            <a:r>
              <a:rPr lang="en-US" sz="1800" b="1" dirty="0">
                <a:solidFill>
                  <a:schemeClr val="tx2"/>
                </a:solidFill>
              </a:rPr>
              <a:t>Intrinsics and frame checks (engineer)</a:t>
            </a:r>
            <a:endParaRPr lang="en-US" sz="1600" dirty="0"/>
          </a:p>
          <a:p>
            <a:pPr algn="l" indent="0" marL="0">
              <a:spcAft>
                <a:spcPts val="300"/>
              </a:spcAft>
              <a:buNone/>
            </a:pPr>
            <a:r>
              <a:rPr lang="en-US" sz="1600" b="1" dirty="0">
                <a:solidFill>
                  <a:schemeClr val="accent1"/>
                </a:solidFill>
              </a:rPr>
              <a:t>step 4.5</a:t>
            </a:r>
            <a:endParaRPr lang="en-US" sz="1600" dirty="0"/>
          </a:p>
          <a:p>
            <a:pPr algn="l" indent="0" marL="0">
              <a:buNone/>
            </a:pPr>
            <a:r>
              <a:rPr lang="en-US" sz="1400" dirty="0">
                <a:solidFill>
                  <a:schemeClr val="tx1"/>
                </a:solidFill>
              </a:rPr>
              <a:t>Dagger values from the SDK into sensor_config.json; valid depth at 400 and 1600 mm; depth registered to the left IR image within 0.5 px; baseline direction from the occlusion band</a:t>
            </a:r>
            <a:endParaRPr lang="en-US" sz="1600" dirty="0"/>
          </a:p>
        </p:txBody>
      </p:sp>
      <p:sp>
        <p:nvSpPr>
          <p:cNvPr id="19" name="Checks caption"/>
          <p:cNvSpPr txBox="1"/>
          <p:nvPr/>
        </p:nvSpPr>
        <p:spPr>
          <a:xfrm>
            <a:off x="457200" y="5669280"/>
            <a:ext cx="11277295" cy="457200"/>
          </a:xfrm>
          <a:prstGeom prst="rect">
            <a:avLst/>
          </a:prstGeom>
          <a:noFill/>
          <a:ln/>
        </p:spPr>
        <p:txBody>
          <a:bodyPr wrap="square" lIns="0" tIns="0" rIns="0" bIns="0" rtlCol="0" anchor="b"/>
          <a:lstStyle/>
          <a:p>
            <a:pPr algn="l" indent="0" marL="0">
              <a:buNone/>
            </a:pPr>
            <a:r>
              <a:rPr lang="en-US" sz="1200" dirty="0">
                <a:solidFill>
                  <a:schemeClr val="accent5"/>
                </a:solidFill>
              </a:rPr>
              <a:t>Procedure section 3. Whatever settle time passes the check is the one the robot program uses; write the date, serial numbers, versions, base frame and plate reports in session_log.md.</a:t>
            </a:r>
            <a:endParaRPr lang="en-US" sz="12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nchor="b"/>
          <a:lstStyle>
            <a:lvl1pPr>
              <a:defRPr sz="12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11277295" cy="685800"/>
          </a:xfrm>
          <a:prstGeom prst="rect">
            <a:avLst/>
          </a:prstGeom>
          <a:noFill/>
          <a:ln/>
        </p:spPr>
        <p:txBody>
          <a:bodyPr wrap="square" lIns="0" tIns="0" rIns="0" bIns="0" rtlCol="0" anchor="t"/>
          <a:lstStyle/>
          <a:p>
            <a:pPr algn="l" indent="0" marL="0">
              <a:buNone/>
            </a:pPr>
            <a:r>
              <a:rPr lang="en-US" sz="3400" b="1" dirty="0">
                <a:solidFill>
                  <a:schemeClr val="tx2"/>
                </a:solidFill>
                <a:latin typeface="+mj-lt" pitchFamily="34" charset="0"/>
                <a:ea typeface="+mj-lt" pitchFamily="34" charset="-122"/>
                <a:cs typeface="+mj-lt" pitchFamily="34" charset="-120"/>
              </a:rPr>
              <a:t>Registration: 30 hand-jogged poses of the board</a:t>
            </a:r>
            <a:endParaRPr lang="en-US" sz="3400" dirty="0"/>
          </a:p>
        </p:txBody>
      </p:sp>
      <p:sp>
        <p:nvSpPr>
          <p:cNvPr id="3" name="Step 1 card"/>
          <p:cNvSpPr/>
          <p:nvPr/>
        </p:nvSpPr>
        <p:spPr>
          <a:xfrm>
            <a:off x="457200" y="1417320"/>
            <a:ext cx="2407844" cy="2834640"/>
          </a:xfrm>
          <a:prstGeom prst="roundRect">
            <a:avLst>
              <a:gd name="adj" fmla="val 4557"/>
            </a:avLst>
          </a:prstGeom>
          <a:solidFill>
            <a:schemeClr val="bg2"/>
          </a:solidFill>
          <a:ln/>
        </p:spPr>
      </p:sp>
      <p:sp>
        <p:nvSpPr>
          <p:cNvPr id="4" name="Step 1 badge"/>
          <p:cNvSpPr txBox="1"/>
          <p:nvPr/>
        </p:nvSpPr>
        <p:spPr>
          <a:xfrm>
            <a:off x="685800" y="1645920"/>
            <a:ext cx="502920" cy="50292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5" name="Step 1 head"/>
          <p:cNvSpPr txBox="1"/>
          <p:nvPr/>
        </p:nvSpPr>
        <p:spPr>
          <a:xfrm>
            <a:off x="1371600" y="1645920"/>
            <a:ext cx="1264844" cy="502920"/>
          </a:xfrm>
          <a:prstGeom prst="rect">
            <a:avLst/>
          </a:prstGeom>
          <a:noFill/>
          <a:ln/>
        </p:spPr>
        <p:txBody>
          <a:bodyPr wrap="square" lIns="0" tIns="0" rIns="0" bIns="0" rtlCol="0" anchor="ctr"/>
          <a:lstStyle/>
          <a:p>
            <a:pPr algn="l" indent="0" marL="0">
              <a:buNone/>
            </a:pPr>
            <a:r>
              <a:rPr lang="en-US" sz="1600" b="1" dirty="0">
                <a:solidFill>
                  <a:schemeClr val="tx2"/>
                </a:solidFill>
              </a:rPr>
              <a:t>Mount</a:t>
            </a:r>
            <a:endParaRPr lang="en-US" sz="1600" dirty="0"/>
          </a:p>
        </p:txBody>
      </p:sp>
      <p:sp>
        <p:nvSpPr>
          <p:cNvPr id="6" name="Step 1 text"/>
          <p:cNvSpPr txBox="1"/>
          <p:nvPr/>
        </p:nvSpPr>
        <p:spPr>
          <a:xfrm>
            <a:off x="685800" y="2240280"/>
            <a:ext cx="1950644" cy="1783080"/>
          </a:xfrm>
          <a:prstGeom prst="rect">
            <a:avLst/>
          </a:prstGeom>
          <a:noFill/>
          <a:ln/>
        </p:spPr>
        <p:txBody>
          <a:bodyPr wrap="square" lIns="0" tIns="0" rIns="0" bIns="0" rtlCol="0" anchor="t"/>
          <a:lstStyle/>
          <a:p>
            <a:pPr algn="l" indent="0" marL="0">
              <a:buNone/>
            </a:pPr>
            <a:r>
              <a:rPr lang="en-US" sz="1400" dirty="0">
                <a:solidFill>
                  <a:schemeClr val="tx1"/>
                </a:solidFill>
              </a:rPr>
              <a:t>The board on its adapter; mount check</a:t>
            </a:r>
            <a:endParaRPr lang="en-US" sz="1400" dirty="0"/>
          </a:p>
        </p:txBody>
      </p:sp>
      <p:sp>
        <p:nvSpPr>
          <p:cNvPr id="7" name="Arrow 1 to 2"/>
          <p:cNvSpPr/>
          <p:nvPr/>
        </p:nvSpPr>
        <p:spPr>
          <a:xfrm>
            <a:off x="3025064" y="2651760"/>
            <a:ext cx="228600" cy="365760"/>
          </a:xfrm>
          <a:prstGeom prst="chevron">
            <a:avLst/>
          </a:prstGeom>
          <a:solidFill>
            <a:schemeClr val="accent2"/>
          </a:solidFill>
          <a:ln/>
        </p:spPr>
      </p:sp>
      <p:sp>
        <p:nvSpPr>
          <p:cNvPr id="8" name="Step 2 card"/>
          <p:cNvSpPr/>
          <p:nvPr/>
        </p:nvSpPr>
        <p:spPr>
          <a:xfrm>
            <a:off x="3413684" y="1417320"/>
            <a:ext cx="2407844" cy="2834640"/>
          </a:xfrm>
          <a:prstGeom prst="roundRect">
            <a:avLst>
              <a:gd name="adj" fmla="val 4557"/>
            </a:avLst>
          </a:prstGeom>
          <a:solidFill>
            <a:schemeClr val="bg2"/>
          </a:solidFill>
          <a:ln/>
        </p:spPr>
      </p:sp>
      <p:sp>
        <p:nvSpPr>
          <p:cNvPr id="9" name="Step 2 badge"/>
          <p:cNvSpPr txBox="1"/>
          <p:nvPr/>
        </p:nvSpPr>
        <p:spPr>
          <a:xfrm>
            <a:off x="3642284" y="1645920"/>
            <a:ext cx="502920" cy="50292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0" name="Step 2 head"/>
          <p:cNvSpPr txBox="1"/>
          <p:nvPr/>
        </p:nvSpPr>
        <p:spPr>
          <a:xfrm>
            <a:off x="4328084" y="1645920"/>
            <a:ext cx="1264844" cy="502920"/>
          </a:xfrm>
          <a:prstGeom prst="rect">
            <a:avLst/>
          </a:prstGeom>
          <a:noFill/>
          <a:ln/>
        </p:spPr>
        <p:txBody>
          <a:bodyPr wrap="square" lIns="0" tIns="0" rIns="0" bIns="0" rtlCol="0" anchor="ctr"/>
          <a:lstStyle/>
          <a:p>
            <a:pPr algn="l" indent="0" marL="0">
              <a:buNone/>
            </a:pPr>
            <a:r>
              <a:rPr lang="en-US" sz="1600" b="1" dirty="0">
                <a:solidFill>
                  <a:schemeClr val="tx2"/>
                </a:solidFill>
              </a:rPr>
              <a:t>Jog</a:t>
            </a:r>
            <a:endParaRPr lang="en-US" sz="1600" dirty="0"/>
          </a:p>
        </p:txBody>
      </p:sp>
      <p:sp>
        <p:nvSpPr>
          <p:cNvPr id="11" name="Step 2 text"/>
          <p:cNvSpPr txBox="1"/>
          <p:nvPr/>
        </p:nvSpPr>
        <p:spPr>
          <a:xfrm>
            <a:off x="3642284" y="2240280"/>
            <a:ext cx="1950644" cy="1783080"/>
          </a:xfrm>
          <a:prstGeom prst="rect">
            <a:avLst/>
          </a:prstGeom>
          <a:noFill/>
          <a:ln/>
        </p:spPr>
        <p:txBody>
          <a:bodyPr wrap="square" lIns="0" tIns="0" rIns="0" bIns="0" rtlCol="0" anchor="t"/>
          <a:lstStyle/>
          <a:p>
            <a:pPr algn="l" indent="0" marL="0">
              <a:buNone/>
            </a:pPr>
            <a:r>
              <a:rPr lang="en-US" sz="1400" dirty="0">
                <a:solidFill>
                  <a:schemeClr val="tx1"/>
                </a:solidFill>
              </a:rPr>
              <a:t>To each of the 30 registration poses of the plan: 400 to 1600 mm, across the field, tilted about H and V up to plus or minus 20 degrees, the board fully visible</a:t>
            </a:r>
            <a:endParaRPr lang="en-US" sz="1400" dirty="0"/>
          </a:p>
        </p:txBody>
      </p:sp>
      <p:sp>
        <p:nvSpPr>
          <p:cNvPr id="12" name="Arrow 2 to 3"/>
          <p:cNvSpPr/>
          <p:nvPr/>
        </p:nvSpPr>
        <p:spPr>
          <a:xfrm>
            <a:off x="5981548" y="2651760"/>
            <a:ext cx="228600" cy="365760"/>
          </a:xfrm>
          <a:prstGeom prst="chevron">
            <a:avLst/>
          </a:prstGeom>
          <a:solidFill>
            <a:schemeClr val="accent2"/>
          </a:solidFill>
          <a:ln/>
        </p:spPr>
      </p:sp>
      <p:sp>
        <p:nvSpPr>
          <p:cNvPr id="13" name="Step 3 card"/>
          <p:cNvSpPr/>
          <p:nvPr/>
        </p:nvSpPr>
        <p:spPr>
          <a:xfrm>
            <a:off x="6370168" y="1417320"/>
            <a:ext cx="2407844" cy="2834640"/>
          </a:xfrm>
          <a:prstGeom prst="roundRect">
            <a:avLst>
              <a:gd name="adj" fmla="val 4557"/>
            </a:avLst>
          </a:prstGeom>
          <a:solidFill>
            <a:schemeClr val="bg2"/>
          </a:solidFill>
          <a:ln/>
        </p:spPr>
      </p:sp>
      <p:sp>
        <p:nvSpPr>
          <p:cNvPr id="14" name="Step 3 badge"/>
          <p:cNvSpPr txBox="1"/>
          <p:nvPr/>
        </p:nvSpPr>
        <p:spPr>
          <a:xfrm>
            <a:off x="6598768" y="1645920"/>
            <a:ext cx="502920" cy="50292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5" name="Step 3 head"/>
          <p:cNvSpPr txBox="1"/>
          <p:nvPr/>
        </p:nvSpPr>
        <p:spPr>
          <a:xfrm>
            <a:off x="7284568" y="1645920"/>
            <a:ext cx="1264844" cy="502920"/>
          </a:xfrm>
          <a:prstGeom prst="rect">
            <a:avLst/>
          </a:prstGeom>
          <a:noFill/>
          <a:ln/>
        </p:spPr>
        <p:txBody>
          <a:bodyPr wrap="square" lIns="0" tIns="0" rIns="0" bIns="0" rtlCol="0" anchor="ctr"/>
          <a:lstStyle/>
          <a:p>
            <a:pPr algn="l" indent="0" marL="0">
              <a:buNone/>
            </a:pPr>
            <a:r>
              <a:rPr lang="en-US" sz="1600" b="1" dirty="0">
                <a:solidFill>
                  <a:schemeClr val="tx2"/>
                </a:solidFill>
              </a:rPr>
              <a:t>Capture</a:t>
            </a:r>
            <a:endParaRPr lang="en-US" sz="1600" dirty="0"/>
          </a:p>
        </p:txBody>
      </p:sp>
      <p:sp>
        <p:nvSpPr>
          <p:cNvPr id="16" name="Step 3 text"/>
          <p:cNvSpPr txBox="1"/>
          <p:nvPr/>
        </p:nvSpPr>
        <p:spPr>
          <a:xfrm>
            <a:off x="6598768" y="2240280"/>
            <a:ext cx="1950644" cy="1783080"/>
          </a:xfrm>
          <a:prstGeom prst="rect">
            <a:avLst/>
          </a:prstGeom>
          <a:noFill/>
          <a:ln/>
        </p:spPr>
        <p:txBody>
          <a:bodyPr wrap="square" lIns="0" tIns="0" rIns="0" bIns="0" rtlCol="0" anchor="t"/>
          <a:lstStyle/>
          <a:p>
            <a:pPr algn="l" indent="0" marL="0">
              <a:buNone/>
            </a:pPr>
            <a:r>
              <a:rPr lang="en-US" sz="1400" dirty="0">
                <a:solidFill>
                  <a:schemeClr val="tx1"/>
                </a:solidFill>
              </a:rPr>
              <a:t>10 depth frames and the read-back robot pose at each; files named by the rule of section 5</a:t>
            </a:r>
            <a:endParaRPr lang="en-US" sz="1400" dirty="0"/>
          </a:p>
        </p:txBody>
      </p:sp>
      <p:sp>
        <p:nvSpPr>
          <p:cNvPr id="17" name="Arrow 3 to 4"/>
          <p:cNvSpPr/>
          <p:nvPr/>
        </p:nvSpPr>
        <p:spPr>
          <a:xfrm>
            <a:off x="8938031" y="2651760"/>
            <a:ext cx="228600" cy="365760"/>
          </a:xfrm>
          <a:prstGeom prst="chevron">
            <a:avLst/>
          </a:prstGeom>
          <a:solidFill>
            <a:schemeClr val="accent2"/>
          </a:solidFill>
          <a:ln/>
        </p:spPr>
      </p:sp>
      <p:sp>
        <p:nvSpPr>
          <p:cNvPr id="18" name="Step 4 card"/>
          <p:cNvSpPr/>
          <p:nvPr/>
        </p:nvSpPr>
        <p:spPr>
          <a:xfrm>
            <a:off x="9326651" y="1417320"/>
            <a:ext cx="2407844" cy="2834640"/>
          </a:xfrm>
          <a:prstGeom prst="roundRect">
            <a:avLst>
              <a:gd name="adj" fmla="val 4557"/>
            </a:avLst>
          </a:prstGeom>
          <a:solidFill>
            <a:schemeClr val="bg2"/>
          </a:solidFill>
          <a:ln/>
        </p:spPr>
      </p:sp>
      <p:sp>
        <p:nvSpPr>
          <p:cNvPr id="19" name="Step 4 badge"/>
          <p:cNvSpPr txBox="1"/>
          <p:nvPr/>
        </p:nvSpPr>
        <p:spPr>
          <a:xfrm>
            <a:off x="9555251" y="1645920"/>
            <a:ext cx="502920" cy="50292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20" name="Step 4 head"/>
          <p:cNvSpPr txBox="1"/>
          <p:nvPr/>
        </p:nvSpPr>
        <p:spPr>
          <a:xfrm>
            <a:off x="10241051" y="1645920"/>
            <a:ext cx="1264844" cy="502920"/>
          </a:xfrm>
          <a:prstGeom prst="rect">
            <a:avLst/>
          </a:prstGeom>
          <a:noFill/>
          <a:ln/>
        </p:spPr>
        <p:txBody>
          <a:bodyPr wrap="square" lIns="0" tIns="0" rIns="0" bIns="0" rtlCol="0" anchor="ctr"/>
          <a:lstStyle/>
          <a:p>
            <a:pPr algn="l" indent="0" marL="0">
              <a:buNone/>
            </a:pPr>
            <a:r>
              <a:rPr lang="en-US" sz="1600" b="1" dirty="0">
                <a:solidFill>
                  <a:schemeClr val="tx2"/>
                </a:solidFill>
              </a:rPr>
              <a:t>Solve (engineer)</a:t>
            </a:r>
            <a:endParaRPr lang="en-US" sz="1600" dirty="0"/>
          </a:p>
        </p:txBody>
      </p:sp>
      <p:sp>
        <p:nvSpPr>
          <p:cNvPr id="21" name="Step 4 text"/>
          <p:cNvSpPr txBox="1"/>
          <p:nvPr/>
        </p:nvSpPr>
        <p:spPr>
          <a:xfrm>
            <a:off x="9555251" y="2240280"/>
            <a:ext cx="1950644" cy="1783080"/>
          </a:xfrm>
          <a:prstGeom prst="rect">
            <a:avLst/>
          </a:prstGeom>
          <a:noFill/>
          <a:ln/>
        </p:spPr>
        <p:txBody>
          <a:bodyPr wrap="square" lIns="0" tIns="0" rIns="0" bIns="0" rtlCol="0" anchor="t"/>
          <a:lstStyle/>
          <a:p>
            <a:pPr algn="l" indent="0" marL="0">
              <a:buNone/>
            </a:pPr>
            <a:r>
              <a:rPr lang="en-US" sz="1400" dirty="0">
                <a:solidFill>
                  <a:schemeClr val="tx1"/>
                </a:solidFill>
              </a:rPr>
              <a:t>Fit the plane of each capture; register --observations observations.csv --out registration.json</a:t>
            </a:r>
            <a:endParaRPr lang="en-US" sz="1400" dirty="0"/>
          </a:p>
        </p:txBody>
      </p:sp>
      <p:sp>
        <p:nvSpPr>
          <p:cNvPr id="22" name="Stat 1 card"/>
          <p:cNvSpPr/>
          <p:nvPr/>
        </p:nvSpPr>
        <p:spPr>
          <a:xfrm>
            <a:off x="457200" y="4526280"/>
            <a:ext cx="2407844" cy="1600200"/>
          </a:xfrm>
          <a:prstGeom prst="roundRect">
            <a:avLst>
              <a:gd name="adj" fmla="val 6857"/>
            </a:avLst>
          </a:prstGeom>
          <a:solidFill>
            <a:schemeClr val="bg2"/>
          </a:solidFill>
          <a:ln/>
        </p:spPr>
      </p:sp>
      <p:sp>
        <p:nvSpPr>
          <p:cNvPr id="23" name="Stat 1 value"/>
          <p:cNvSpPr txBox="1"/>
          <p:nvPr/>
        </p:nvSpPr>
        <p:spPr>
          <a:xfrm>
            <a:off x="685800" y="4617720"/>
            <a:ext cx="1950644" cy="548640"/>
          </a:xfrm>
          <a:prstGeom prst="rect">
            <a:avLst/>
          </a:prstGeom>
          <a:noFill/>
          <a:ln/>
        </p:spPr>
        <p:txBody>
          <a:bodyPr wrap="square" lIns="0" tIns="0" rIns="0" bIns="0" rtlCol="0" anchor="ctr"/>
          <a:lstStyle/>
          <a:p>
            <a:pPr algn="l" indent="0" marL="0">
              <a:buNone/>
            </a:pPr>
            <a:r>
              <a:rPr lang="en-US" sz="3200" b="1" dirty="0">
                <a:solidFill>
                  <a:schemeClr val="accent1"/>
                </a:solidFill>
                <a:latin typeface="+mj-lt" pitchFamily="34" charset="0"/>
                <a:ea typeface="+mj-lt" pitchFamily="34" charset="-122"/>
                <a:cs typeface="+mj-lt" pitchFamily="34" charset="-120"/>
              </a:rPr>
              <a:t>0.15 mm</a:t>
            </a:r>
            <a:endParaRPr lang="en-US" sz="3200" dirty="0"/>
          </a:p>
        </p:txBody>
      </p:sp>
      <p:sp>
        <p:nvSpPr>
          <p:cNvPr id="24" name="Stat 1 label"/>
          <p:cNvSpPr txBox="1"/>
          <p:nvPr/>
        </p:nvSpPr>
        <p:spPr>
          <a:xfrm>
            <a:off x="685800" y="5166360"/>
            <a:ext cx="1950644" cy="868680"/>
          </a:xfrm>
          <a:prstGeom prst="rect">
            <a:avLst/>
          </a:prstGeom>
          <a:noFill/>
          <a:ln/>
        </p:spPr>
        <p:txBody>
          <a:bodyPr wrap="square" lIns="0" tIns="0" rIns="0" bIns="0" rtlCol="0" anchor="t"/>
          <a:lstStyle/>
          <a:p>
            <a:pPr algn="l" indent="0" marL="0">
              <a:buNone/>
            </a:pPr>
            <a:r>
              <a:rPr lang="en-US" sz="1400" dirty="0">
                <a:solidFill>
                  <a:schemeClr val="tx1"/>
                </a:solidFill>
              </a:rPr>
              <a:t>RMS plane-distance residual to accept</a:t>
            </a:r>
            <a:endParaRPr lang="en-US" sz="1400" dirty="0"/>
          </a:p>
        </p:txBody>
      </p:sp>
      <p:sp>
        <p:nvSpPr>
          <p:cNvPr id="25" name="Stat 2 card"/>
          <p:cNvSpPr/>
          <p:nvPr/>
        </p:nvSpPr>
        <p:spPr>
          <a:xfrm>
            <a:off x="3139364" y="4526280"/>
            <a:ext cx="2407844" cy="1600200"/>
          </a:xfrm>
          <a:prstGeom prst="roundRect">
            <a:avLst>
              <a:gd name="adj" fmla="val 6857"/>
            </a:avLst>
          </a:prstGeom>
          <a:solidFill>
            <a:schemeClr val="bg2"/>
          </a:solidFill>
          <a:ln/>
        </p:spPr>
      </p:sp>
      <p:sp>
        <p:nvSpPr>
          <p:cNvPr id="26" name="Stat 2 value"/>
          <p:cNvSpPr txBox="1"/>
          <p:nvPr/>
        </p:nvSpPr>
        <p:spPr>
          <a:xfrm>
            <a:off x="3367964" y="4617720"/>
            <a:ext cx="1950644" cy="548640"/>
          </a:xfrm>
          <a:prstGeom prst="rect">
            <a:avLst/>
          </a:prstGeom>
          <a:noFill/>
          <a:ln/>
        </p:spPr>
        <p:txBody>
          <a:bodyPr wrap="square" lIns="0" tIns="0" rIns="0" bIns="0" rtlCol="0" anchor="ctr"/>
          <a:lstStyle/>
          <a:p>
            <a:pPr algn="l" indent="0" marL="0">
              <a:buNone/>
            </a:pPr>
            <a:r>
              <a:rPr lang="en-US" sz="3200" b="1" dirty="0">
                <a:solidFill>
                  <a:schemeClr val="accent1"/>
                </a:solidFill>
                <a:latin typeface="+mj-lt" pitchFamily="34" charset="0"/>
                <a:ea typeface="+mj-lt" pitchFamily="34" charset="-122"/>
                <a:cs typeface="+mj-lt" pitchFamily="34" charset="-120"/>
              </a:rPr>
              <a:t>~0.1 mm</a:t>
            </a:r>
            <a:endParaRPr lang="en-US" sz="3200" dirty="0"/>
          </a:p>
        </p:txBody>
      </p:sp>
      <p:sp>
        <p:nvSpPr>
          <p:cNvPr id="27" name="Stat 2 label"/>
          <p:cNvSpPr txBox="1"/>
          <p:nvPr/>
        </p:nvSpPr>
        <p:spPr>
          <a:xfrm>
            <a:off x="3367964" y="5166360"/>
            <a:ext cx="1950644" cy="868680"/>
          </a:xfrm>
          <a:prstGeom prst="rect">
            <a:avLst/>
          </a:prstGeom>
          <a:noFill/>
          <a:ln/>
        </p:spPr>
        <p:txBody>
          <a:bodyPr wrap="square" lIns="0" tIns="0" rIns="0" bIns="0" rtlCol="0" anchor="t"/>
          <a:lstStyle/>
          <a:p>
            <a:pPr algn="l" indent="0" marL="0">
              <a:buNone/>
            </a:pPr>
            <a:r>
              <a:rPr lang="en-US" sz="1400" dirty="0">
                <a:solidFill>
                  <a:schemeClr val="tx1"/>
                </a:solidFill>
              </a:rPr>
              <a:t>expected standard error of the camera's Z offset, recorded with the result</a:t>
            </a:r>
            <a:endParaRPr lang="en-US" sz="1400" dirty="0"/>
          </a:p>
        </p:txBody>
      </p:sp>
      <p:sp>
        <p:nvSpPr>
          <p:cNvPr id="28" name="Message box"/>
          <p:cNvSpPr/>
          <p:nvPr/>
        </p:nvSpPr>
        <p:spPr>
          <a:xfrm>
            <a:off x="5821528" y="4526280"/>
            <a:ext cx="5912968" cy="1600200"/>
          </a:xfrm>
          <a:prstGeom prst="roundRect">
            <a:avLst>
              <a:gd name="adj" fmla="val 6857"/>
            </a:avLst>
          </a:prstGeom>
          <a:solidFill>
            <a:schemeClr val="bg2"/>
          </a:solidFill>
          <a:ln w="25400">
            <a:solidFill>
              <a:schemeClr val="accent1"/>
            </a:solidFill>
            <a:prstDash val="solid"/>
          </a:ln>
        </p:spPr>
      </p:sp>
      <p:sp>
        <p:nvSpPr>
          <p:cNvPr id="29" name="Message icon circle"/>
          <p:cNvSpPr/>
          <p:nvPr/>
        </p:nvSpPr>
        <p:spPr>
          <a:xfrm>
            <a:off x="6050128" y="5006340"/>
            <a:ext cx="640080" cy="640080"/>
          </a:xfrm>
          <a:prstGeom prst="ellipse">
            <a:avLst/>
          </a:prstGeom>
          <a:solidFill>
            <a:schemeClr val="accent1"/>
          </a:solidFill>
          <a:ln/>
        </p:spPr>
      </p:sp>
      <p:pic>
        <p:nvPicPr>
          <p:cNvPr id="30" name="Message icon glyph" descr="list icon">    </p:cNvPr>
          <p:cNvPicPr>
            <a:picLocks noChangeAspect="1"/>
          </p:cNvPicPr>
          <p:nvPr/>
        </p:nvPicPr>
        <p:blipFill>
          <a:blip r:embed="rId1"/>
          <a:stretch>
            <a:fillRect/>
          </a:stretch>
        </p:blipFill>
        <p:spPr>
          <a:xfrm>
            <a:off x="6210148" y="5166360"/>
            <a:ext cx="320040" cy="320040"/>
          </a:xfrm>
          <a:prstGeom prst="rect">
            <a:avLst/>
          </a:prstGeom>
        </p:spPr>
      </p:pic>
      <p:sp>
        <p:nvSpPr>
          <p:cNvPr id="31" name="Key message"/>
          <p:cNvSpPr txBox="1"/>
          <p:nvPr/>
        </p:nvSpPr>
        <p:spPr>
          <a:xfrm>
            <a:off x="6873088" y="4526280"/>
            <a:ext cx="4632808" cy="1600200"/>
          </a:xfrm>
          <a:prstGeom prst="rect">
            <a:avLst/>
          </a:prstGeom>
          <a:noFill/>
          <a:ln/>
        </p:spPr>
        <p:txBody>
          <a:bodyPr wrap="square" lIns="0" tIns="0" rIns="0" bIns="0" rtlCol="0" anchor="ctr"/>
          <a:lstStyle/>
          <a:p>
            <a:pPr algn="l" indent="0" marL="0">
              <a:buNone/>
            </a:pPr>
            <a:r>
              <a:rPr lang="en-US" sz="1800" b="1" dirty="0">
                <a:solidFill>
                  <a:schemeClr val="tx2"/>
                </a:solidFill>
              </a:rPr>
              <a:t>If the residual is larger, add poses with larger tilts or check the mount, then solve again. Registration comes first, so the poses are jogged by hand; the exact pose is solved afterward.</a:t>
            </a:r>
            <a:endParaRPr lang="en-US" sz="18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nchor="b"/>
          <a:lstStyle>
            <a:lvl1pPr>
              <a:defRPr sz="12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11277295" cy="685800"/>
          </a:xfrm>
          <a:prstGeom prst="rect">
            <a:avLst/>
          </a:prstGeom>
          <a:noFill/>
          <a:ln/>
        </p:spPr>
        <p:txBody>
          <a:bodyPr wrap="square" lIns="0" tIns="0" rIns="0" bIns="0" rtlCol="0" anchor="t"/>
          <a:lstStyle/>
          <a:p>
            <a:pPr algn="l" indent="0" marL="0">
              <a:buNone/>
            </a:pPr>
            <a:r>
              <a:rPr lang="en-US" sz="3400" b="1" dirty="0">
                <a:solidFill>
                  <a:schemeClr val="tx2"/>
                </a:solidFill>
                <a:latin typeface="+mj-lt" pitchFamily="34" charset="0"/>
                <a:ea typeface="+mj-lt" pitchFamily="34" charset="-122"/>
                <a:cs typeface="+mj-lt" pitchFamily="34" charset="-120"/>
              </a:rPr>
              <a:t>The mount check after every target swap</a:t>
            </a:r>
            <a:endParaRPr lang="en-US" sz="3400" dirty="0"/>
          </a:p>
        </p:txBody>
      </p:sp>
      <p:pic>
        <p:nvPicPr>
          <p:cNvPr id="3" name="Cross-section of the mounting stack: flange, adapter, spigot, ball-lock pin, back plate, standoffs, front plate" descr="Cross-section of the mounting stack: flange, adapter, spigot, ball-lock pin, back plate, standoffs, front plate">    </p:cNvPr>
          <p:cNvPicPr>
            <a:picLocks noChangeAspect="1"/>
          </p:cNvPicPr>
          <p:nvPr/>
        </p:nvPicPr>
        <p:blipFill>
          <a:blip r:embed="rId1"/>
          <a:stretch>
            <a:fillRect/>
          </a:stretch>
        </p:blipFill>
        <p:spPr>
          <a:xfrm>
            <a:off x="457200" y="2273691"/>
            <a:ext cx="6492240" cy="2996418"/>
          </a:xfrm>
          <a:prstGeom prst="rect">
            <a:avLst/>
          </a:prstGeom>
        </p:spPr>
      </p:pic>
      <p:sp>
        <p:nvSpPr>
          <p:cNvPr id="4" name="Cross-section of the mounting stack: flange, adapter, spigot, ball-lock pin, back plate, standoffs, front plate frame"/>
          <p:cNvSpPr/>
          <p:nvPr/>
        </p:nvSpPr>
        <p:spPr>
          <a:xfrm>
            <a:off x="457200" y="2273691"/>
            <a:ext cx="6492240" cy="2996418"/>
          </a:xfrm>
          <a:prstGeom prst="rect">
            <a:avLst/>
          </a:prstGeom>
          <a:ln w="12700">
            <a:solidFill>
              <a:schemeClr val="accent6"/>
            </a:solidFill>
            <a:prstDash val="solid"/>
          </a:ln>
        </p:spPr>
      </p:sp>
      <p:sp>
        <p:nvSpPr>
          <p:cNvPr id="5" name="Board point icon 1 circle"/>
          <p:cNvSpPr/>
          <p:nvPr/>
        </p:nvSpPr>
        <p:spPr>
          <a:xfrm>
            <a:off x="7223760" y="1588008"/>
            <a:ext cx="411480" cy="411480"/>
          </a:xfrm>
          <a:prstGeom prst="ellipse">
            <a:avLst/>
          </a:prstGeom>
          <a:solidFill>
            <a:schemeClr val="accent2"/>
          </a:solidFill>
          <a:ln/>
        </p:spPr>
      </p:sp>
      <p:pic>
        <p:nvPicPr>
          <p:cNvPr id="6" name="Board point icon 1 glyph" descr="check icon">    </p:cNvPr>
          <p:cNvPicPr>
            <a:picLocks noChangeAspect="1"/>
          </p:cNvPicPr>
          <p:nvPr/>
        </p:nvPicPr>
        <p:blipFill>
          <a:blip r:embed="rId2"/>
          <a:stretch>
            <a:fillRect/>
          </a:stretch>
        </p:blipFill>
        <p:spPr>
          <a:xfrm>
            <a:off x="7326630" y="1690878"/>
            <a:ext cx="205740" cy="205740"/>
          </a:xfrm>
          <a:prstGeom prst="rect">
            <a:avLst/>
          </a:prstGeom>
        </p:spPr>
      </p:pic>
      <p:sp>
        <p:nvSpPr>
          <p:cNvPr id="7" name="Board point text 1"/>
          <p:cNvSpPr txBox="1"/>
          <p:nvPr/>
        </p:nvSpPr>
        <p:spPr>
          <a:xfrm>
            <a:off x="7818120" y="1417320"/>
            <a:ext cx="3916375" cy="752856"/>
          </a:xfrm>
          <a:prstGeom prst="rect">
            <a:avLst/>
          </a:prstGeom>
          <a:noFill/>
          <a:ln/>
        </p:spPr>
        <p:txBody>
          <a:bodyPr wrap="square" lIns="0" tIns="0" rIns="0" bIns="0" rtlCol="0" anchor="ctr"/>
          <a:lstStyle/>
          <a:p>
            <a:pPr algn="l" indent="0" marL="0">
              <a:buNone/>
            </a:pPr>
            <a:r>
              <a:rPr lang="en-US" sz="1400" dirty="0">
                <a:solidFill>
                  <a:schemeClr val="tx1"/>
                </a:solidFill>
              </a:rPr>
              <a:t>Move the mounted target to the mount-check station, 800 mm, centered and fronto-parallel; capture a few frames into a folder of their own</a:t>
            </a:r>
            <a:endParaRPr lang="en-US" sz="1400" dirty="0"/>
          </a:p>
        </p:txBody>
      </p:sp>
      <p:sp>
        <p:nvSpPr>
          <p:cNvPr id="8" name="Board point icon 2 circle"/>
          <p:cNvSpPr/>
          <p:nvPr/>
        </p:nvSpPr>
        <p:spPr>
          <a:xfrm>
            <a:off x="7223760" y="2523744"/>
            <a:ext cx="411480" cy="411480"/>
          </a:xfrm>
          <a:prstGeom prst="ellipse">
            <a:avLst/>
          </a:prstGeom>
          <a:solidFill>
            <a:schemeClr val="accent2"/>
          </a:solidFill>
          <a:ln/>
        </p:spPr>
      </p:sp>
      <p:pic>
        <p:nvPicPr>
          <p:cNvPr id="9" name="Board point icon 2 glyph" descr="check icon">    </p:cNvPr>
          <p:cNvPicPr>
            <a:picLocks noChangeAspect="1"/>
          </p:cNvPicPr>
          <p:nvPr/>
        </p:nvPicPr>
        <p:blipFill>
          <a:blip r:embed="rId3"/>
          <a:stretch>
            <a:fillRect/>
          </a:stretch>
        </p:blipFill>
        <p:spPr>
          <a:xfrm>
            <a:off x="7326630" y="2626614"/>
            <a:ext cx="205740" cy="205740"/>
          </a:xfrm>
          <a:prstGeom prst="rect">
            <a:avLst/>
          </a:prstGeom>
        </p:spPr>
      </p:pic>
      <p:sp>
        <p:nvSpPr>
          <p:cNvPr id="10" name="Board point text 2"/>
          <p:cNvSpPr txBox="1"/>
          <p:nvPr/>
        </p:nvSpPr>
        <p:spPr>
          <a:xfrm>
            <a:off x="7818120" y="2353056"/>
            <a:ext cx="3916375" cy="752856"/>
          </a:xfrm>
          <a:prstGeom prst="rect">
            <a:avLst/>
          </a:prstGeom>
          <a:noFill/>
          <a:ln/>
        </p:spPr>
        <p:txBody>
          <a:bodyPr wrap="square" lIns="0" tIns="0" rIns="0" bIns="0" rtlCol="0" anchor="ctr"/>
          <a:lstStyle/>
          <a:p>
            <a:pPr algn="l" indent="0" marL="0">
              <a:buNone/>
            </a:pPr>
            <a:r>
              <a:rPr lang="en-US" sz="1400" dirty="0">
                <a:solidFill>
                  <a:schemeClr val="tx1"/>
                </a:solidFill>
              </a:rPr>
              <a:t>check_captures --mount-check fits the front plane and compares it with the registered pose: Z within 0.15 mm, tilt within 0.05 degrees</a:t>
            </a:r>
            <a:endParaRPr lang="en-US" sz="1400" dirty="0"/>
          </a:p>
        </p:txBody>
      </p:sp>
      <p:sp>
        <p:nvSpPr>
          <p:cNvPr id="11" name="Board point icon 3 circle"/>
          <p:cNvSpPr/>
          <p:nvPr/>
        </p:nvSpPr>
        <p:spPr>
          <a:xfrm>
            <a:off x="7223760" y="3566160"/>
            <a:ext cx="411480" cy="411480"/>
          </a:xfrm>
          <a:prstGeom prst="ellipse">
            <a:avLst/>
          </a:prstGeom>
          <a:solidFill>
            <a:schemeClr val="accent2"/>
          </a:solidFill>
          <a:ln/>
        </p:spPr>
      </p:sp>
      <p:pic>
        <p:nvPicPr>
          <p:cNvPr id="12" name="Board point icon 3 glyph" descr="check icon">    </p:cNvPr>
          <p:cNvPicPr>
            <a:picLocks noChangeAspect="1"/>
          </p:cNvPicPr>
          <p:nvPr/>
        </p:nvPicPr>
        <p:blipFill>
          <a:blip r:embed="rId4"/>
          <a:stretch>
            <a:fillRect/>
          </a:stretch>
        </p:blipFill>
        <p:spPr>
          <a:xfrm>
            <a:off x="7326630" y="3669030"/>
            <a:ext cx="205740" cy="205740"/>
          </a:xfrm>
          <a:prstGeom prst="rect">
            <a:avLst/>
          </a:prstGeom>
        </p:spPr>
      </p:pic>
      <p:sp>
        <p:nvSpPr>
          <p:cNvPr id="13" name="Board point text 3"/>
          <p:cNvSpPr txBox="1"/>
          <p:nvPr/>
        </p:nvSpPr>
        <p:spPr>
          <a:xfrm>
            <a:off x="7818120" y="3288792"/>
            <a:ext cx="3916375" cy="966216"/>
          </a:xfrm>
          <a:prstGeom prst="rect">
            <a:avLst/>
          </a:prstGeom>
          <a:noFill/>
          <a:ln/>
        </p:spPr>
        <p:txBody>
          <a:bodyPr wrap="square" lIns="0" tIns="0" rIns="0" bIns="0" rtlCol="0" anchor="ctr"/>
          <a:lstStyle/>
          <a:p>
            <a:pPr algn="l" indent="0" marL="0">
              <a:buNone/>
            </a:pPr>
            <a:r>
              <a:rPr lang="en-US" sz="1400" dirty="0">
                <a:solidFill>
                  <a:schemeClr val="tx1"/>
                </a:solidFill>
              </a:rPr>
              <a:t>For a feature target it also locates one feature outline in the image and compares H and V with the as-built datum offsets: within 0.5 px</a:t>
            </a:r>
            <a:endParaRPr lang="en-US" sz="1400" dirty="0"/>
          </a:p>
        </p:txBody>
      </p:sp>
      <p:sp>
        <p:nvSpPr>
          <p:cNvPr id="14" name="Board point icon 4 circle"/>
          <p:cNvSpPr/>
          <p:nvPr/>
        </p:nvSpPr>
        <p:spPr>
          <a:xfrm>
            <a:off x="7223760" y="4608576"/>
            <a:ext cx="411480" cy="411480"/>
          </a:xfrm>
          <a:prstGeom prst="ellipse">
            <a:avLst/>
          </a:prstGeom>
          <a:solidFill>
            <a:schemeClr val="accent2"/>
          </a:solidFill>
          <a:ln/>
        </p:spPr>
      </p:sp>
      <p:pic>
        <p:nvPicPr>
          <p:cNvPr id="15" name="Board point icon 4 glyph" descr="check icon">    </p:cNvPr>
          <p:cNvPicPr>
            <a:picLocks noChangeAspect="1"/>
          </p:cNvPicPr>
          <p:nvPr/>
        </p:nvPicPr>
        <p:blipFill>
          <a:blip r:embed="rId5"/>
          <a:stretch>
            <a:fillRect/>
          </a:stretch>
        </p:blipFill>
        <p:spPr>
          <a:xfrm>
            <a:off x="7326630" y="4711446"/>
            <a:ext cx="205740" cy="205740"/>
          </a:xfrm>
          <a:prstGeom prst="rect">
            <a:avLst/>
          </a:prstGeom>
        </p:spPr>
      </p:pic>
      <p:sp>
        <p:nvSpPr>
          <p:cNvPr id="16" name="Board point text 4"/>
          <p:cNvSpPr txBox="1"/>
          <p:nvPr/>
        </p:nvSpPr>
        <p:spPr>
          <a:xfrm>
            <a:off x="7818120" y="4437888"/>
            <a:ext cx="3916375" cy="752856"/>
          </a:xfrm>
          <a:prstGeom prst="rect">
            <a:avLst/>
          </a:prstGeom>
          <a:noFill/>
          <a:ln/>
        </p:spPr>
        <p:txBody>
          <a:bodyPr wrap="square" lIns="0" tIns="0" rIns="0" bIns="0" rtlCol="0" anchor="ctr"/>
          <a:lstStyle/>
          <a:p>
            <a:pPr algn="l" indent="0" marL="0">
              <a:buNone/>
            </a:pPr>
            <a:r>
              <a:rPr lang="en-US" sz="1400" dirty="0">
                <a:solidFill>
                  <a:schemeClr val="tx1"/>
                </a:solidFill>
              </a:rPr>
              <a:t>PASS or FAIL per check with the measured value; otherwise re-seat the target or correct the datum record</a:t>
            </a:r>
            <a:endParaRPr lang="en-US" sz="1400" dirty="0"/>
          </a:p>
        </p:txBody>
      </p:sp>
      <p:sp>
        <p:nvSpPr>
          <p:cNvPr id="17" name="Board point icon 5 circle"/>
          <p:cNvSpPr/>
          <p:nvPr/>
        </p:nvSpPr>
        <p:spPr>
          <a:xfrm>
            <a:off x="7223760" y="5544312"/>
            <a:ext cx="411480" cy="411480"/>
          </a:xfrm>
          <a:prstGeom prst="ellipse">
            <a:avLst/>
          </a:prstGeom>
          <a:solidFill>
            <a:schemeClr val="accent2"/>
          </a:solidFill>
          <a:ln/>
        </p:spPr>
      </p:sp>
      <p:pic>
        <p:nvPicPr>
          <p:cNvPr id="18" name="Board point icon 5 glyph" descr="check icon">    </p:cNvPr>
          <p:cNvPicPr>
            <a:picLocks noChangeAspect="1"/>
          </p:cNvPicPr>
          <p:nvPr/>
        </p:nvPicPr>
        <p:blipFill>
          <a:blip r:embed="rId6"/>
          <a:stretch>
            <a:fillRect/>
          </a:stretch>
        </p:blipFill>
        <p:spPr>
          <a:xfrm>
            <a:off x="7326630" y="5647182"/>
            <a:ext cx="205740" cy="205740"/>
          </a:xfrm>
          <a:prstGeom prst="rect">
            <a:avLst/>
          </a:prstGeom>
        </p:spPr>
      </p:pic>
      <p:sp>
        <p:nvSpPr>
          <p:cNvPr id="19" name="Board point text 5"/>
          <p:cNvSpPr txBox="1"/>
          <p:nvPr/>
        </p:nvSpPr>
        <p:spPr>
          <a:xfrm>
            <a:off x="7818120" y="5373624"/>
            <a:ext cx="3916375" cy="752856"/>
          </a:xfrm>
          <a:prstGeom prst="rect">
            <a:avLst/>
          </a:prstGeom>
          <a:noFill/>
          <a:ln/>
        </p:spPr>
        <p:txBody>
          <a:bodyPr wrap="square" lIns="0" tIns="0" rIns="0" bIns="0" rtlCol="0" anchor="ctr"/>
          <a:lstStyle/>
          <a:p>
            <a:pPr algn="l" indent="0" marL="0">
              <a:buNone/>
            </a:pPr>
            <a:r>
              <a:rPr lang="en-US" sz="1400" dirty="0">
                <a:solidFill>
                  <a:schemeClr val="tx1"/>
                </a:solidFill>
              </a:rPr>
              <a:t>The spigot and dowel return every target to the same datum, so a passed check makes re-mounting safe</a:t>
            </a:r>
            <a:endParaRPr lang="en-US" sz="14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nchor="b"/>
          <a:lstStyle>
            <a:lvl1pPr>
              <a:defRPr sz="12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11277295" cy="685800"/>
          </a:xfrm>
          <a:prstGeom prst="rect">
            <a:avLst/>
          </a:prstGeom>
          <a:noFill/>
          <a:ln/>
        </p:spPr>
        <p:txBody>
          <a:bodyPr wrap="square" lIns="0" tIns="0" rIns="0" bIns="0" rtlCol="0" anchor="t"/>
          <a:lstStyle/>
          <a:p>
            <a:pPr algn="l" indent="0" marL="0">
              <a:buNone/>
            </a:pPr>
            <a:r>
              <a:rPr lang="en-US" sz="3400" b="1" dirty="0">
                <a:solidFill>
                  <a:schemeClr val="tx2"/>
                </a:solidFill>
                <a:latin typeface="+mj-lt" pitchFamily="34" charset="0"/>
                <a:ea typeface="+mj-lt" pitchFamily="34" charset="-122"/>
                <a:cs typeface="+mj-lt" pitchFamily="34" charset="-120"/>
              </a:rPr>
              <a:t>One plan, 9 stations, 5 field positions</a:t>
            </a:r>
            <a:endParaRPr lang="en-US" sz="3400" dirty="0"/>
          </a:p>
        </p:txBody>
      </p:sp>
      <p:pic>
        <p:nvPicPr>
          <p:cNvPr id="3" name="Planned poses: side view and front view" descr="Planned poses: side view and front view">    </p:cNvPr>
          <p:cNvPicPr>
            <a:picLocks noChangeAspect="1"/>
          </p:cNvPicPr>
          <p:nvPr/>
        </p:nvPicPr>
        <p:blipFill>
          <a:blip r:embed="rId1"/>
          <a:stretch>
            <a:fillRect/>
          </a:stretch>
        </p:blipFill>
        <p:spPr>
          <a:xfrm>
            <a:off x="457200" y="1818601"/>
            <a:ext cx="7863840" cy="3266518"/>
          </a:xfrm>
          <a:prstGeom prst="rect">
            <a:avLst/>
          </a:prstGeom>
        </p:spPr>
      </p:pic>
      <p:sp>
        <p:nvSpPr>
          <p:cNvPr id="4" name="Planned poses: side view and front view frame"/>
          <p:cNvSpPr/>
          <p:nvPr/>
        </p:nvSpPr>
        <p:spPr>
          <a:xfrm>
            <a:off x="457200" y="1818601"/>
            <a:ext cx="7863840" cy="3266518"/>
          </a:xfrm>
          <a:prstGeom prst="rect">
            <a:avLst/>
          </a:prstGeom>
          <a:ln w="12700">
            <a:solidFill>
              <a:schemeClr val="accent6"/>
            </a:solidFill>
            <a:prstDash val="solid"/>
          </a:ln>
        </p:spPr>
      </p:sp>
      <p:sp>
        <p:nvSpPr>
          <p:cNvPr id="5" name="Figure caption"/>
          <p:cNvSpPr txBox="1"/>
          <p:nvPr/>
        </p:nvSpPr>
        <p:spPr>
          <a:xfrm>
            <a:off x="457200" y="5267999"/>
            <a:ext cx="7863840" cy="457200"/>
          </a:xfrm>
          <a:prstGeom prst="rect">
            <a:avLst/>
          </a:prstGeom>
          <a:noFill/>
          <a:ln/>
        </p:spPr>
        <p:txBody>
          <a:bodyPr wrap="square" lIns="0" tIns="0" rIns="0" bIns="0" rtlCol="0" anchor="t"/>
          <a:lstStyle/>
          <a:p>
            <a:pPr algn="l" indent="0" marL="0">
              <a:buNone/>
            </a:pPr>
            <a:r>
              <a:rPr lang="en-US" sz="1200" dirty="0">
                <a:solidFill>
                  <a:schemeClr val="accent5"/>
                </a:solidFill>
              </a:rPr>
              <a:t>The default plan: target centers in the sensor frame, side and front views, colored by series. Each cloud around a station is a set of random lateral offsets.</a:t>
            </a:r>
            <a:endParaRPr lang="en-US" sz="1200" dirty="0"/>
          </a:p>
        </p:txBody>
      </p:sp>
      <p:sp>
        <p:nvSpPr>
          <p:cNvPr id="6" name="Stat 1 card"/>
          <p:cNvSpPr/>
          <p:nvPr/>
        </p:nvSpPr>
        <p:spPr>
          <a:xfrm>
            <a:off x="8595360" y="1417320"/>
            <a:ext cx="3139135" cy="1386840"/>
          </a:xfrm>
          <a:prstGeom prst="roundRect">
            <a:avLst>
              <a:gd name="adj" fmla="val 7912"/>
            </a:avLst>
          </a:prstGeom>
          <a:solidFill>
            <a:schemeClr val="bg2"/>
          </a:solidFill>
          <a:ln/>
        </p:spPr>
      </p:sp>
      <p:sp>
        <p:nvSpPr>
          <p:cNvPr id="7" name="Stat 1 value"/>
          <p:cNvSpPr txBox="1"/>
          <p:nvPr/>
        </p:nvSpPr>
        <p:spPr>
          <a:xfrm>
            <a:off x="8778240" y="1488948"/>
            <a:ext cx="2773375" cy="548640"/>
          </a:xfrm>
          <a:prstGeom prst="rect">
            <a:avLst/>
          </a:prstGeom>
          <a:noFill/>
          <a:ln/>
        </p:spPr>
        <p:txBody>
          <a:bodyPr wrap="square" lIns="0" tIns="0" rIns="0" bIns="0" rtlCol="0" anchor="ctr"/>
          <a:lstStyle/>
          <a:p>
            <a:pPr algn="l" indent="0" marL="0">
              <a:buNone/>
            </a:pPr>
            <a:r>
              <a:rPr lang="en-US" sz="3600" b="1" dirty="0">
                <a:solidFill>
                  <a:schemeClr val="accent1"/>
                </a:solidFill>
                <a:latin typeface="+mj-lt" pitchFamily="34" charset="0"/>
                <a:ea typeface="+mj-lt" pitchFamily="34" charset="-122"/>
                <a:cs typeface="+mj-lt" pitchFamily="34" charset="-120"/>
              </a:rPr>
              <a:t>9</a:t>
            </a:r>
            <a:endParaRPr lang="en-US" sz="3600" dirty="0"/>
          </a:p>
        </p:txBody>
      </p:sp>
      <p:sp>
        <p:nvSpPr>
          <p:cNvPr id="8" name="Stat 1 label"/>
          <p:cNvSpPr txBox="1"/>
          <p:nvPr/>
        </p:nvSpPr>
        <p:spPr>
          <a:xfrm>
            <a:off x="8778240" y="2037588"/>
            <a:ext cx="2773375" cy="694944"/>
          </a:xfrm>
          <a:prstGeom prst="rect">
            <a:avLst/>
          </a:prstGeom>
          <a:noFill/>
          <a:ln/>
        </p:spPr>
        <p:txBody>
          <a:bodyPr wrap="square" lIns="0" tIns="0" rIns="0" bIns="0" rtlCol="0" anchor="t"/>
          <a:lstStyle/>
          <a:p>
            <a:pPr algn="l" indent="0" marL="0">
              <a:buNone/>
            </a:pPr>
            <a:r>
              <a:rPr lang="en-US" sz="1400" dirty="0">
                <a:solidFill>
                  <a:schemeClr val="tx1"/>
                </a:solidFill>
              </a:rPr>
              <a:t>stations of one geometric ladder, 400 to 1600 mm at a ratio of 2 to the quarter power</a:t>
            </a:r>
            <a:endParaRPr lang="en-US" sz="1400" dirty="0"/>
          </a:p>
        </p:txBody>
      </p:sp>
      <p:sp>
        <p:nvSpPr>
          <p:cNvPr id="9" name="Stat 2 card"/>
          <p:cNvSpPr/>
          <p:nvPr/>
        </p:nvSpPr>
        <p:spPr>
          <a:xfrm>
            <a:off x="8595360" y="3078480"/>
            <a:ext cx="3139135" cy="1386840"/>
          </a:xfrm>
          <a:prstGeom prst="roundRect">
            <a:avLst>
              <a:gd name="adj" fmla="val 7912"/>
            </a:avLst>
          </a:prstGeom>
          <a:solidFill>
            <a:schemeClr val="bg2"/>
          </a:solidFill>
          <a:ln/>
        </p:spPr>
      </p:sp>
      <p:sp>
        <p:nvSpPr>
          <p:cNvPr id="10" name="Stat 2 value"/>
          <p:cNvSpPr txBox="1"/>
          <p:nvPr/>
        </p:nvSpPr>
        <p:spPr>
          <a:xfrm>
            <a:off x="8778240" y="3150108"/>
            <a:ext cx="2773375" cy="548640"/>
          </a:xfrm>
          <a:prstGeom prst="rect">
            <a:avLst/>
          </a:prstGeom>
          <a:noFill/>
          <a:ln/>
        </p:spPr>
        <p:txBody>
          <a:bodyPr wrap="square" lIns="0" tIns="0" rIns="0" bIns="0" rtlCol="0" anchor="ctr"/>
          <a:lstStyle/>
          <a:p>
            <a:pPr algn="l" indent="0" marL="0">
              <a:buNone/>
            </a:pPr>
            <a:r>
              <a:rPr lang="en-US" sz="3600" b="1" dirty="0">
                <a:solidFill>
                  <a:schemeClr val="accent1"/>
                </a:solidFill>
                <a:latin typeface="+mj-lt" pitchFamily="34" charset="0"/>
                <a:ea typeface="+mj-lt" pitchFamily="34" charset="-122"/>
                <a:cs typeface="+mj-lt" pitchFamily="34" charset="-120"/>
              </a:rPr>
              <a:t>5</a:t>
            </a:r>
            <a:endParaRPr lang="en-US" sz="3600" dirty="0"/>
          </a:p>
        </p:txBody>
      </p:sp>
      <p:sp>
        <p:nvSpPr>
          <p:cNvPr id="11" name="Stat 2 label"/>
          <p:cNvSpPr txBox="1"/>
          <p:nvPr/>
        </p:nvSpPr>
        <p:spPr>
          <a:xfrm>
            <a:off x="8778240" y="3698748"/>
            <a:ext cx="2773375" cy="694944"/>
          </a:xfrm>
          <a:prstGeom prst="rect">
            <a:avLst/>
          </a:prstGeom>
          <a:noFill/>
          <a:ln/>
        </p:spPr>
        <p:txBody>
          <a:bodyPr wrap="square" lIns="0" tIns="0" rIns="0" bIns="0" rtlCol="0" anchor="t"/>
          <a:lstStyle/>
          <a:p>
            <a:pPr algn="l" indent="0" marL="0">
              <a:buNone/>
            </a:pPr>
            <a:r>
              <a:rPr lang="en-US" sz="1400" dirty="0">
                <a:solidFill>
                  <a:schemeClr val="tx1"/>
                </a:solidFill>
              </a:rPr>
              <a:t>field positions: the center and four corners at 0.6 of the half field</a:t>
            </a:r>
            <a:endParaRPr lang="en-US" sz="1400" dirty="0"/>
          </a:p>
        </p:txBody>
      </p:sp>
      <p:sp>
        <p:nvSpPr>
          <p:cNvPr id="12" name="Stat 3 card"/>
          <p:cNvSpPr/>
          <p:nvPr/>
        </p:nvSpPr>
        <p:spPr>
          <a:xfrm>
            <a:off x="8595360" y="4739640"/>
            <a:ext cx="3139135" cy="1386840"/>
          </a:xfrm>
          <a:prstGeom prst="roundRect">
            <a:avLst>
              <a:gd name="adj" fmla="val 7912"/>
            </a:avLst>
          </a:prstGeom>
          <a:solidFill>
            <a:schemeClr val="bg2"/>
          </a:solidFill>
          <a:ln/>
        </p:spPr>
      </p:sp>
      <p:sp>
        <p:nvSpPr>
          <p:cNvPr id="13" name="Stat 3 value"/>
          <p:cNvSpPr txBox="1"/>
          <p:nvPr/>
        </p:nvSpPr>
        <p:spPr>
          <a:xfrm>
            <a:off x="8778240" y="4811268"/>
            <a:ext cx="2773375" cy="548640"/>
          </a:xfrm>
          <a:prstGeom prst="rect">
            <a:avLst/>
          </a:prstGeom>
          <a:noFill/>
          <a:ln/>
        </p:spPr>
        <p:txBody>
          <a:bodyPr wrap="square" lIns="0" tIns="0" rIns="0" bIns="0" rtlCol="0" anchor="ctr"/>
          <a:lstStyle/>
          <a:p>
            <a:pPr algn="l" indent="0" marL="0">
              <a:buNone/>
            </a:pPr>
            <a:r>
              <a:rPr lang="en-US" sz="3600" b="1" dirty="0">
                <a:solidFill>
                  <a:schemeClr val="accent1"/>
                </a:solidFill>
                <a:latin typeface="+mj-lt" pitchFamily="34" charset="0"/>
                <a:ea typeface="+mj-lt" pitchFamily="34" charset="-122"/>
                <a:cs typeface="+mj-lt" pitchFamily="34" charset="-120"/>
              </a:rPr>
              <a:t>1 seed</a:t>
            </a:r>
            <a:endParaRPr lang="en-US" sz="3600" dirty="0"/>
          </a:p>
        </p:txBody>
      </p:sp>
      <p:sp>
        <p:nvSpPr>
          <p:cNvPr id="14" name="Stat 3 label"/>
          <p:cNvSpPr txBox="1"/>
          <p:nvPr/>
        </p:nvSpPr>
        <p:spPr>
          <a:xfrm>
            <a:off x="8778240" y="5359908"/>
            <a:ext cx="2773375" cy="694944"/>
          </a:xfrm>
          <a:prstGeom prst="rect">
            <a:avLst/>
          </a:prstGeom>
          <a:noFill/>
          <a:ln/>
        </p:spPr>
        <p:txBody>
          <a:bodyPr wrap="square" lIns="0" tIns="0" rIns="0" bIns="0" rtlCol="0" anchor="t"/>
          <a:lstStyle/>
          <a:p>
            <a:pPr algn="l" indent="0" marL="0">
              <a:buNone/>
            </a:pPr>
            <a:r>
              <a:rPr lang="en-US" sz="1400" dirty="0">
                <a:solidFill>
                  <a:schemeClr val="tx1"/>
                </a:solidFill>
              </a:rPr>
              <a:t>logged in session_log.md; the same seed and inputs give the same plan again</a:t>
            </a:r>
            <a:endParaRPr lang="en-US" sz="14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nchor="b"/>
          <a:lstStyle>
            <a:lvl1pPr>
              <a:defRPr sz="12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11277295" cy="685800"/>
          </a:xfrm>
          <a:prstGeom prst="rect">
            <a:avLst/>
          </a:prstGeom>
          <a:noFill/>
          <a:ln/>
        </p:spPr>
        <p:txBody>
          <a:bodyPr wrap="square" lIns="0" tIns="0" rIns="0" bIns="0" rtlCol="0" anchor="t"/>
          <a:lstStyle/>
          <a:p>
            <a:pPr algn="l" indent="0" marL="0">
              <a:buNone/>
            </a:pPr>
            <a:r>
              <a:rPr lang="en-US" sz="3400" b="1" dirty="0">
                <a:solidFill>
                  <a:schemeClr val="tx2"/>
                </a:solidFill>
                <a:latin typeface="+mj-lt" pitchFamily="34" charset="0"/>
                <a:ea typeface="+mj-lt" pitchFamily="34" charset="-122"/>
                <a:cs typeface="+mj-lt" pitchFamily="34" charset="-120"/>
              </a:rPr>
              <a:t>Which series visits which stations</a:t>
            </a:r>
            <a:endParaRPr lang="en-US" sz="3400" dirty="0"/>
          </a:p>
        </p:txBody>
      </p:sp>
      <p:pic>
        <p:nvPicPr>
          <p:cNvPr id="3" name="The nine stations along Z and the series that visit each of them" descr="The nine stations along Z and the series that visit each of them">    </p:cNvPr>
          <p:cNvPicPr>
            <a:picLocks noChangeAspect="1"/>
          </p:cNvPicPr>
          <p:nvPr/>
        </p:nvPicPr>
        <p:blipFill>
          <a:blip r:embed="rId1"/>
          <a:stretch>
            <a:fillRect/>
          </a:stretch>
        </p:blipFill>
        <p:spPr>
          <a:xfrm>
            <a:off x="457200" y="1417320"/>
            <a:ext cx="7032894" cy="4709160"/>
          </a:xfrm>
          <a:prstGeom prst="rect">
            <a:avLst/>
          </a:prstGeom>
        </p:spPr>
      </p:pic>
      <p:sp>
        <p:nvSpPr>
          <p:cNvPr id="4" name="The nine stations along Z and the series that visit each of them frame"/>
          <p:cNvSpPr/>
          <p:nvPr/>
        </p:nvSpPr>
        <p:spPr>
          <a:xfrm>
            <a:off x="457200" y="1417320"/>
            <a:ext cx="7032894" cy="4709160"/>
          </a:xfrm>
          <a:prstGeom prst="rect">
            <a:avLst/>
          </a:prstGeom>
          <a:ln w="12700">
            <a:solidFill>
              <a:schemeClr val="accent6"/>
            </a:solidFill>
            <a:prstDash val="solid"/>
          </a:ln>
        </p:spPr>
      </p:sp>
      <p:sp>
        <p:nvSpPr>
          <p:cNvPr id="5" name="Board point icon 1 circle"/>
          <p:cNvSpPr/>
          <p:nvPr/>
        </p:nvSpPr>
        <p:spPr>
          <a:xfrm>
            <a:off x="7764414" y="1588008"/>
            <a:ext cx="411480" cy="411480"/>
          </a:xfrm>
          <a:prstGeom prst="ellipse">
            <a:avLst/>
          </a:prstGeom>
          <a:solidFill>
            <a:schemeClr val="accent2"/>
          </a:solidFill>
          <a:ln/>
        </p:spPr>
      </p:sp>
      <p:pic>
        <p:nvPicPr>
          <p:cNvPr id="6" name="Board point icon 1 glyph" descr="check icon">    </p:cNvPr>
          <p:cNvPicPr>
            <a:picLocks noChangeAspect="1"/>
          </p:cNvPicPr>
          <p:nvPr/>
        </p:nvPicPr>
        <p:blipFill>
          <a:blip r:embed="rId2"/>
          <a:stretch>
            <a:fillRect/>
          </a:stretch>
        </p:blipFill>
        <p:spPr>
          <a:xfrm>
            <a:off x="7867284" y="1690878"/>
            <a:ext cx="205740" cy="205740"/>
          </a:xfrm>
          <a:prstGeom prst="rect">
            <a:avLst/>
          </a:prstGeom>
        </p:spPr>
      </p:pic>
      <p:sp>
        <p:nvSpPr>
          <p:cNvPr id="7" name="Board point text 1"/>
          <p:cNvSpPr txBox="1"/>
          <p:nvPr/>
        </p:nvSpPr>
        <p:spPr>
          <a:xfrm>
            <a:off x="8358774" y="1417320"/>
            <a:ext cx="3375721" cy="752856"/>
          </a:xfrm>
          <a:prstGeom prst="rect">
            <a:avLst/>
          </a:prstGeom>
          <a:noFill/>
          <a:ln/>
        </p:spPr>
        <p:txBody>
          <a:bodyPr wrap="square" lIns="0" tIns="0" rIns="0" bIns="0" rtlCol="0" anchor="ctr"/>
          <a:lstStyle/>
          <a:p>
            <a:pPr algn="l" indent="0" marL="0">
              <a:buNone/>
            </a:pPr>
            <a:r>
              <a:rPr lang="en-US" sz="1400" dirty="0">
                <a:solidFill>
                  <a:schemeClr val="tx1"/>
                </a:solidFill>
              </a:rPr>
              <a:t>All 9 stations: series A, C and D, and the ramp of Z; A adds the legacy depths 700 and 1000 mm at the center</a:t>
            </a:r>
            <a:endParaRPr lang="en-US" sz="1400" dirty="0"/>
          </a:p>
        </p:txBody>
      </p:sp>
      <p:sp>
        <p:nvSpPr>
          <p:cNvPr id="8" name="Board point icon 2 circle"/>
          <p:cNvSpPr/>
          <p:nvPr/>
        </p:nvSpPr>
        <p:spPr>
          <a:xfrm>
            <a:off x="7764414" y="2523744"/>
            <a:ext cx="411480" cy="411480"/>
          </a:xfrm>
          <a:prstGeom prst="ellipse">
            <a:avLst/>
          </a:prstGeom>
          <a:solidFill>
            <a:schemeClr val="accent2"/>
          </a:solidFill>
          <a:ln/>
        </p:spPr>
      </p:sp>
      <p:pic>
        <p:nvPicPr>
          <p:cNvPr id="9" name="Board point icon 2 glyph" descr="check icon">    </p:cNvPr>
          <p:cNvPicPr>
            <a:picLocks noChangeAspect="1"/>
          </p:cNvPicPr>
          <p:nvPr/>
        </p:nvPicPr>
        <p:blipFill>
          <a:blip r:embed="rId3"/>
          <a:stretch>
            <a:fillRect/>
          </a:stretch>
        </p:blipFill>
        <p:spPr>
          <a:xfrm>
            <a:off x="7867284" y="2626614"/>
            <a:ext cx="205740" cy="205740"/>
          </a:xfrm>
          <a:prstGeom prst="rect">
            <a:avLst/>
          </a:prstGeom>
        </p:spPr>
      </p:pic>
      <p:sp>
        <p:nvSpPr>
          <p:cNvPr id="10" name="Board point text 2"/>
          <p:cNvSpPr txBox="1"/>
          <p:nvPr/>
        </p:nvSpPr>
        <p:spPr>
          <a:xfrm>
            <a:off x="8358774" y="2353056"/>
            <a:ext cx="3375721" cy="752856"/>
          </a:xfrm>
          <a:prstGeom prst="rect">
            <a:avLst/>
          </a:prstGeom>
          <a:noFill/>
          <a:ln/>
        </p:spPr>
        <p:txBody>
          <a:bodyPr wrap="square" lIns="0" tIns="0" rIns="0" bIns="0" rtlCol="0" anchor="ctr"/>
          <a:lstStyle/>
          <a:p>
            <a:pPr algn="l" indent="0" marL="0">
              <a:buNone/>
            </a:pPr>
            <a:r>
              <a:rPr lang="en-US" sz="1400" dirty="0">
                <a:solidFill>
                  <a:schemeClr val="tx1"/>
                </a:solidFill>
              </a:rPr>
              <a:t>Every second station, the 5 shape stations 400, 566, 800, 1131 and 1600 mm: series B</a:t>
            </a:r>
            <a:endParaRPr lang="en-US" sz="1400" dirty="0"/>
          </a:p>
        </p:txBody>
      </p:sp>
      <p:sp>
        <p:nvSpPr>
          <p:cNvPr id="11" name="Board point icon 3 circle"/>
          <p:cNvSpPr/>
          <p:nvPr/>
        </p:nvSpPr>
        <p:spPr>
          <a:xfrm>
            <a:off x="7764414" y="3566160"/>
            <a:ext cx="411480" cy="411480"/>
          </a:xfrm>
          <a:prstGeom prst="ellipse">
            <a:avLst/>
          </a:prstGeom>
          <a:solidFill>
            <a:schemeClr val="accent2"/>
          </a:solidFill>
          <a:ln/>
        </p:spPr>
      </p:sp>
      <p:pic>
        <p:nvPicPr>
          <p:cNvPr id="12" name="Board point icon 3 glyph" descr="check icon">    </p:cNvPr>
          <p:cNvPicPr>
            <a:picLocks noChangeAspect="1"/>
          </p:cNvPicPr>
          <p:nvPr/>
        </p:nvPicPr>
        <p:blipFill>
          <a:blip r:embed="rId4"/>
          <a:stretch>
            <a:fillRect/>
          </a:stretch>
        </p:blipFill>
        <p:spPr>
          <a:xfrm>
            <a:off x="7867284" y="3669030"/>
            <a:ext cx="205740" cy="205740"/>
          </a:xfrm>
          <a:prstGeom prst="rect">
            <a:avLst/>
          </a:prstGeom>
        </p:spPr>
      </p:pic>
      <p:sp>
        <p:nvSpPr>
          <p:cNvPr id="13" name="Board point text 3"/>
          <p:cNvSpPr txBox="1"/>
          <p:nvPr/>
        </p:nvSpPr>
        <p:spPr>
          <a:xfrm>
            <a:off x="8358774" y="3288792"/>
            <a:ext cx="3375721" cy="966216"/>
          </a:xfrm>
          <a:prstGeom prst="rect">
            <a:avLst/>
          </a:prstGeom>
          <a:noFill/>
          <a:ln/>
        </p:spPr>
        <p:txBody>
          <a:bodyPr wrap="square" lIns="0" tIns="0" rIns="0" bIns="0" rtlCol="0" anchor="ctr"/>
          <a:lstStyle/>
          <a:p>
            <a:pPr algn="l" indent="0" marL="0">
              <a:buNone/>
            </a:pPr>
            <a:r>
              <a:rPr lang="en-US" sz="1400" dirty="0">
                <a:solidFill>
                  <a:schemeClr val="tx1"/>
                </a:solidFill>
              </a:rPr>
              <a:t>Every fourth station, the 3 reduced stations 400, 800 and 1600 mm: the step ladder of Z; the tilt sub-series of A at 476, 800 and 1600 mm</a:t>
            </a:r>
            <a:endParaRPr lang="en-US" sz="1400" dirty="0"/>
          </a:p>
        </p:txBody>
      </p:sp>
      <p:sp>
        <p:nvSpPr>
          <p:cNvPr id="14" name="Board point icon 4 circle"/>
          <p:cNvSpPr/>
          <p:nvPr/>
        </p:nvSpPr>
        <p:spPr>
          <a:xfrm>
            <a:off x="7764414" y="4501896"/>
            <a:ext cx="411480" cy="411480"/>
          </a:xfrm>
          <a:prstGeom prst="ellipse">
            <a:avLst/>
          </a:prstGeom>
          <a:solidFill>
            <a:schemeClr val="accent2"/>
          </a:solidFill>
          <a:ln/>
        </p:spPr>
      </p:sp>
      <p:pic>
        <p:nvPicPr>
          <p:cNvPr id="15" name="Board point icon 4 glyph" descr="check icon">    </p:cNvPr>
          <p:cNvPicPr>
            <a:picLocks noChangeAspect="1"/>
          </p:cNvPicPr>
          <p:nvPr/>
        </p:nvPicPr>
        <p:blipFill>
          <a:blip r:embed="rId5"/>
          <a:stretch>
            <a:fillRect/>
          </a:stretch>
        </p:blipFill>
        <p:spPr>
          <a:xfrm>
            <a:off x="7867284" y="4604766"/>
            <a:ext cx="205740" cy="205740"/>
          </a:xfrm>
          <a:prstGeom prst="rect">
            <a:avLst/>
          </a:prstGeom>
        </p:spPr>
      </p:pic>
      <p:sp>
        <p:nvSpPr>
          <p:cNvPr id="16" name="Board point text 4"/>
          <p:cNvSpPr txBox="1"/>
          <p:nvPr/>
        </p:nvSpPr>
        <p:spPr>
          <a:xfrm>
            <a:off x="8358774" y="4437888"/>
            <a:ext cx="3375721" cy="539496"/>
          </a:xfrm>
          <a:prstGeom prst="rect">
            <a:avLst/>
          </a:prstGeom>
          <a:noFill/>
          <a:ln/>
        </p:spPr>
        <p:txBody>
          <a:bodyPr wrap="square" lIns="0" tIns="0" rIns="0" bIns="0" rtlCol="0" anchor="ctr"/>
          <a:lstStyle/>
          <a:p>
            <a:pPr algn="l" indent="0" marL="0">
              <a:buNone/>
            </a:pPr>
            <a:r>
              <a:rPr lang="en-US" sz="1400" dirty="0">
                <a:solidFill>
                  <a:schemeClr val="tx1"/>
                </a:solidFill>
              </a:rPr>
              <a:t>The 3 farthest stations: the extended detection trials of D</a:t>
            </a:r>
            <a:endParaRPr lang="en-US" sz="1400" dirty="0"/>
          </a:p>
        </p:txBody>
      </p:sp>
      <p:sp>
        <p:nvSpPr>
          <p:cNvPr id="17" name="Board point icon 5 circle"/>
          <p:cNvSpPr/>
          <p:nvPr/>
        </p:nvSpPr>
        <p:spPr>
          <a:xfrm>
            <a:off x="7764414" y="5437632"/>
            <a:ext cx="411480" cy="411480"/>
          </a:xfrm>
          <a:prstGeom prst="ellipse">
            <a:avLst/>
          </a:prstGeom>
          <a:solidFill>
            <a:schemeClr val="accent2"/>
          </a:solidFill>
          <a:ln/>
        </p:spPr>
      </p:sp>
      <p:pic>
        <p:nvPicPr>
          <p:cNvPr id="18" name="Board point icon 5 glyph" descr="check icon">    </p:cNvPr>
          <p:cNvPicPr>
            <a:picLocks noChangeAspect="1"/>
          </p:cNvPicPr>
          <p:nvPr/>
        </p:nvPicPr>
        <p:blipFill>
          <a:blip r:embed="rId6"/>
          <a:stretch>
            <a:fillRect/>
          </a:stretch>
        </p:blipFill>
        <p:spPr>
          <a:xfrm>
            <a:off x="7867284" y="5540502"/>
            <a:ext cx="205740" cy="205740"/>
          </a:xfrm>
          <a:prstGeom prst="rect">
            <a:avLst/>
          </a:prstGeom>
        </p:spPr>
      </p:pic>
      <p:sp>
        <p:nvSpPr>
          <p:cNvPr id="19" name="Board point text 5"/>
          <p:cNvSpPr txBox="1"/>
          <p:nvPr/>
        </p:nvSpPr>
        <p:spPr>
          <a:xfrm>
            <a:off x="8358774" y="5160264"/>
            <a:ext cx="3375721" cy="966216"/>
          </a:xfrm>
          <a:prstGeom prst="rect">
            <a:avLst/>
          </a:prstGeom>
          <a:noFill/>
          <a:ln/>
        </p:spPr>
        <p:txBody>
          <a:bodyPr wrap="square" lIns="0" tIns="0" rIns="0" bIns="0" rtlCol="0" anchor="ctr"/>
          <a:lstStyle/>
          <a:p>
            <a:pPr algn="l" indent="0" marL="0">
              <a:buNone/>
            </a:pPr>
            <a:r>
              <a:rPr lang="en-US" sz="1400" dirty="0">
                <a:solidFill>
                  <a:schemeClr val="tx1"/>
                </a:solidFill>
              </a:rPr>
              <a:t>The reference station 800 mm: warm-up check, sentinels, mount check, field sub-series of C, open-background variant, lateral sweep</a:t>
            </a:r>
            <a:endParaRPr lang="en-US" sz="14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nchor="b"/>
          <a:lstStyle>
            <a:lvl1pPr>
              <a:defRPr sz="12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11277295" cy="685800"/>
          </a:xfrm>
          <a:prstGeom prst="rect">
            <a:avLst/>
          </a:prstGeom>
          <a:noFill/>
          <a:ln/>
        </p:spPr>
        <p:txBody>
          <a:bodyPr wrap="square" lIns="0" tIns="0" rIns="0" bIns="0" rtlCol="0" anchor="t"/>
          <a:lstStyle/>
          <a:p>
            <a:pPr algn="l" indent="0" marL="0">
              <a:buNone/>
            </a:pPr>
            <a:r>
              <a:rPr lang="en-US" sz="3400" b="1" dirty="0">
                <a:solidFill>
                  <a:schemeClr val="tx2"/>
                </a:solidFill>
                <a:latin typeface="+mj-lt" pitchFamily="34" charset="0"/>
                <a:ea typeface="+mj-lt" pitchFamily="34" charset="-122"/>
                <a:cs typeface="+mj-lt" pitchFamily="34" charset="-120"/>
              </a:rPr>
              <a:t>What the robot program must do</a:t>
            </a:r>
            <a:endParaRPr lang="en-US" sz="3400" dirty="0"/>
          </a:p>
        </p:txBody>
      </p:sp>
      <p:sp>
        <p:nvSpPr>
          <p:cNvPr id="3" name="Column 1 card"/>
          <p:cNvSpPr/>
          <p:nvPr/>
        </p:nvSpPr>
        <p:spPr>
          <a:xfrm>
            <a:off x="457200" y="1417320"/>
            <a:ext cx="3576218" cy="3794760"/>
          </a:xfrm>
          <a:prstGeom prst="roundRect">
            <a:avLst>
              <a:gd name="adj" fmla="val 3068"/>
            </a:avLst>
          </a:prstGeom>
          <a:solidFill>
            <a:schemeClr val="bg2"/>
          </a:solidFill>
          <a:ln/>
        </p:spPr>
      </p:sp>
      <p:sp>
        <p:nvSpPr>
          <p:cNvPr id="4" name="Column 1 icon circle"/>
          <p:cNvSpPr/>
          <p:nvPr/>
        </p:nvSpPr>
        <p:spPr>
          <a:xfrm>
            <a:off x="685800" y="1668780"/>
            <a:ext cx="502920" cy="502920"/>
          </a:xfrm>
          <a:prstGeom prst="ellipse">
            <a:avLst/>
          </a:prstGeom>
          <a:solidFill>
            <a:schemeClr val="accent2"/>
          </a:solidFill>
          <a:ln/>
        </p:spPr>
      </p:sp>
      <p:pic>
        <p:nvPicPr>
          <p:cNvPr id="5" name="Column 1 icon glyph" descr="input icon">    </p:cNvPr>
          <p:cNvPicPr>
            <a:picLocks noChangeAspect="1"/>
          </p:cNvPicPr>
          <p:nvPr/>
        </p:nvPicPr>
        <p:blipFill>
          <a:blip r:embed="rId1"/>
          <a:stretch>
            <a:fillRect/>
          </a:stretch>
        </p:blipFill>
        <p:spPr>
          <a:xfrm>
            <a:off x="811530" y="1794510"/>
            <a:ext cx="251460" cy="251460"/>
          </a:xfrm>
          <a:prstGeom prst="rect">
            <a:avLst/>
          </a:prstGeom>
        </p:spPr>
      </p:pic>
      <p:sp>
        <p:nvSpPr>
          <p:cNvPr id="6" name="Column 1 head"/>
          <p:cNvSpPr txBox="1"/>
          <p:nvPr/>
        </p:nvSpPr>
        <p:spPr>
          <a:xfrm>
            <a:off x="1371600" y="1645920"/>
            <a:ext cx="2433218" cy="548640"/>
          </a:xfrm>
          <a:prstGeom prst="rect">
            <a:avLst/>
          </a:prstGeom>
          <a:noFill/>
          <a:ln/>
        </p:spPr>
        <p:txBody>
          <a:bodyPr wrap="square" lIns="0" tIns="0" rIns="0" bIns="0" rtlCol="0" anchor="ctr"/>
          <a:lstStyle/>
          <a:p>
            <a:pPr algn="l" indent="0" marL="0">
              <a:buNone/>
            </a:pPr>
            <a:r>
              <a:rPr lang="en-US" sz="1800" b="1" dirty="0">
                <a:solidFill>
                  <a:schemeClr val="tx2"/>
                </a:solidFill>
                <a:latin typeface="+mj-lt" pitchFamily="34" charset="0"/>
                <a:ea typeface="+mj-lt" pitchFamily="34" charset="-122"/>
                <a:cs typeface="+mj-lt" pitchFamily="34" charset="-120"/>
              </a:rPr>
              <a:t>Inputs</a:t>
            </a:r>
            <a:endParaRPr lang="en-US" sz="1800" dirty="0"/>
          </a:p>
        </p:txBody>
      </p:sp>
      <p:sp>
        <p:nvSpPr>
          <p:cNvPr id="7" name="Column 1 points"/>
          <p:cNvSpPr txBox="1"/>
          <p:nvPr/>
        </p:nvSpPr>
        <p:spPr>
          <a:xfrm>
            <a:off x="685800" y="2286000"/>
            <a:ext cx="3119018" cy="2834640"/>
          </a:xfrm>
          <a:prstGeom prst="rect">
            <a:avLst/>
          </a:prstGeom>
          <a:noFill/>
          <a:ln/>
        </p:spPr>
        <p:txBody>
          <a:bodyPr wrap="square" lIns="0" tIns="0" rIns="0" bIns="0" rtlCol="0" anchor="t"/>
          <a:lstStyle/>
          <a:p>
            <a:pPr algn="l" marL="177800" indent="-177800">
              <a:spcAft>
                <a:spcPts val="400"/>
              </a:spcAft>
              <a:buSzPct val="100000"/>
              <a:buChar char="•"/>
            </a:pPr>
            <a:r>
              <a:rPr lang="en-US" sz="1400" dirty="0">
                <a:solidFill>
                  <a:schemeClr val="tx1"/>
                </a:solidFill>
              </a:rPr>
              <a:t>poses.csv from the planner: one row per pose in execution order, with the wanted target pose in the camera frame and the flange pose from the registration</a:t>
            </a:r>
            <a:endParaRPr lang="en-US" sz="1400" dirty="0"/>
          </a:p>
          <a:p>
            <a:pPr algn="l" marL="177800" indent="-177800">
              <a:spcAft>
                <a:spcPts val="400"/>
              </a:spcAft>
              <a:buSzPct val="100000"/>
              <a:buChar char="•"/>
            </a:pPr>
            <a:r>
              <a:rPr lang="en-US" sz="1400" dirty="0">
                <a:solidFill>
                  <a:schemeClr val="tx1"/>
                </a:solidFill>
              </a:rPr>
              <a:t>The settle time of step 4.4, 2 s unless the check raised it</a:t>
            </a:r>
            <a:endParaRPr lang="en-US" sz="1400" dirty="0"/>
          </a:p>
        </p:txBody>
      </p:sp>
      <p:sp>
        <p:nvSpPr>
          <p:cNvPr id="8" name="Column 2 card"/>
          <p:cNvSpPr/>
          <p:nvPr/>
        </p:nvSpPr>
        <p:spPr>
          <a:xfrm>
            <a:off x="4307738" y="1417320"/>
            <a:ext cx="3576218" cy="3794760"/>
          </a:xfrm>
          <a:prstGeom prst="roundRect">
            <a:avLst>
              <a:gd name="adj" fmla="val 3068"/>
            </a:avLst>
          </a:prstGeom>
          <a:solidFill>
            <a:schemeClr val="bg2"/>
          </a:solidFill>
          <a:ln/>
        </p:spPr>
      </p:sp>
      <p:sp>
        <p:nvSpPr>
          <p:cNvPr id="9" name="Column 2 icon circle"/>
          <p:cNvSpPr/>
          <p:nvPr/>
        </p:nvSpPr>
        <p:spPr>
          <a:xfrm>
            <a:off x="4536338" y="1668780"/>
            <a:ext cx="502920" cy="502920"/>
          </a:xfrm>
          <a:prstGeom prst="ellipse">
            <a:avLst/>
          </a:prstGeom>
          <a:solidFill>
            <a:schemeClr val="accent2"/>
          </a:solidFill>
          <a:ln/>
        </p:spPr>
      </p:sp>
      <p:pic>
        <p:nvPicPr>
          <p:cNvPr id="10" name="Column 2 icon glyph" descr="cogs icon">    </p:cNvPr>
          <p:cNvPicPr>
            <a:picLocks noChangeAspect="1"/>
          </p:cNvPicPr>
          <p:nvPr/>
        </p:nvPicPr>
        <p:blipFill>
          <a:blip r:embed="rId2"/>
          <a:stretch>
            <a:fillRect/>
          </a:stretch>
        </p:blipFill>
        <p:spPr>
          <a:xfrm>
            <a:off x="4662068" y="1794510"/>
            <a:ext cx="251460" cy="251460"/>
          </a:xfrm>
          <a:prstGeom prst="rect">
            <a:avLst/>
          </a:prstGeom>
        </p:spPr>
      </p:pic>
      <p:sp>
        <p:nvSpPr>
          <p:cNvPr id="11" name="Column 2 head"/>
          <p:cNvSpPr txBox="1"/>
          <p:nvPr/>
        </p:nvSpPr>
        <p:spPr>
          <a:xfrm>
            <a:off x="5222138" y="1645920"/>
            <a:ext cx="2433218" cy="548640"/>
          </a:xfrm>
          <a:prstGeom prst="rect">
            <a:avLst/>
          </a:prstGeom>
          <a:noFill/>
          <a:ln/>
        </p:spPr>
        <p:txBody>
          <a:bodyPr wrap="square" lIns="0" tIns="0" rIns="0" bIns="0" rtlCol="0" anchor="ctr"/>
          <a:lstStyle/>
          <a:p>
            <a:pPr algn="l" indent="0" marL="0">
              <a:buNone/>
            </a:pPr>
            <a:r>
              <a:rPr lang="en-US" sz="1800" b="1" dirty="0">
                <a:solidFill>
                  <a:schemeClr val="tx2"/>
                </a:solidFill>
                <a:latin typeface="+mj-lt" pitchFamily="34" charset="0"/>
                <a:ea typeface="+mj-lt" pitchFamily="34" charset="-122"/>
                <a:cs typeface="+mj-lt" pitchFamily="34" charset="-120"/>
              </a:rPr>
              <a:t>Behavior</a:t>
            </a:r>
            <a:endParaRPr lang="en-US" sz="1800" dirty="0"/>
          </a:p>
        </p:txBody>
      </p:sp>
      <p:sp>
        <p:nvSpPr>
          <p:cNvPr id="12" name="Column 2 points"/>
          <p:cNvSpPr txBox="1"/>
          <p:nvPr/>
        </p:nvSpPr>
        <p:spPr>
          <a:xfrm>
            <a:off x="4536338" y="2286000"/>
            <a:ext cx="3119018" cy="2834640"/>
          </a:xfrm>
          <a:prstGeom prst="rect">
            <a:avLst/>
          </a:prstGeom>
          <a:noFill/>
          <a:ln/>
        </p:spPr>
        <p:txBody>
          <a:bodyPr wrap="square" lIns="0" tIns="0" rIns="0" bIns="0" rtlCol="0" anchor="t"/>
          <a:lstStyle/>
          <a:p>
            <a:pPr algn="l" marL="177800" indent="-177800">
              <a:spcAft>
                <a:spcPts val="400"/>
              </a:spcAft>
              <a:buSzPct val="100000"/>
              <a:buChar char="•"/>
            </a:pPr>
            <a:r>
              <a:rPr lang="en-US" sz="1400" dirty="0">
                <a:solidFill>
                  <a:schemeClr val="tx1"/>
                </a:solidFill>
              </a:rPr>
              <a:t>Joint move to a point short of the pose along the approach, then a linear move onto it: from below in Z and from the negative side of H and V, every pose, every series</a:t>
            </a:r>
            <a:endParaRPr lang="en-US" sz="1400" dirty="0"/>
          </a:p>
          <a:p>
            <a:pPr algn="l" marL="177800" indent="-177800">
              <a:spcAft>
                <a:spcPts val="400"/>
              </a:spcAft>
              <a:buSzPct val="100000"/>
              <a:buChar char="•"/>
            </a:pPr>
            <a:r>
              <a:rPr lang="en-US" sz="1400" dirty="0">
                <a:solidFill>
                  <a:schemeClr val="tx1"/>
                </a:solidFill>
              </a:rPr>
              <a:t>Series Z: back off 2 mm toward smaller Z, then move up onto the pose</a:t>
            </a:r>
            <a:endParaRPr lang="en-US" sz="1400" dirty="0"/>
          </a:p>
          <a:p>
            <a:pPr algn="l" marL="177800" indent="-177800">
              <a:spcAft>
                <a:spcPts val="400"/>
              </a:spcAft>
              <a:buSzPct val="100000"/>
              <a:buChar char="•"/>
            </a:pPr>
            <a:r>
              <a:rPr lang="en-US" sz="1400" dirty="0">
                <a:solidFill>
                  <a:schemeClr val="tx1"/>
                </a:solidFill>
              </a:rPr>
              <a:t>Never change the base frame, the speed settings or the sensor configuration</a:t>
            </a:r>
            <a:endParaRPr lang="en-US" sz="1400" dirty="0"/>
          </a:p>
        </p:txBody>
      </p:sp>
      <p:sp>
        <p:nvSpPr>
          <p:cNvPr id="13" name="Column 3 card"/>
          <p:cNvSpPr/>
          <p:nvPr/>
        </p:nvSpPr>
        <p:spPr>
          <a:xfrm>
            <a:off x="8158277" y="1417320"/>
            <a:ext cx="3576218" cy="3794760"/>
          </a:xfrm>
          <a:prstGeom prst="roundRect">
            <a:avLst>
              <a:gd name="adj" fmla="val 3068"/>
            </a:avLst>
          </a:prstGeom>
          <a:solidFill>
            <a:schemeClr val="bg2"/>
          </a:solidFill>
          <a:ln/>
        </p:spPr>
      </p:sp>
      <p:sp>
        <p:nvSpPr>
          <p:cNvPr id="14" name="Column 3 icon circle"/>
          <p:cNvSpPr/>
          <p:nvPr/>
        </p:nvSpPr>
        <p:spPr>
          <a:xfrm>
            <a:off x="8386877" y="1668780"/>
            <a:ext cx="502920" cy="502920"/>
          </a:xfrm>
          <a:prstGeom prst="ellipse">
            <a:avLst/>
          </a:prstGeom>
          <a:solidFill>
            <a:schemeClr val="accent2"/>
          </a:solidFill>
          <a:ln/>
        </p:spPr>
      </p:sp>
      <p:pic>
        <p:nvPicPr>
          <p:cNvPr id="15" name="Column 3 icon glyph" descr="output icon">    </p:cNvPr>
          <p:cNvPicPr>
            <a:picLocks noChangeAspect="1"/>
          </p:cNvPicPr>
          <p:nvPr/>
        </p:nvPicPr>
        <p:blipFill>
          <a:blip r:embed="rId3"/>
          <a:stretch>
            <a:fillRect/>
          </a:stretch>
        </p:blipFill>
        <p:spPr>
          <a:xfrm>
            <a:off x="8512607" y="1794510"/>
            <a:ext cx="251460" cy="251460"/>
          </a:xfrm>
          <a:prstGeom prst="rect">
            <a:avLst/>
          </a:prstGeom>
        </p:spPr>
      </p:pic>
      <p:sp>
        <p:nvSpPr>
          <p:cNvPr id="16" name="Column 3 head"/>
          <p:cNvSpPr txBox="1"/>
          <p:nvPr/>
        </p:nvSpPr>
        <p:spPr>
          <a:xfrm>
            <a:off x="9072677" y="1645920"/>
            <a:ext cx="2433218" cy="548640"/>
          </a:xfrm>
          <a:prstGeom prst="rect">
            <a:avLst/>
          </a:prstGeom>
          <a:noFill/>
          <a:ln/>
        </p:spPr>
        <p:txBody>
          <a:bodyPr wrap="square" lIns="0" tIns="0" rIns="0" bIns="0" rtlCol="0" anchor="ctr"/>
          <a:lstStyle/>
          <a:p>
            <a:pPr algn="l" indent="0" marL="0">
              <a:buNone/>
            </a:pPr>
            <a:r>
              <a:rPr lang="en-US" sz="1800" b="1" dirty="0">
                <a:solidFill>
                  <a:schemeClr val="tx2"/>
                </a:solidFill>
                <a:latin typeface="+mj-lt" pitchFamily="34" charset="0"/>
                <a:ea typeface="+mj-lt" pitchFamily="34" charset="-122"/>
                <a:cs typeface="+mj-lt" pitchFamily="34" charset="-120"/>
              </a:rPr>
              <a:t>Outputs</a:t>
            </a:r>
            <a:endParaRPr lang="en-US" sz="1800" dirty="0"/>
          </a:p>
        </p:txBody>
      </p:sp>
      <p:sp>
        <p:nvSpPr>
          <p:cNvPr id="17" name="Column 3 points"/>
          <p:cNvSpPr txBox="1"/>
          <p:nvPr/>
        </p:nvSpPr>
        <p:spPr>
          <a:xfrm>
            <a:off x="8386877" y="2286000"/>
            <a:ext cx="3119018" cy="2834640"/>
          </a:xfrm>
          <a:prstGeom prst="rect">
            <a:avLst/>
          </a:prstGeom>
          <a:noFill/>
          <a:ln/>
        </p:spPr>
        <p:txBody>
          <a:bodyPr wrap="square" lIns="0" tIns="0" rIns="0" bIns="0" rtlCol="0" anchor="t"/>
          <a:lstStyle/>
          <a:p>
            <a:pPr algn="l" marL="177800" indent="-177800">
              <a:spcAft>
                <a:spcPts val="400"/>
              </a:spcAft>
              <a:buSzPct val="100000"/>
              <a:buChar char="•"/>
            </a:pPr>
            <a:r>
              <a:rPr lang="en-US" sz="1400" dirty="0">
                <a:solidFill>
                  <a:schemeClr val="tx1"/>
                </a:solidFill>
              </a:rPr>
              <a:t>Trigger the row's frames through the capture software, named from the row by the rule of section 5 (procedure, target, gap, station, field, pose, frame; the example is on the next slide)</a:t>
            </a:r>
            <a:endParaRPr lang="en-US" sz="1400" dirty="0"/>
          </a:p>
          <a:p>
            <a:pPr algn="l" marL="177800" indent="-177800">
              <a:spcAft>
                <a:spcPts val="400"/>
              </a:spcAft>
              <a:buSzPct val="100000"/>
              <a:buChar char="•"/>
            </a:pPr>
            <a:r>
              <a:rPr lang="en-US" sz="1400" dirty="0">
                <a:solidFill>
                  <a:schemeClr val="tx1"/>
                </a:solidFill>
              </a:rPr>
              <a:t>Append the REPORTED flange pose, the temperatures and a time stamp to the pose log; note where it is written</a:t>
            </a:r>
            <a:endParaRPr lang="en-US" sz="1400" dirty="0"/>
          </a:p>
        </p:txBody>
      </p:sp>
      <p:sp>
        <p:nvSpPr>
          <p:cNvPr id="18" name="Message box"/>
          <p:cNvSpPr/>
          <p:nvPr/>
        </p:nvSpPr>
        <p:spPr>
          <a:xfrm>
            <a:off x="457200" y="5394960"/>
            <a:ext cx="11277295" cy="731520"/>
          </a:xfrm>
          <a:prstGeom prst="roundRect">
            <a:avLst>
              <a:gd name="adj" fmla="val 15000"/>
            </a:avLst>
          </a:prstGeom>
          <a:solidFill>
            <a:schemeClr val="bg2"/>
          </a:solidFill>
          <a:ln w="25400">
            <a:solidFill>
              <a:schemeClr val="accent1"/>
            </a:solidFill>
            <a:prstDash val="solid"/>
          </a:ln>
        </p:spPr>
      </p:sp>
      <p:sp>
        <p:nvSpPr>
          <p:cNvPr id="19" name="Message icon circle"/>
          <p:cNvSpPr/>
          <p:nvPr/>
        </p:nvSpPr>
        <p:spPr>
          <a:xfrm>
            <a:off x="685800" y="5440680"/>
            <a:ext cx="640080" cy="640080"/>
          </a:xfrm>
          <a:prstGeom prst="ellipse">
            <a:avLst/>
          </a:prstGeom>
          <a:solidFill>
            <a:schemeClr val="accent1"/>
          </a:solidFill>
          <a:ln/>
        </p:spPr>
      </p:sp>
      <p:pic>
        <p:nvPicPr>
          <p:cNvPr id="20" name="Message icon glyph" descr="robot icon">    </p:cNvPr>
          <p:cNvPicPr>
            <a:picLocks noChangeAspect="1"/>
          </p:cNvPicPr>
          <p:nvPr/>
        </p:nvPicPr>
        <p:blipFill>
          <a:blip r:embed="rId4"/>
          <a:stretch>
            <a:fillRect/>
          </a:stretch>
        </p:blipFill>
        <p:spPr>
          <a:xfrm>
            <a:off x="845820" y="5600700"/>
            <a:ext cx="320040" cy="320040"/>
          </a:xfrm>
          <a:prstGeom prst="rect">
            <a:avLst/>
          </a:prstGeom>
        </p:spPr>
      </p:pic>
      <p:sp>
        <p:nvSpPr>
          <p:cNvPr id="21" name="Key message"/>
          <p:cNvSpPr txBox="1"/>
          <p:nvPr/>
        </p:nvSpPr>
        <p:spPr>
          <a:xfrm>
            <a:off x="1508760" y="5394960"/>
            <a:ext cx="9997135" cy="731520"/>
          </a:xfrm>
          <a:prstGeom prst="rect">
            <a:avLst/>
          </a:prstGeom>
          <a:noFill/>
          <a:ln/>
        </p:spPr>
        <p:txBody>
          <a:bodyPr wrap="square" lIns="0" tIns="0" rIns="0" bIns="0" rtlCol="0" anchor="ctr"/>
          <a:lstStyle/>
          <a:p>
            <a:pPr algn="l" indent="0" marL="0">
              <a:buNone/>
            </a:pPr>
            <a:r>
              <a:rPr lang="en-US" sz="1800" b="1" dirty="0">
                <a:solidFill>
                  <a:schemeClr val="tx2"/>
                </a:solidFill>
              </a:rPr>
              <a:t>Once the robot model and controller are settled, the robot program can be written with Claude Code.</a:t>
            </a:r>
            <a:endParaRPr lang="en-US" sz="18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nchor="b"/>
          <a:lstStyle>
            <a:lvl1pPr>
              <a:defRPr sz="12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11277295" cy="685800"/>
          </a:xfrm>
          <a:prstGeom prst="rect">
            <a:avLst/>
          </a:prstGeom>
          <a:noFill/>
          <a:ln/>
        </p:spPr>
        <p:txBody>
          <a:bodyPr wrap="square" lIns="0" tIns="0" rIns="0" bIns="0" rtlCol="0" anchor="t"/>
          <a:lstStyle/>
          <a:p>
            <a:pPr algn="l" indent="0" marL="0">
              <a:buNone/>
            </a:pPr>
            <a:r>
              <a:rPr lang="en-US" sz="3400" b="1" dirty="0">
                <a:solidFill>
                  <a:schemeClr val="tx2"/>
                </a:solidFill>
                <a:latin typeface="+mj-lt" pitchFamily="34" charset="0"/>
                <a:ea typeface="+mj-lt" pitchFamily="34" charset="-122"/>
                <a:cs typeface="+mj-lt" pitchFamily="34" charset="-120"/>
              </a:rPr>
              <a:t>The per-pose loop</a:t>
            </a:r>
            <a:endParaRPr lang="en-US" sz="3400" dirty="0"/>
          </a:p>
        </p:txBody>
      </p:sp>
      <p:sp>
        <p:nvSpPr>
          <p:cNvPr id="3" name="Step 1 card"/>
          <p:cNvSpPr/>
          <p:nvPr/>
        </p:nvSpPr>
        <p:spPr>
          <a:xfrm>
            <a:off x="457200" y="1417320"/>
            <a:ext cx="2407844" cy="2834640"/>
          </a:xfrm>
          <a:prstGeom prst="roundRect">
            <a:avLst>
              <a:gd name="adj" fmla="val 4557"/>
            </a:avLst>
          </a:prstGeom>
          <a:solidFill>
            <a:schemeClr val="bg2"/>
          </a:solidFill>
          <a:ln/>
        </p:spPr>
      </p:sp>
      <p:sp>
        <p:nvSpPr>
          <p:cNvPr id="4" name="Step 1 badge"/>
          <p:cNvSpPr txBox="1"/>
          <p:nvPr/>
        </p:nvSpPr>
        <p:spPr>
          <a:xfrm>
            <a:off x="685800" y="1645920"/>
            <a:ext cx="502920" cy="50292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5" name="Step 1 head"/>
          <p:cNvSpPr txBox="1"/>
          <p:nvPr/>
        </p:nvSpPr>
        <p:spPr>
          <a:xfrm>
            <a:off x="1371600" y="1645920"/>
            <a:ext cx="1264844" cy="502920"/>
          </a:xfrm>
          <a:prstGeom prst="rect">
            <a:avLst/>
          </a:prstGeom>
          <a:noFill/>
          <a:ln/>
        </p:spPr>
        <p:txBody>
          <a:bodyPr wrap="square" lIns="0" tIns="0" rIns="0" bIns="0" rtlCol="0" anchor="ctr"/>
          <a:lstStyle/>
          <a:p>
            <a:pPr algn="l" indent="0" marL="0">
              <a:buNone/>
            </a:pPr>
            <a:r>
              <a:rPr lang="en-US" sz="1600" b="1" dirty="0">
                <a:solidFill>
                  <a:schemeClr val="tx2"/>
                </a:solidFill>
              </a:rPr>
              <a:t>Move</a:t>
            </a:r>
            <a:endParaRPr lang="en-US" sz="1600" dirty="0"/>
          </a:p>
        </p:txBody>
      </p:sp>
      <p:sp>
        <p:nvSpPr>
          <p:cNvPr id="6" name="Step 1 text"/>
          <p:cNvSpPr txBox="1"/>
          <p:nvPr/>
        </p:nvSpPr>
        <p:spPr>
          <a:xfrm>
            <a:off x="685800" y="2240280"/>
            <a:ext cx="1950644" cy="1783080"/>
          </a:xfrm>
          <a:prstGeom prst="rect">
            <a:avLst/>
          </a:prstGeom>
          <a:noFill/>
          <a:ln/>
        </p:spPr>
        <p:txBody>
          <a:bodyPr wrap="square" lIns="0" tIns="0" rIns="0" bIns="0" rtlCol="0" anchor="t"/>
          <a:lstStyle/>
          <a:p>
            <a:pPr algn="l" indent="0" marL="0">
              <a:buNone/>
            </a:pPr>
            <a:r>
              <a:rPr lang="en-US" sz="1400" dirty="0">
                <a:solidFill>
                  <a:schemeClr val="tx1"/>
                </a:solidFill>
              </a:rPr>
              <a:t>Joint move to the approach point, linear move onto the pose, always from the same side</a:t>
            </a:r>
            <a:endParaRPr lang="en-US" sz="1400" dirty="0"/>
          </a:p>
        </p:txBody>
      </p:sp>
      <p:sp>
        <p:nvSpPr>
          <p:cNvPr id="7" name="Arrow 1 to 2"/>
          <p:cNvSpPr/>
          <p:nvPr/>
        </p:nvSpPr>
        <p:spPr>
          <a:xfrm>
            <a:off x="3025064" y="2651760"/>
            <a:ext cx="228600" cy="365760"/>
          </a:xfrm>
          <a:prstGeom prst="chevron">
            <a:avLst/>
          </a:prstGeom>
          <a:solidFill>
            <a:schemeClr val="accent2"/>
          </a:solidFill>
          <a:ln/>
        </p:spPr>
      </p:sp>
      <p:sp>
        <p:nvSpPr>
          <p:cNvPr id="8" name="Step 2 card"/>
          <p:cNvSpPr/>
          <p:nvPr/>
        </p:nvSpPr>
        <p:spPr>
          <a:xfrm>
            <a:off x="3413684" y="1417320"/>
            <a:ext cx="2407844" cy="2834640"/>
          </a:xfrm>
          <a:prstGeom prst="roundRect">
            <a:avLst>
              <a:gd name="adj" fmla="val 4557"/>
            </a:avLst>
          </a:prstGeom>
          <a:solidFill>
            <a:schemeClr val="bg2"/>
          </a:solidFill>
          <a:ln/>
        </p:spPr>
      </p:sp>
      <p:sp>
        <p:nvSpPr>
          <p:cNvPr id="9" name="Step 2 badge"/>
          <p:cNvSpPr txBox="1"/>
          <p:nvPr/>
        </p:nvSpPr>
        <p:spPr>
          <a:xfrm>
            <a:off x="3642284" y="1645920"/>
            <a:ext cx="502920" cy="50292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0" name="Step 2 head"/>
          <p:cNvSpPr txBox="1"/>
          <p:nvPr/>
        </p:nvSpPr>
        <p:spPr>
          <a:xfrm>
            <a:off x="4328084" y="1645920"/>
            <a:ext cx="1264844" cy="502920"/>
          </a:xfrm>
          <a:prstGeom prst="rect">
            <a:avLst/>
          </a:prstGeom>
          <a:noFill/>
          <a:ln/>
        </p:spPr>
        <p:txBody>
          <a:bodyPr wrap="square" lIns="0" tIns="0" rIns="0" bIns="0" rtlCol="0" anchor="ctr"/>
          <a:lstStyle/>
          <a:p>
            <a:pPr algn="l" indent="0" marL="0">
              <a:buNone/>
            </a:pPr>
            <a:r>
              <a:rPr lang="en-US" sz="1600" b="1" dirty="0">
                <a:solidFill>
                  <a:schemeClr val="tx2"/>
                </a:solidFill>
              </a:rPr>
              <a:t>Settle</a:t>
            </a:r>
            <a:endParaRPr lang="en-US" sz="1600" dirty="0"/>
          </a:p>
        </p:txBody>
      </p:sp>
      <p:sp>
        <p:nvSpPr>
          <p:cNvPr id="11" name="Step 2 text"/>
          <p:cNvSpPr txBox="1"/>
          <p:nvPr/>
        </p:nvSpPr>
        <p:spPr>
          <a:xfrm>
            <a:off x="3642284" y="2240280"/>
            <a:ext cx="1950644" cy="1783080"/>
          </a:xfrm>
          <a:prstGeom prst="rect">
            <a:avLst/>
          </a:prstGeom>
          <a:noFill/>
          <a:ln/>
        </p:spPr>
        <p:txBody>
          <a:bodyPr wrap="square" lIns="0" tIns="0" rIns="0" bIns="0" rtlCol="0" anchor="t"/>
          <a:lstStyle/>
          <a:p>
            <a:pPr algn="l" indent="0" marL="0">
              <a:buNone/>
            </a:pPr>
            <a:r>
              <a:rPr lang="en-US" sz="1400" dirty="0">
                <a:solidFill>
                  <a:schemeClr val="tx1"/>
                </a:solidFill>
              </a:rPr>
              <a:t>Wait the settle time for vibration to die out</a:t>
            </a:r>
            <a:endParaRPr lang="en-US" sz="1400" dirty="0"/>
          </a:p>
        </p:txBody>
      </p:sp>
      <p:sp>
        <p:nvSpPr>
          <p:cNvPr id="12" name="Arrow 2 to 3"/>
          <p:cNvSpPr/>
          <p:nvPr/>
        </p:nvSpPr>
        <p:spPr>
          <a:xfrm>
            <a:off x="5981548" y="2651760"/>
            <a:ext cx="228600" cy="365760"/>
          </a:xfrm>
          <a:prstGeom prst="chevron">
            <a:avLst/>
          </a:prstGeom>
          <a:solidFill>
            <a:schemeClr val="accent2"/>
          </a:solidFill>
          <a:ln/>
        </p:spPr>
      </p:sp>
      <p:sp>
        <p:nvSpPr>
          <p:cNvPr id="13" name="Step 3 card"/>
          <p:cNvSpPr/>
          <p:nvPr/>
        </p:nvSpPr>
        <p:spPr>
          <a:xfrm>
            <a:off x="6370168" y="1417320"/>
            <a:ext cx="2407844" cy="2834640"/>
          </a:xfrm>
          <a:prstGeom prst="roundRect">
            <a:avLst>
              <a:gd name="adj" fmla="val 4557"/>
            </a:avLst>
          </a:prstGeom>
          <a:solidFill>
            <a:schemeClr val="bg2"/>
          </a:solidFill>
          <a:ln/>
        </p:spPr>
      </p:sp>
      <p:sp>
        <p:nvSpPr>
          <p:cNvPr id="14" name="Step 3 badge"/>
          <p:cNvSpPr txBox="1"/>
          <p:nvPr/>
        </p:nvSpPr>
        <p:spPr>
          <a:xfrm>
            <a:off x="6598768" y="1645920"/>
            <a:ext cx="502920" cy="50292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5" name="Step 3 head"/>
          <p:cNvSpPr txBox="1"/>
          <p:nvPr/>
        </p:nvSpPr>
        <p:spPr>
          <a:xfrm>
            <a:off x="7284568" y="1645920"/>
            <a:ext cx="1264844" cy="502920"/>
          </a:xfrm>
          <a:prstGeom prst="rect">
            <a:avLst/>
          </a:prstGeom>
          <a:noFill/>
          <a:ln/>
        </p:spPr>
        <p:txBody>
          <a:bodyPr wrap="square" lIns="0" tIns="0" rIns="0" bIns="0" rtlCol="0" anchor="ctr"/>
          <a:lstStyle/>
          <a:p>
            <a:pPr algn="l" indent="0" marL="0">
              <a:buNone/>
            </a:pPr>
            <a:r>
              <a:rPr lang="en-US" sz="1600" b="1" dirty="0">
                <a:solidFill>
                  <a:schemeClr val="tx2"/>
                </a:solidFill>
              </a:rPr>
              <a:t>Capture</a:t>
            </a:r>
            <a:endParaRPr lang="en-US" sz="1600" dirty="0"/>
          </a:p>
        </p:txBody>
      </p:sp>
      <p:sp>
        <p:nvSpPr>
          <p:cNvPr id="16" name="Step 3 text"/>
          <p:cNvSpPr txBox="1"/>
          <p:nvPr/>
        </p:nvSpPr>
        <p:spPr>
          <a:xfrm>
            <a:off x="6598768" y="2240280"/>
            <a:ext cx="1950644" cy="1783080"/>
          </a:xfrm>
          <a:prstGeom prst="rect">
            <a:avLst/>
          </a:prstGeom>
          <a:noFill/>
          <a:ln/>
        </p:spPr>
        <p:txBody>
          <a:bodyPr wrap="square" lIns="0" tIns="0" rIns="0" bIns="0" rtlCol="0" anchor="t"/>
          <a:lstStyle/>
          <a:p>
            <a:pPr algn="l" indent="0" marL="0">
              <a:buNone/>
            </a:pPr>
            <a:r>
              <a:rPr lang="en-US" sz="1400" dirty="0">
                <a:solidFill>
                  <a:schemeClr val="tx1"/>
                </a:solidFill>
              </a:rPr>
              <a:t>The row's frames, named from the row: for example C_T5_G15_Z0800_F0_P017_f03.mc</a:t>
            </a:r>
            <a:endParaRPr lang="en-US" sz="1400" dirty="0"/>
          </a:p>
        </p:txBody>
      </p:sp>
      <p:sp>
        <p:nvSpPr>
          <p:cNvPr id="17" name="Arrow 3 to 4"/>
          <p:cNvSpPr/>
          <p:nvPr/>
        </p:nvSpPr>
        <p:spPr>
          <a:xfrm>
            <a:off x="8938031" y="2651760"/>
            <a:ext cx="228600" cy="365760"/>
          </a:xfrm>
          <a:prstGeom prst="chevron">
            <a:avLst/>
          </a:prstGeom>
          <a:solidFill>
            <a:schemeClr val="accent2"/>
          </a:solidFill>
          <a:ln/>
        </p:spPr>
      </p:sp>
      <p:sp>
        <p:nvSpPr>
          <p:cNvPr id="18" name="Step 4 card"/>
          <p:cNvSpPr/>
          <p:nvPr/>
        </p:nvSpPr>
        <p:spPr>
          <a:xfrm>
            <a:off x="9326651" y="1417320"/>
            <a:ext cx="2407844" cy="2834640"/>
          </a:xfrm>
          <a:prstGeom prst="roundRect">
            <a:avLst>
              <a:gd name="adj" fmla="val 4557"/>
            </a:avLst>
          </a:prstGeom>
          <a:solidFill>
            <a:schemeClr val="bg2"/>
          </a:solidFill>
          <a:ln/>
        </p:spPr>
      </p:sp>
      <p:sp>
        <p:nvSpPr>
          <p:cNvPr id="19" name="Step 4 badge"/>
          <p:cNvSpPr txBox="1"/>
          <p:nvPr/>
        </p:nvSpPr>
        <p:spPr>
          <a:xfrm>
            <a:off x="9555251" y="1645920"/>
            <a:ext cx="502920" cy="50292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20" name="Step 4 head"/>
          <p:cNvSpPr txBox="1"/>
          <p:nvPr/>
        </p:nvSpPr>
        <p:spPr>
          <a:xfrm>
            <a:off x="10241051" y="1645920"/>
            <a:ext cx="1264844" cy="502920"/>
          </a:xfrm>
          <a:prstGeom prst="rect">
            <a:avLst/>
          </a:prstGeom>
          <a:noFill/>
          <a:ln/>
        </p:spPr>
        <p:txBody>
          <a:bodyPr wrap="square" lIns="0" tIns="0" rIns="0" bIns="0" rtlCol="0" anchor="ctr"/>
          <a:lstStyle/>
          <a:p>
            <a:pPr algn="l" indent="0" marL="0">
              <a:buNone/>
            </a:pPr>
            <a:r>
              <a:rPr lang="en-US" sz="1600" b="1" dirty="0">
                <a:solidFill>
                  <a:schemeClr val="tx2"/>
                </a:solidFill>
              </a:rPr>
              <a:t>Log</a:t>
            </a:r>
            <a:endParaRPr lang="en-US" sz="1600" dirty="0"/>
          </a:p>
        </p:txBody>
      </p:sp>
      <p:sp>
        <p:nvSpPr>
          <p:cNvPr id="21" name="Step 4 text"/>
          <p:cNvSpPr txBox="1"/>
          <p:nvPr/>
        </p:nvSpPr>
        <p:spPr>
          <a:xfrm>
            <a:off x="9555251" y="2240280"/>
            <a:ext cx="1950644" cy="1783080"/>
          </a:xfrm>
          <a:prstGeom prst="rect">
            <a:avLst/>
          </a:prstGeom>
          <a:noFill/>
          <a:ln/>
        </p:spPr>
        <p:txBody>
          <a:bodyPr wrap="square" lIns="0" tIns="0" rIns="0" bIns="0" rtlCol="0" anchor="t"/>
          <a:lstStyle/>
          <a:p>
            <a:pPr algn="l" indent="0" marL="0">
              <a:buNone/>
            </a:pPr>
            <a:r>
              <a:rPr lang="en-US" sz="1400" dirty="0">
                <a:solidFill>
                  <a:schemeClr val="tx1"/>
                </a:solidFill>
              </a:rPr>
              <a:t>Read the actual, encoder-derived flange pose and append it with the temperatures and a time stamp</a:t>
            </a:r>
            <a:endParaRPr lang="en-US" sz="1400" dirty="0"/>
          </a:p>
        </p:txBody>
      </p:sp>
      <p:sp>
        <p:nvSpPr>
          <p:cNvPr id="22" name="Stat 1 card"/>
          <p:cNvSpPr/>
          <p:nvPr/>
        </p:nvSpPr>
        <p:spPr>
          <a:xfrm>
            <a:off x="457200" y="4526280"/>
            <a:ext cx="2407844" cy="1600200"/>
          </a:xfrm>
          <a:prstGeom prst="roundRect">
            <a:avLst>
              <a:gd name="adj" fmla="val 6857"/>
            </a:avLst>
          </a:prstGeom>
          <a:solidFill>
            <a:schemeClr val="bg2"/>
          </a:solidFill>
          <a:ln/>
        </p:spPr>
      </p:sp>
      <p:sp>
        <p:nvSpPr>
          <p:cNvPr id="23" name="Stat 1 value"/>
          <p:cNvSpPr txBox="1"/>
          <p:nvPr/>
        </p:nvSpPr>
        <p:spPr>
          <a:xfrm>
            <a:off x="685800" y="4617720"/>
            <a:ext cx="1950644" cy="548640"/>
          </a:xfrm>
          <a:prstGeom prst="rect">
            <a:avLst/>
          </a:prstGeom>
          <a:noFill/>
          <a:ln/>
        </p:spPr>
        <p:txBody>
          <a:bodyPr wrap="square" lIns="0" tIns="0" rIns="0" bIns="0" rtlCol="0" anchor="ctr"/>
          <a:lstStyle/>
          <a:p>
            <a:pPr algn="l" indent="0" marL="0">
              <a:buNone/>
            </a:pPr>
            <a:r>
              <a:rPr lang="en-US" sz="3200" b="1" dirty="0">
                <a:solidFill>
                  <a:schemeClr val="accent1"/>
                </a:solidFill>
                <a:latin typeface="+mj-lt" pitchFamily="34" charset="0"/>
                <a:ea typeface="+mj-lt" pitchFamily="34" charset="-122"/>
                <a:cs typeface="+mj-lt" pitchFamily="34" charset="-120"/>
              </a:rPr>
              <a:t>3 s</a:t>
            </a:r>
            <a:endParaRPr lang="en-US" sz="3200" dirty="0"/>
          </a:p>
        </p:txBody>
      </p:sp>
      <p:sp>
        <p:nvSpPr>
          <p:cNvPr id="24" name="Stat 1 label"/>
          <p:cNvSpPr txBox="1"/>
          <p:nvPr/>
        </p:nvSpPr>
        <p:spPr>
          <a:xfrm>
            <a:off x="685800" y="5166360"/>
            <a:ext cx="1950644" cy="868680"/>
          </a:xfrm>
          <a:prstGeom prst="rect">
            <a:avLst/>
          </a:prstGeom>
          <a:noFill/>
          <a:ln/>
        </p:spPr>
        <p:txBody>
          <a:bodyPr wrap="square" lIns="0" tIns="0" rIns="0" bIns="0" rtlCol="0" anchor="t"/>
          <a:lstStyle/>
          <a:p>
            <a:pPr algn="l" indent="0" marL="0">
              <a:buNone/>
            </a:pPr>
            <a:r>
              <a:rPr lang="en-US" sz="1400" dirty="0">
                <a:solidFill>
                  <a:schemeClr val="tx1"/>
                </a:solidFill>
              </a:rPr>
              <a:t>assumed per move plus settle in the budget</a:t>
            </a:r>
            <a:endParaRPr lang="en-US" sz="1400" dirty="0"/>
          </a:p>
        </p:txBody>
      </p:sp>
      <p:sp>
        <p:nvSpPr>
          <p:cNvPr id="25" name="Stat 2 card"/>
          <p:cNvSpPr/>
          <p:nvPr/>
        </p:nvSpPr>
        <p:spPr>
          <a:xfrm>
            <a:off x="3139364" y="4526280"/>
            <a:ext cx="2407844" cy="1600200"/>
          </a:xfrm>
          <a:prstGeom prst="roundRect">
            <a:avLst>
              <a:gd name="adj" fmla="val 6857"/>
            </a:avLst>
          </a:prstGeom>
          <a:solidFill>
            <a:schemeClr val="bg2"/>
          </a:solidFill>
          <a:ln/>
        </p:spPr>
      </p:sp>
      <p:sp>
        <p:nvSpPr>
          <p:cNvPr id="26" name="Stat 2 value"/>
          <p:cNvSpPr txBox="1"/>
          <p:nvPr/>
        </p:nvSpPr>
        <p:spPr>
          <a:xfrm>
            <a:off x="3367964" y="4617720"/>
            <a:ext cx="1950644" cy="548640"/>
          </a:xfrm>
          <a:prstGeom prst="rect">
            <a:avLst/>
          </a:prstGeom>
          <a:noFill/>
          <a:ln/>
        </p:spPr>
        <p:txBody>
          <a:bodyPr wrap="square" lIns="0" tIns="0" rIns="0" bIns="0" rtlCol="0" anchor="ctr"/>
          <a:lstStyle/>
          <a:p>
            <a:pPr algn="l" indent="0" marL="0">
              <a:buNone/>
            </a:pPr>
            <a:r>
              <a:rPr lang="en-US" sz="3200" b="1" dirty="0">
                <a:solidFill>
                  <a:schemeClr val="accent1"/>
                </a:solidFill>
                <a:latin typeface="+mj-lt" pitchFamily="34" charset="0"/>
                <a:ea typeface="+mj-lt" pitchFamily="34" charset="-122"/>
                <a:cs typeface="+mj-lt" pitchFamily="34" charset="-120"/>
              </a:rPr>
              <a:t>10 fps</a:t>
            </a:r>
            <a:endParaRPr lang="en-US" sz="3200" dirty="0"/>
          </a:p>
        </p:txBody>
      </p:sp>
      <p:sp>
        <p:nvSpPr>
          <p:cNvPr id="27" name="Stat 2 label"/>
          <p:cNvSpPr txBox="1"/>
          <p:nvPr/>
        </p:nvSpPr>
        <p:spPr>
          <a:xfrm>
            <a:off x="3367964" y="5166360"/>
            <a:ext cx="1950644" cy="868680"/>
          </a:xfrm>
          <a:prstGeom prst="rect">
            <a:avLst/>
          </a:prstGeom>
          <a:noFill/>
          <a:ln/>
        </p:spPr>
        <p:txBody>
          <a:bodyPr wrap="square" lIns="0" tIns="0" rIns="0" bIns="0" rtlCol="0" anchor="t"/>
          <a:lstStyle/>
          <a:p>
            <a:pPr algn="l" indent="0" marL="0">
              <a:buNone/>
            </a:pPr>
            <a:r>
              <a:rPr lang="en-US" sz="1400" dirty="0">
                <a:solidFill>
                  <a:schemeClr val="tx1"/>
                </a:solidFill>
              </a:rPr>
              <a:t>assumed frame rate; the real one replaces it</a:t>
            </a:r>
            <a:endParaRPr lang="en-US" sz="1400" dirty="0"/>
          </a:p>
        </p:txBody>
      </p:sp>
      <p:sp>
        <p:nvSpPr>
          <p:cNvPr id="28" name="Message box"/>
          <p:cNvSpPr/>
          <p:nvPr/>
        </p:nvSpPr>
        <p:spPr>
          <a:xfrm>
            <a:off x="5821528" y="4526280"/>
            <a:ext cx="5912968" cy="1600200"/>
          </a:xfrm>
          <a:prstGeom prst="roundRect">
            <a:avLst>
              <a:gd name="adj" fmla="val 6857"/>
            </a:avLst>
          </a:prstGeom>
          <a:solidFill>
            <a:schemeClr val="bg2"/>
          </a:solidFill>
          <a:ln w="25400">
            <a:solidFill>
              <a:schemeClr val="accent1"/>
            </a:solidFill>
            <a:prstDash val="solid"/>
          </a:ln>
        </p:spPr>
      </p:sp>
      <p:sp>
        <p:nvSpPr>
          <p:cNvPr id="29" name="Message icon circle"/>
          <p:cNvSpPr/>
          <p:nvPr/>
        </p:nvSpPr>
        <p:spPr>
          <a:xfrm>
            <a:off x="6050128" y="5006340"/>
            <a:ext cx="640080" cy="640080"/>
          </a:xfrm>
          <a:prstGeom prst="ellipse">
            <a:avLst/>
          </a:prstGeom>
          <a:solidFill>
            <a:schemeClr val="accent1"/>
          </a:solidFill>
          <a:ln/>
        </p:spPr>
      </p:sp>
      <p:pic>
        <p:nvPicPr>
          <p:cNvPr id="30" name="Message icon glyph" descr="list icon">    </p:cNvPr>
          <p:cNvPicPr>
            <a:picLocks noChangeAspect="1"/>
          </p:cNvPicPr>
          <p:nvPr/>
        </p:nvPicPr>
        <p:blipFill>
          <a:blip r:embed="rId1"/>
          <a:stretch>
            <a:fillRect/>
          </a:stretch>
        </p:blipFill>
        <p:spPr>
          <a:xfrm>
            <a:off x="6210148" y="5166360"/>
            <a:ext cx="320040" cy="320040"/>
          </a:xfrm>
          <a:prstGeom prst="rect">
            <a:avLst/>
          </a:prstGeom>
        </p:spPr>
      </p:pic>
      <p:sp>
        <p:nvSpPr>
          <p:cNvPr id="31" name="Key message"/>
          <p:cNvSpPr txBox="1"/>
          <p:nvPr/>
        </p:nvSpPr>
        <p:spPr>
          <a:xfrm>
            <a:off x="6873088" y="4526280"/>
            <a:ext cx="4632808" cy="1600200"/>
          </a:xfrm>
          <a:prstGeom prst="rect">
            <a:avLst/>
          </a:prstGeom>
          <a:noFill/>
          <a:ln/>
        </p:spPr>
        <p:txBody>
          <a:bodyPr wrap="square" lIns="0" tIns="0" rIns="0" bIns="0" rtlCol="0" anchor="ctr"/>
          <a:lstStyle/>
          <a:p>
            <a:pPr algn="l" indent="0" marL="0">
              <a:buNone/>
            </a:pPr>
            <a:r>
              <a:rPr lang="en-US" sz="1800" b="1" dirty="0">
                <a:solidFill>
                  <a:schemeClr val="tx2"/>
                </a:solidFill>
              </a:rPr>
              <a:t>Follow the order column. Do not choose stations, positions or order yourself, and do not delete any frames.</a:t>
            </a:r>
            <a:endParaRPr lang="en-US" sz="18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nchor="b"/>
          <a:lstStyle>
            <a:lvl1pPr>
              <a:defRPr sz="12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11277295" cy="685800"/>
          </a:xfrm>
          <a:prstGeom prst="rect">
            <a:avLst/>
          </a:prstGeom>
          <a:noFill/>
          <a:ln/>
        </p:spPr>
        <p:txBody>
          <a:bodyPr wrap="square" lIns="0" tIns="0" rIns="0" bIns="0" rtlCol="0" anchor="t"/>
          <a:lstStyle/>
          <a:p>
            <a:pPr algn="l" indent="0" marL="0">
              <a:buNone/>
            </a:pPr>
            <a:r>
              <a:rPr lang="en-US" sz="3400" b="1" dirty="0">
                <a:solidFill>
                  <a:schemeClr val="tx2"/>
                </a:solidFill>
                <a:latin typeface="+mj-lt" pitchFamily="34" charset="0"/>
                <a:ea typeface="+mj-lt" pitchFamily="34" charset="-122"/>
                <a:cs typeface="+mj-lt" pitchFamily="34" charset="-120"/>
              </a:rPr>
              <a:t>Series A and B: the board, then the edge targets</a:t>
            </a:r>
            <a:endParaRPr lang="en-US" sz="3400" dirty="0"/>
          </a:p>
        </p:txBody>
      </p:sp>
      <p:sp>
        <p:nvSpPr>
          <p:cNvPr id="3" name="Check 1 card"/>
          <p:cNvSpPr/>
          <p:nvPr/>
        </p:nvSpPr>
        <p:spPr>
          <a:xfrm>
            <a:off x="457200" y="1417320"/>
            <a:ext cx="5501488" cy="2247900"/>
          </a:xfrm>
          <a:prstGeom prst="roundRect">
            <a:avLst>
              <a:gd name="adj" fmla="val 4881"/>
            </a:avLst>
          </a:prstGeom>
          <a:solidFill>
            <a:schemeClr val="bg1"/>
          </a:solidFill>
          <a:ln w="12700">
            <a:solidFill>
              <a:schemeClr val="accent6"/>
            </a:solidFill>
            <a:prstDash val="solid"/>
          </a:ln>
        </p:spPr>
      </p:sp>
      <p:sp>
        <p:nvSpPr>
          <p:cNvPr id="4" name="Check 1 icon circle"/>
          <p:cNvSpPr/>
          <p:nvPr/>
        </p:nvSpPr>
        <p:spPr>
          <a:xfrm>
            <a:off x="594360" y="1554480"/>
            <a:ext cx="640080" cy="640080"/>
          </a:xfrm>
          <a:prstGeom prst="ellipse">
            <a:avLst/>
          </a:prstGeom>
          <a:solidFill>
            <a:schemeClr val="accent2"/>
          </a:solidFill>
          <a:ln/>
        </p:spPr>
      </p:sp>
      <p:pic>
        <p:nvPicPr>
          <p:cNvPr id="5" name="Check 1 icon glyph" descr="gauge icon">    </p:cNvPr>
          <p:cNvPicPr>
            <a:picLocks noChangeAspect="1"/>
          </p:cNvPicPr>
          <p:nvPr/>
        </p:nvPicPr>
        <p:blipFill>
          <a:blip r:embed="rId1"/>
          <a:stretch>
            <a:fillRect/>
          </a:stretch>
        </p:blipFill>
        <p:spPr>
          <a:xfrm>
            <a:off x="754380" y="1714500"/>
            <a:ext cx="320040" cy="320040"/>
          </a:xfrm>
          <a:prstGeom prst="rect">
            <a:avLst/>
          </a:prstGeom>
        </p:spPr>
      </p:pic>
      <p:sp>
        <p:nvSpPr>
          <p:cNvPr id="6" name="Check 1 text"/>
          <p:cNvSpPr txBox="1"/>
          <p:nvPr/>
        </p:nvSpPr>
        <p:spPr>
          <a:xfrm>
            <a:off x="1417320" y="1554480"/>
            <a:ext cx="4404208" cy="1973580"/>
          </a:xfrm>
          <a:prstGeom prst="rect">
            <a:avLst/>
          </a:prstGeom>
          <a:noFill/>
          <a:ln/>
        </p:spPr>
        <p:txBody>
          <a:bodyPr wrap="square" lIns="0" tIns="0" rIns="0" bIns="0" rtlCol="0" anchor="t"/>
          <a:lstStyle/>
          <a:p>
            <a:pPr algn="l" indent="0" marL="0">
              <a:spcAft>
                <a:spcPts val="300"/>
              </a:spcAft>
              <a:buNone/>
            </a:pPr>
            <a:r>
              <a:rPr lang="en-US" sz="1800" b="1" dirty="0">
                <a:solidFill>
                  <a:schemeClr val="tx2"/>
                </a:solidFill>
              </a:rPr>
              <a:t>A, noise on the board</a:t>
            </a:r>
            <a:endParaRPr lang="en-US" sz="1600" dirty="0"/>
          </a:p>
          <a:p>
            <a:pPr algn="l" indent="0" marL="0">
              <a:spcAft>
                <a:spcPts val="300"/>
              </a:spcAft>
              <a:buNone/>
            </a:pPr>
            <a:r>
              <a:rPr lang="en-US" sz="1600" b="1" dirty="0">
                <a:solidFill>
                  <a:schemeClr val="accent1"/>
                </a:solidFill>
              </a:rPr>
              <a:t>T2, 100 frames per pose</a:t>
            </a:r>
            <a:endParaRPr lang="en-US" sz="1600" dirty="0"/>
          </a:p>
          <a:p>
            <a:pPr algn="l" indent="0" marL="0">
              <a:buNone/>
            </a:pPr>
            <a:r>
              <a:rPr lang="en-US" sz="1400" dirty="0">
                <a:solidFill>
                  <a:schemeClr val="tx1"/>
                </a:solidFill>
              </a:rPr>
              <a:t>All 9 stations at the 5 field positions plus the legacy depths at the center, in randomized order; then the tilt sub-series at 476, 800 and 1600 mm (0, 15, 30, 45 degrees about V then H, 50 frames); then dismount, re-mount and repeat the 800 mm center station</a:t>
            </a:r>
            <a:endParaRPr lang="en-US" sz="1600" dirty="0"/>
          </a:p>
        </p:txBody>
      </p:sp>
      <p:sp>
        <p:nvSpPr>
          <p:cNvPr id="7" name="Check 2 card"/>
          <p:cNvSpPr/>
          <p:nvPr/>
        </p:nvSpPr>
        <p:spPr>
          <a:xfrm>
            <a:off x="6233008" y="1417320"/>
            <a:ext cx="5501488" cy="2247900"/>
          </a:xfrm>
          <a:prstGeom prst="roundRect">
            <a:avLst>
              <a:gd name="adj" fmla="val 4881"/>
            </a:avLst>
          </a:prstGeom>
          <a:solidFill>
            <a:schemeClr val="bg1"/>
          </a:solidFill>
          <a:ln w="12700">
            <a:solidFill>
              <a:schemeClr val="accent6"/>
            </a:solidFill>
            <a:prstDash val="solid"/>
          </a:ln>
        </p:spPr>
      </p:sp>
      <p:sp>
        <p:nvSpPr>
          <p:cNvPr id="8" name="Check 2 icon circle"/>
          <p:cNvSpPr/>
          <p:nvPr/>
        </p:nvSpPr>
        <p:spPr>
          <a:xfrm>
            <a:off x="6370168" y="1554480"/>
            <a:ext cx="640080" cy="640080"/>
          </a:xfrm>
          <a:prstGeom prst="ellipse">
            <a:avLst/>
          </a:prstGeom>
          <a:solidFill>
            <a:schemeClr val="accent2"/>
          </a:solidFill>
          <a:ln/>
        </p:spPr>
      </p:sp>
      <p:pic>
        <p:nvPicPr>
          <p:cNvPr id="9" name="Check 2 icon glyph" descr="ruler icon">    </p:cNvPr>
          <p:cNvPicPr>
            <a:picLocks noChangeAspect="1"/>
          </p:cNvPicPr>
          <p:nvPr/>
        </p:nvPicPr>
        <p:blipFill>
          <a:blip r:embed="rId2"/>
          <a:stretch>
            <a:fillRect/>
          </a:stretch>
        </p:blipFill>
        <p:spPr>
          <a:xfrm>
            <a:off x="6530188" y="1714500"/>
            <a:ext cx="320040" cy="320040"/>
          </a:xfrm>
          <a:prstGeom prst="rect">
            <a:avLst/>
          </a:prstGeom>
        </p:spPr>
      </p:pic>
      <p:sp>
        <p:nvSpPr>
          <p:cNvPr id="10" name="Check 2 text"/>
          <p:cNvSpPr txBox="1"/>
          <p:nvPr/>
        </p:nvSpPr>
        <p:spPr>
          <a:xfrm>
            <a:off x="7193128" y="1554480"/>
            <a:ext cx="4404208" cy="1973580"/>
          </a:xfrm>
          <a:prstGeom prst="rect">
            <a:avLst/>
          </a:prstGeom>
          <a:noFill/>
          <a:ln/>
        </p:spPr>
        <p:txBody>
          <a:bodyPr wrap="square" lIns="0" tIns="0" rIns="0" bIns="0" rtlCol="0" anchor="t"/>
          <a:lstStyle/>
          <a:p>
            <a:pPr algn="l" indent="0" marL="0">
              <a:spcAft>
                <a:spcPts val="300"/>
              </a:spcAft>
              <a:buNone/>
            </a:pPr>
            <a:r>
              <a:rPr lang="en-US" sz="1800" b="1" dirty="0">
                <a:solidFill>
                  <a:schemeClr val="tx2"/>
                </a:solidFill>
              </a:rPr>
              <a:t>B, edges</a:t>
            </a:r>
            <a:endParaRPr lang="en-US" sz="1600" dirty="0"/>
          </a:p>
          <a:p>
            <a:pPr algn="l" indent="0" marL="0">
              <a:spcAft>
                <a:spcPts val="300"/>
              </a:spcAft>
              <a:buNone/>
            </a:pPr>
            <a:r>
              <a:rPr lang="en-US" sz="1600" b="1" dirty="0">
                <a:solidFill>
                  <a:schemeClr val="accent1"/>
                </a:solidFill>
              </a:rPr>
              <a:t>T3a then T3b, 30 frames per pose</a:t>
            </a:r>
            <a:endParaRPr lang="en-US" sz="1600" dirty="0"/>
          </a:p>
          <a:p>
            <a:pPr algn="l" indent="0" marL="0">
              <a:buNone/>
            </a:pPr>
            <a:r>
              <a:rPr lang="en-US" sz="1400" dirty="0">
                <a:solidFill>
                  <a:schemeClr val="tx1"/>
                </a:solidFill>
              </a:rPr>
              <a:t>At each of the 5 shape stations: 1 nominal pose and 25 jitter poses with logged random offsets up to plus or minus 4 px; the gap at 15 mm, then at 60 mm; the square's 5 degree slant is part of the target</a:t>
            </a:r>
            <a:endParaRPr lang="en-US" sz="1600" dirty="0"/>
          </a:p>
        </p:txBody>
      </p:sp>
      <p:sp>
        <p:nvSpPr>
          <p:cNvPr id="11" name="Check 3 card"/>
          <p:cNvSpPr/>
          <p:nvPr/>
        </p:nvSpPr>
        <p:spPr>
          <a:xfrm>
            <a:off x="457200" y="3848100"/>
            <a:ext cx="5501488" cy="1821180"/>
          </a:xfrm>
          <a:prstGeom prst="roundRect">
            <a:avLst>
              <a:gd name="adj" fmla="val 6025"/>
            </a:avLst>
          </a:prstGeom>
          <a:solidFill>
            <a:schemeClr val="bg1"/>
          </a:solidFill>
          <a:ln w="12700">
            <a:solidFill>
              <a:schemeClr val="accent6"/>
            </a:solidFill>
            <a:prstDash val="solid"/>
          </a:ln>
        </p:spPr>
      </p:sp>
      <p:sp>
        <p:nvSpPr>
          <p:cNvPr id="12" name="Check 3 icon circle"/>
          <p:cNvSpPr/>
          <p:nvPr/>
        </p:nvSpPr>
        <p:spPr>
          <a:xfrm>
            <a:off x="594360" y="3985260"/>
            <a:ext cx="640080" cy="640080"/>
          </a:xfrm>
          <a:prstGeom prst="ellipse">
            <a:avLst/>
          </a:prstGeom>
          <a:solidFill>
            <a:schemeClr val="accent2"/>
          </a:solidFill>
          <a:ln/>
        </p:spPr>
      </p:sp>
      <p:pic>
        <p:nvPicPr>
          <p:cNvPr id="13" name="Check 3 icon glyph" descr="bullseye icon">    </p:cNvPr>
          <p:cNvPicPr>
            <a:picLocks noChangeAspect="1"/>
          </p:cNvPicPr>
          <p:nvPr/>
        </p:nvPicPr>
        <p:blipFill>
          <a:blip r:embed="rId3"/>
          <a:stretch>
            <a:fillRect/>
          </a:stretch>
        </p:blipFill>
        <p:spPr>
          <a:xfrm>
            <a:off x="754380" y="4145280"/>
            <a:ext cx="320040" cy="320040"/>
          </a:xfrm>
          <a:prstGeom prst="rect">
            <a:avLst/>
          </a:prstGeom>
        </p:spPr>
      </p:pic>
      <p:sp>
        <p:nvSpPr>
          <p:cNvPr id="14" name="Check 3 text"/>
          <p:cNvSpPr txBox="1"/>
          <p:nvPr/>
        </p:nvSpPr>
        <p:spPr>
          <a:xfrm>
            <a:off x="1417320" y="3985260"/>
            <a:ext cx="4404208" cy="1546860"/>
          </a:xfrm>
          <a:prstGeom prst="rect">
            <a:avLst/>
          </a:prstGeom>
          <a:noFill/>
          <a:ln/>
        </p:spPr>
        <p:txBody>
          <a:bodyPr wrap="square" lIns="0" tIns="0" rIns="0" bIns="0" rtlCol="0" anchor="t"/>
          <a:lstStyle/>
          <a:p>
            <a:pPr algn="l" indent="0" marL="0">
              <a:spcAft>
                <a:spcPts val="300"/>
              </a:spcAft>
              <a:buNone/>
            </a:pPr>
            <a:r>
              <a:rPr lang="en-US" sz="1800" b="1" dirty="0">
                <a:solidFill>
                  <a:schemeClr val="tx2"/>
                </a:solidFill>
              </a:rPr>
              <a:t>Sentinels</a:t>
            </a:r>
            <a:endParaRPr lang="en-US" sz="1600" dirty="0"/>
          </a:p>
          <a:p>
            <a:pPr algn="l" indent="0" marL="0">
              <a:spcAft>
                <a:spcPts val="300"/>
              </a:spcAft>
              <a:buNone/>
            </a:pPr>
            <a:r>
              <a:rPr lang="en-US" sz="1600" b="1" dirty="0">
                <a:solidFill>
                  <a:schemeClr val="accent1"/>
                </a:solidFill>
              </a:rPr>
              <a:t>30 frames at 800 mm</a:t>
            </a:r>
            <a:endParaRPr lang="en-US" sz="1600" dirty="0"/>
          </a:p>
          <a:p>
            <a:pPr algn="l" indent="0" marL="0">
              <a:buNone/>
            </a:pPr>
            <a:r>
              <a:rPr lang="en-US" sz="1400" dirty="0">
                <a:solidFill>
                  <a:schemeClr val="tx1"/>
                </a:solidFill>
              </a:rPr>
              <a:t>Captured on whatever target is mounted, before A, every 60 minutes, after the last pose of each series; never swap a target for one</a:t>
            </a:r>
            <a:endParaRPr lang="en-US" sz="1600" dirty="0"/>
          </a:p>
        </p:txBody>
      </p:sp>
      <p:sp>
        <p:nvSpPr>
          <p:cNvPr id="15" name="Check 4 card"/>
          <p:cNvSpPr/>
          <p:nvPr/>
        </p:nvSpPr>
        <p:spPr>
          <a:xfrm>
            <a:off x="6233008" y="3848100"/>
            <a:ext cx="5501488" cy="1821180"/>
          </a:xfrm>
          <a:prstGeom prst="roundRect">
            <a:avLst>
              <a:gd name="adj" fmla="val 6025"/>
            </a:avLst>
          </a:prstGeom>
          <a:solidFill>
            <a:schemeClr val="bg1"/>
          </a:solidFill>
          <a:ln w="12700">
            <a:solidFill>
              <a:schemeClr val="accent6"/>
            </a:solidFill>
            <a:prstDash val="solid"/>
          </a:ln>
        </p:spPr>
      </p:sp>
      <p:sp>
        <p:nvSpPr>
          <p:cNvPr id="16" name="Check 4 icon circle"/>
          <p:cNvSpPr/>
          <p:nvPr/>
        </p:nvSpPr>
        <p:spPr>
          <a:xfrm>
            <a:off x="6370168" y="3985260"/>
            <a:ext cx="640080" cy="640080"/>
          </a:xfrm>
          <a:prstGeom prst="ellipse">
            <a:avLst/>
          </a:prstGeom>
          <a:solidFill>
            <a:schemeClr val="accent2"/>
          </a:solidFill>
          <a:ln/>
        </p:spPr>
      </p:sp>
      <p:pic>
        <p:nvPicPr>
          <p:cNvPr id="17" name="Check 4 icon glyph" descr="edit icon">    </p:cNvPr>
          <p:cNvPicPr>
            <a:picLocks noChangeAspect="1"/>
          </p:cNvPicPr>
          <p:nvPr/>
        </p:nvPicPr>
        <p:blipFill>
          <a:blip r:embed="rId4"/>
          <a:stretch>
            <a:fillRect/>
          </a:stretch>
        </p:blipFill>
        <p:spPr>
          <a:xfrm>
            <a:off x="6530188" y="4145280"/>
            <a:ext cx="320040" cy="320040"/>
          </a:xfrm>
          <a:prstGeom prst="rect">
            <a:avLst/>
          </a:prstGeom>
        </p:spPr>
      </p:pic>
      <p:sp>
        <p:nvSpPr>
          <p:cNvPr id="18" name="Check 4 text"/>
          <p:cNvSpPr txBox="1"/>
          <p:nvPr/>
        </p:nvSpPr>
        <p:spPr>
          <a:xfrm>
            <a:off x="7193128" y="3985260"/>
            <a:ext cx="4404208" cy="1546860"/>
          </a:xfrm>
          <a:prstGeom prst="rect">
            <a:avLst/>
          </a:prstGeom>
          <a:noFill/>
          <a:ln/>
        </p:spPr>
        <p:txBody>
          <a:bodyPr wrap="square" lIns="0" tIns="0" rIns="0" bIns="0" rtlCol="0" anchor="t"/>
          <a:lstStyle/>
          <a:p>
            <a:pPr algn="l" indent="0" marL="0">
              <a:spcAft>
                <a:spcPts val="300"/>
              </a:spcAft>
              <a:buNone/>
            </a:pPr>
            <a:r>
              <a:rPr lang="en-US" sz="1800" b="1" dirty="0">
                <a:solidFill>
                  <a:schemeClr val="tx2"/>
                </a:solidFill>
              </a:rPr>
              <a:t>Optional</a:t>
            </a:r>
            <a:endParaRPr lang="en-US" sz="1600" dirty="0"/>
          </a:p>
          <a:p>
            <a:pPr algn="l" indent="0" marL="0">
              <a:spcAft>
                <a:spcPts val="300"/>
              </a:spcAft>
              <a:buNone/>
            </a:pPr>
            <a:r>
              <a:rPr lang="en-US" sz="1600" b="1" dirty="0">
                <a:solidFill>
                  <a:schemeClr val="accent1"/>
                </a:solidFill>
              </a:rPr>
              <a:t>engineer decides</a:t>
            </a:r>
            <a:endParaRPr lang="en-US" sz="1600" dirty="0"/>
          </a:p>
          <a:p>
            <a:pPr algn="l" indent="0" marL="0">
              <a:buNone/>
            </a:pPr>
            <a:r>
              <a:rPr lang="en-US" sz="1400" dirty="0">
                <a:solidFill>
                  <a:schemeClr val="tx1"/>
                </a:solidFill>
              </a:rPr>
              <a:t>The filters-off repeat of A and B with a new config_id; the lateral sweep of T3a at 800 mm, 20 poses in H and 20 in V in 0.1 px steps, approached from alternating sides</a:t>
            </a:r>
            <a:endParaRPr lang="en-US" sz="1600" dirty="0"/>
          </a:p>
        </p:txBody>
      </p:sp>
      <p:sp>
        <p:nvSpPr>
          <p:cNvPr id="19" name="Checks caption"/>
          <p:cNvSpPr txBox="1"/>
          <p:nvPr/>
        </p:nvSpPr>
        <p:spPr>
          <a:xfrm>
            <a:off x="457200" y="5852160"/>
            <a:ext cx="11277295" cy="274320"/>
          </a:xfrm>
          <a:prstGeom prst="rect">
            <a:avLst/>
          </a:prstGeom>
          <a:noFill/>
          <a:ln/>
        </p:spPr>
        <p:txBody>
          <a:bodyPr wrap="square" lIns="0" tIns="0" rIns="0" bIns="0" rtlCol="0" anchor="b"/>
          <a:lstStyle/>
          <a:p>
            <a:pPr algn="l" indent="0" marL="0">
              <a:buNone/>
            </a:pPr>
            <a:r>
              <a:rPr lang="en-US" sz="1200" dirty="0">
                <a:solidFill>
                  <a:schemeClr val="accent5"/>
                </a:solidFill>
              </a:rPr>
              <a:t>Procedure sections 6 and 7. Each target stays mounted as long as the plan allows; the mount check follows every swap.</a:t>
            </a:r>
            <a:endParaRPr lang="en-US" sz="12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nchor="b"/>
          <a:lstStyle>
            <a:lvl1pPr>
              <a:defRPr sz="12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11277295" cy="685800"/>
          </a:xfrm>
          <a:prstGeom prst="rect">
            <a:avLst/>
          </a:prstGeom>
          <a:noFill/>
          <a:ln/>
        </p:spPr>
        <p:txBody>
          <a:bodyPr wrap="square" lIns="0" tIns="0" rIns="0" bIns="0" rtlCol="0" anchor="t"/>
          <a:lstStyle/>
          <a:p>
            <a:pPr algn="l" indent="0" marL="0">
              <a:buNone/>
            </a:pPr>
            <a:r>
              <a:rPr lang="en-US" sz="3200" b="1" dirty="0">
                <a:solidFill>
                  <a:schemeClr val="tx2"/>
                </a:solidFill>
                <a:latin typeface="+mj-lt" pitchFamily="34" charset="0"/>
                <a:ea typeface="+mj-lt" pitchFamily="34" charset="-122"/>
                <a:cs typeface="+mj-lt" pitchFamily="34" charset="-120"/>
              </a:rPr>
              <a:t>Series Z: step ladder and ramp, approached from below</a:t>
            </a:r>
            <a:endParaRPr lang="en-US" sz="3400" dirty="0"/>
          </a:p>
        </p:txBody>
      </p:sp>
      <p:pic>
        <p:nvPicPr>
          <p:cNvPr id="3" name="Series Z: the step ladder and the ramp, with the approach from below" descr="Series Z: the step ladder and the ramp, with the approach from below">    </p:cNvPr>
          <p:cNvPicPr>
            <a:picLocks noChangeAspect="1"/>
          </p:cNvPicPr>
          <p:nvPr/>
        </p:nvPicPr>
        <p:blipFill>
          <a:blip r:embed="rId1"/>
          <a:stretch>
            <a:fillRect/>
          </a:stretch>
        </p:blipFill>
        <p:spPr>
          <a:xfrm>
            <a:off x="457200" y="2698388"/>
            <a:ext cx="6202512" cy="2147024"/>
          </a:xfrm>
          <a:prstGeom prst="rect">
            <a:avLst/>
          </a:prstGeom>
        </p:spPr>
      </p:pic>
      <p:sp>
        <p:nvSpPr>
          <p:cNvPr id="4" name="Series Z: the step ladder and the ramp, with the approach from below frame"/>
          <p:cNvSpPr/>
          <p:nvPr/>
        </p:nvSpPr>
        <p:spPr>
          <a:xfrm>
            <a:off x="457200" y="2698388"/>
            <a:ext cx="6202512" cy="2147024"/>
          </a:xfrm>
          <a:prstGeom prst="rect">
            <a:avLst/>
          </a:prstGeom>
          <a:ln w="12700">
            <a:solidFill>
              <a:schemeClr val="accent6"/>
            </a:solidFill>
            <a:prstDash val="solid"/>
          </a:ln>
        </p:spPr>
      </p:sp>
      <p:sp>
        <p:nvSpPr>
          <p:cNvPr id="5" name="Step 1 card"/>
          <p:cNvSpPr/>
          <p:nvPr/>
        </p:nvSpPr>
        <p:spPr>
          <a:xfrm>
            <a:off x="6934032" y="1417320"/>
            <a:ext cx="4800463" cy="792480"/>
          </a:xfrm>
          <a:prstGeom prst="roundRect">
            <a:avLst>
              <a:gd name="adj" fmla="val 13846"/>
            </a:avLst>
          </a:prstGeom>
          <a:solidFill>
            <a:schemeClr val="bg2"/>
          </a:solidFill>
          <a:ln/>
        </p:spPr>
      </p:sp>
      <p:sp>
        <p:nvSpPr>
          <p:cNvPr id="6" name="Step 1 badge"/>
          <p:cNvSpPr txBox="1"/>
          <p:nvPr/>
        </p:nvSpPr>
        <p:spPr>
          <a:xfrm>
            <a:off x="7048332" y="1562100"/>
            <a:ext cx="502920" cy="50292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7" name="Step 1 text"/>
          <p:cNvSpPr txBox="1"/>
          <p:nvPr/>
        </p:nvSpPr>
        <p:spPr>
          <a:xfrm>
            <a:off x="7734132" y="1417320"/>
            <a:ext cx="3886063" cy="792480"/>
          </a:xfrm>
          <a:prstGeom prst="rect">
            <a:avLst/>
          </a:prstGeom>
          <a:noFill/>
          <a:ln/>
        </p:spPr>
        <p:txBody>
          <a:bodyPr wrap="square" lIns="0" tIns="0" rIns="0" bIns="0" rtlCol="0" anchor="ctr"/>
          <a:lstStyle/>
          <a:p>
            <a:pPr algn="l" indent="0" marL="0">
              <a:buNone/>
            </a:pPr>
            <a:r>
              <a:rPr lang="en-US" sz="1400" dirty="0">
                <a:solidFill>
                  <a:schemeClr val="tx1"/>
                </a:solidFill>
              </a:rPr>
              <a:t>Mount the board centered and fronto-parallel; mount check; every pose of the series backs off 2 mm and moves up onto its pose</a:t>
            </a:r>
            <a:endParaRPr lang="en-US" sz="1400" dirty="0"/>
          </a:p>
        </p:txBody>
      </p:sp>
      <p:sp>
        <p:nvSpPr>
          <p:cNvPr id="8" name="Step 2 card"/>
          <p:cNvSpPr/>
          <p:nvPr/>
        </p:nvSpPr>
        <p:spPr>
          <a:xfrm>
            <a:off x="6934032" y="2337816"/>
            <a:ext cx="4800463" cy="1005840"/>
          </a:xfrm>
          <a:prstGeom prst="roundRect">
            <a:avLst>
              <a:gd name="adj" fmla="val 10909"/>
            </a:avLst>
          </a:prstGeom>
          <a:solidFill>
            <a:schemeClr val="bg2"/>
          </a:solidFill>
          <a:ln/>
        </p:spPr>
      </p:sp>
      <p:sp>
        <p:nvSpPr>
          <p:cNvPr id="9" name="Step 2 badge"/>
          <p:cNvSpPr txBox="1"/>
          <p:nvPr/>
        </p:nvSpPr>
        <p:spPr>
          <a:xfrm>
            <a:off x="7048332" y="2589276"/>
            <a:ext cx="502920" cy="50292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0" name="Step 2 text"/>
          <p:cNvSpPr txBox="1"/>
          <p:nvPr/>
        </p:nvSpPr>
        <p:spPr>
          <a:xfrm>
            <a:off x="7734132" y="2337816"/>
            <a:ext cx="3886063" cy="1005840"/>
          </a:xfrm>
          <a:prstGeom prst="rect">
            <a:avLst/>
          </a:prstGeom>
          <a:noFill/>
          <a:ln/>
        </p:spPr>
        <p:txBody>
          <a:bodyPr wrap="square" lIns="0" tIns="0" rIns="0" bIns="0" rtlCol="0" anchor="ctr"/>
          <a:lstStyle/>
          <a:p>
            <a:pPr algn="l" indent="0" marL="0">
              <a:buNone/>
            </a:pPr>
            <a:r>
              <a:rPr lang="en-US" sz="1400" dirty="0">
                <a:solidFill>
                  <a:schemeClr val="tx1"/>
                </a:solidFill>
              </a:rPr>
              <a:t>Step ladder at 400, 800 and 1600 mm: six rungs of 0.25 to 8 expected quanta, never below 0.1 mm; alternate Z0 and Z0 plus the step for 10 cycles, 10 frames per visit</a:t>
            </a:r>
            <a:endParaRPr lang="en-US" sz="1400" dirty="0"/>
          </a:p>
        </p:txBody>
      </p:sp>
      <p:sp>
        <p:nvSpPr>
          <p:cNvPr id="11" name="Step 3 card"/>
          <p:cNvSpPr/>
          <p:nvPr/>
        </p:nvSpPr>
        <p:spPr>
          <a:xfrm>
            <a:off x="6934032" y="3471672"/>
            <a:ext cx="4800463" cy="1005840"/>
          </a:xfrm>
          <a:prstGeom prst="roundRect">
            <a:avLst>
              <a:gd name="adj" fmla="val 10909"/>
            </a:avLst>
          </a:prstGeom>
          <a:solidFill>
            <a:schemeClr val="bg2"/>
          </a:solidFill>
          <a:ln/>
        </p:spPr>
      </p:sp>
      <p:sp>
        <p:nvSpPr>
          <p:cNvPr id="12" name="Step 3 badge"/>
          <p:cNvSpPr txBox="1"/>
          <p:nvPr/>
        </p:nvSpPr>
        <p:spPr>
          <a:xfrm>
            <a:off x="7048332" y="3723132"/>
            <a:ext cx="502920" cy="50292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3" name="Step 3 text"/>
          <p:cNvSpPr txBox="1"/>
          <p:nvPr/>
        </p:nvSpPr>
        <p:spPr>
          <a:xfrm>
            <a:off x="7734132" y="3471672"/>
            <a:ext cx="3886063" cy="1005840"/>
          </a:xfrm>
          <a:prstGeom prst="rect">
            <a:avLst/>
          </a:prstGeom>
          <a:noFill/>
          <a:ln/>
        </p:spPr>
        <p:txBody>
          <a:bodyPr wrap="square" lIns="0" tIns="0" rIns="0" bIns="0" rtlCol="0" anchor="ctr"/>
          <a:lstStyle/>
          <a:p>
            <a:pPr algn="l" indent="0" marL="0">
              <a:buNone/>
            </a:pPr>
            <a:r>
              <a:rPr lang="en-US" sz="1400" dirty="0">
                <a:solidFill>
                  <a:schemeClr val="tx1"/>
                </a:solidFill>
              </a:rPr>
              <a:t>Ramp at all 9 stations: the board tilted about H so the true depth across its height spans 3 expected quanta, 0.4 degrees near to 7.1 degrees far; 50 frames; the tilt is in the row</a:t>
            </a:r>
            <a:endParaRPr lang="en-US" sz="1400" dirty="0"/>
          </a:p>
        </p:txBody>
      </p:sp>
      <p:sp>
        <p:nvSpPr>
          <p:cNvPr id="14" name="Step 4 card"/>
          <p:cNvSpPr/>
          <p:nvPr/>
        </p:nvSpPr>
        <p:spPr>
          <a:xfrm>
            <a:off x="6934032" y="4605528"/>
            <a:ext cx="4800463" cy="600456"/>
          </a:xfrm>
          <a:prstGeom prst="roundRect">
            <a:avLst>
              <a:gd name="adj" fmla="val 18274"/>
            </a:avLst>
          </a:prstGeom>
          <a:solidFill>
            <a:schemeClr val="bg2"/>
          </a:solidFill>
          <a:ln/>
        </p:spPr>
      </p:sp>
      <p:sp>
        <p:nvSpPr>
          <p:cNvPr id="15" name="Step 4 badge"/>
          <p:cNvSpPr txBox="1"/>
          <p:nvPr/>
        </p:nvSpPr>
        <p:spPr>
          <a:xfrm>
            <a:off x="7048332" y="4654296"/>
            <a:ext cx="502920" cy="50292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16" name="Step 4 text"/>
          <p:cNvSpPr txBox="1"/>
          <p:nvPr/>
        </p:nvSpPr>
        <p:spPr>
          <a:xfrm>
            <a:off x="7734132" y="4605528"/>
            <a:ext cx="3886063" cy="600456"/>
          </a:xfrm>
          <a:prstGeom prst="rect">
            <a:avLst/>
          </a:prstGeom>
          <a:noFill/>
          <a:ln/>
        </p:spPr>
        <p:txBody>
          <a:bodyPr wrap="square" lIns="0" tIns="0" rIns="0" bIns="0" rtlCol="0" anchor="ctr"/>
          <a:lstStyle/>
          <a:p>
            <a:pPr algn="l" indent="0" marL="0">
              <a:buNone/>
            </a:pPr>
            <a:r>
              <a:rPr lang="en-US" sz="1400" dirty="0">
                <a:solidFill>
                  <a:schemeClr val="tx1"/>
                </a:solidFill>
              </a:rPr>
              <a:t>Log the read-back pose as it is: it is the step truth; never correct it by hand</a:t>
            </a:r>
            <a:endParaRPr lang="en-US" sz="1400" dirty="0"/>
          </a:p>
        </p:txBody>
      </p:sp>
      <p:sp>
        <p:nvSpPr>
          <p:cNvPr id="17" name="Step 5 card"/>
          <p:cNvSpPr/>
          <p:nvPr/>
        </p:nvSpPr>
        <p:spPr>
          <a:xfrm>
            <a:off x="6934032" y="5334000"/>
            <a:ext cx="4800463" cy="792480"/>
          </a:xfrm>
          <a:prstGeom prst="roundRect">
            <a:avLst>
              <a:gd name="adj" fmla="val 13846"/>
            </a:avLst>
          </a:prstGeom>
          <a:solidFill>
            <a:schemeClr val="bg2"/>
          </a:solidFill>
          <a:ln/>
        </p:spPr>
      </p:sp>
      <p:sp>
        <p:nvSpPr>
          <p:cNvPr id="18" name="Step 5 badge"/>
          <p:cNvSpPr txBox="1"/>
          <p:nvPr/>
        </p:nvSpPr>
        <p:spPr>
          <a:xfrm>
            <a:off x="7048332" y="5478780"/>
            <a:ext cx="502920" cy="50292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19" name="Step 5 text"/>
          <p:cNvSpPr txBox="1"/>
          <p:nvPr/>
        </p:nvSpPr>
        <p:spPr>
          <a:xfrm>
            <a:off x="7734132" y="5334000"/>
            <a:ext cx="3886063" cy="792480"/>
          </a:xfrm>
          <a:prstGeom prst="rect">
            <a:avLst/>
          </a:prstGeom>
          <a:noFill/>
          <a:ln/>
        </p:spPr>
        <p:txBody>
          <a:bodyPr wrap="square" lIns="0" tIns="0" rIns="0" bIns="0" rtlCol="0" anchor="ctr"/>
          <a:lstStyle/>
          <a:p>
            <a:pPr algn="l" indent="0" marL="0">
              <a:buNone/>
            </a:pPr>
            <a:r>
              <a:rPr lang="en-US" sz="1400" dirty="0">
                <a:solidFill>
                  <a:schemeClr val="tx1"/>
                </a:solidFill>
              </a:rPr>
              <a:t>Optional staircase, planned later with the same seed, only if the ramp measured a quantum of at least 0.1 mm</a:t>
            </a:r>
            <a:endParaRPr lang="en-US" sz="14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nchor="b"/>
          <a:lstStyle>
            <a:lvl1pPr>
              <a:defRPr sz="12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11277295" cy="685800"/>
          </a:xfrm>
          <a:prstGeom prst="rect">
            <a:avLst/>
          </a:prstGeom>
          <a:noFill/>
          <a:ln/>
        </p:spPr>
        <p:txBody>
          <a:bodyPr wrap="square" lIns="0" tIns="0" rIns="0" bIns="0" rtlCol="0" anchor="t"/>
          <a:lstStyle/>
          <a:p>
            <a:pPr algn="l" indent="0" marL="0">
              <a:buNone/>
            </a:pPr>
            <a:r>
              <a:rPr lang="en-US" sz="3400" b="1" dirty="0">
                <a:solidFill>
                  <a:schemeClr val="tx2"/>
                </a:solidFill>
                <a:latin typeface="+mj-lt" pitchFamily="34" charset="0"/>
                <a:ea typeface="+mj-lt" pitchFamily="34" charset="-122"/>
                <a:cs typeface="+mj-lt" pitchFamily="34" charset="-120"/>
              </a:rPr>
              <a:t>Series C and D: areas and detection trials</a:t>
            </a:r>
            <a:endParaRPr lang="en-US" sz="3400" dirty="0"/>
          </a:p>
        </p:txBody>
      </p:sp>
      <p:sp>
        <p:nvSpPr>
          <p:cNvPr id="3" name="Column 1 card"/>
          <p:cNvSpPr/>
          <p:nvPr/>
        </p:nvSpPr>
        <p:spPr>
          <a:xfrm>
            <a:off x="457200" y="1417320"/>
            <a:ext cx="3576218" cy="3794760"/>
          </a:xfrm>
          <a:prstGeom prst="roundRect">
            <a:avLst>
              <a:gd name="adj" fmla="val 3068"/>
            </a:avLst>
          </a:prstGeom>
          <a:solidFill>
            <a:schemeClr val="bg2"/>
          </a:solidFill>
          <a:ln/>
        </p:spPr>
      </p:sp>
      <p:sp>
        <p:nvSpPr>
          <p:cNvPr id="4" name="Column 1 icon circle"/>
          <p:cNvSpPr/>
          <p:nvPr/>
        </p:nvSpPr>
        <p:spPr>
          <a:xfrm>
            <a:off x="685800" y="1668780"/>
            <a:ext cx="502920" cy="502920"/>
          </a:xfrm>
          <a:prstGeom prst="ellipse">
            <a:avLst/>
          </a:prstGeom>
          <a:solidFill>
            <a:schemeClr val="accent2"/>
          </a:solidFill>
          <a:ln/>
        </p:spPr>
      </p:sp>
      <p:pic>
        <p:nvPicPr>
          <p:cNvPr id="5" name="Column 1 icon glyph" descr="crosshairs icon">    </p:cNvPr>
          <p:cNvPicPr>
            <a:picLocks noChangeAspect="1"/>
          </p:cNvPicPr>
          <p:nvPr/>
        </p:nvPicPr>
        <p:blipFill>
          <a:blip r:embed="rId1"/>
          <a:stretch>
            <a:fillRect/>
          </a:stretch>
        </p:blipFill>
        <p:spPr>
          <a:xfrm>
            <a:off x="811530" y="1794510"/>
            <a:ext cx="251460" cy="251460"/>
          </a:xfrm>
          <a:prstGeom prst="rect">
            <a:avLst/>
          </a:prstGeom>
        </p:spPr>
      </p:pic>
      <p:sp>
        <p:nvSpPr>
          <p:cNvPr id="6" name="Column 1 head"/>
          <p:cNvSpPr txBox="1"/>
          <p:nvPr/>
        </p:nvSpPr>
        <p:spPr>
          <a:xfrm>
            <a:off x="1371600" y="1645920"/>
            <a:ext cx="2433218" cy="548640"/>
          </a:xfrm>
          <a:prstGeom prst="rect">
            <a:avLst/>
          </a:prstGeom>
          <a:noFill/>
          <a:ln/>
        </p:spPr>
        <p:txBody>
          <a:bodyPr wrap="square" lIns="0" tIns="0" rIns="0" bIns="0" rtlCol="0" anchor="ctr"/>
          <a:lstStyle/>
          <a:p>
            <a:pPr algn="l" indent="0" marL="0">
              <a:buNone/>
            </a:pPr>
            <a:r>
              <a:rPr lang="en-US" sz="1800" b="1" dirty="0">
                <a:solidFill>
                  <a:schemeClr val="tx2"/>
                </a:solidFill>
                <a:latin typeface="+mj-lt" pitchFamily="34" charset="0"/>
                <a:ea typeface="+mj-lt" pitchFamily="34" charset="-122"/>
                <a:cs typeface="+mj-lt" pitchFamily="34" charset="-120"/>
              </a:rPr>
              <a:t>C, areas</a:t>
            </a:r>
            <a:endParaRPr lang="en-US" sz="1800" dirty="0"/>
          </a:p>
        </p:txBody>
      </p:sp>
      <p:sp>
        <p:nvSpPr>
          <p:cNvPr id="7" name="Column 1 points"/>
          <p:cNvSpPr txBox="1"/>
          <p:nvPr/>
        </p:nvSpPr>
        <p:spPr>
          <a:xfrm>
            <a:off x="685800" y="2286000"/>
            <a:ext cx="3119018" cy="2834640"/>
          </a:xfrm>
          <a:prstGeom prst="rect">
            <a:avLst/>
          </a:prstGeom>
          <a:noFill/>
          <a:ln/>
        </p:spPr>
        <p:txBody>
          <a:bodyPr wrap="square" lIns="0" tIns="0" rIns="0" bIns="0" rtlCol="0" anchor="t"/>
          <a:lstStyle/>
          <a:p>
            <a:pPr algn="l" marL="177800" indent="-177800">
              <a:spcAft>
                <a:spcPts val="400"/>
              </a:spcAft>
              <a:buSzPct val="100000"/>
              <a:buChar char="•"/>
            </a:pPr>
            <a:r>
              <a:rPr lang="en-US" sz="1400" dirty="0">
                <a:solidFill>
                  <a:schemeClr val="tx1"/>
                </a:solidFill>
              </a:rPr>
              <a:t>T4 and T5, each gap, all 9 stations, centered: 30 poses of 10 frames with random offsets</a:t>
            </a:r>
            <a:endParaRPr lang="en-US" sz="1400" dirty="0"/>
          </a:p>
          <a:p>
            <a:pPr algn="l" marL="177800" indent="-177800">
              <a:spcAft>
                <a:spcPts val="400"/>
              </a:spcAft>
              <a:buSzPct val="100000"/>
              <a:buChar char="•"/>
            </a:pPr>
            <a:r>
              <a:rPr lang="en-US" sz="1400" dirty="0">
                <a:solidFill>
                  <a:schemeClr val="tx1"/>
                </a:solidFill>
              </a:rPr>
              <a:t>Field sub-series at 800 mm and the small gap: the four corners, 10 poses each, pulled inward where needed</a:t>
            </a:r>
            <a:endParaRPr lang="en-US" sz="1400" dirty="0"/>
          </a:p>
          <a:p>
            <a:pPr algn="l" marL="177800" indent="-177800">
              <a:spcAft>
                <a:spcPts val="400"/>
              </a:spcAft>
              <a:buSzPct val="100000"/>
              <a:buChar char="•"/>
            </a:pPr>
            <a:r>
              <a:rPr lang="en-US" sz="1400" dirty="0">
                <a:solidFill>
                  <a:schemeClr val="tx1"/>
                </a:solidFill>
              </a:rPr>
              <a:t>Optional open-background variant at 800 mm: back plate off, 800 mm of clear space behind the holes</a:t>
            </a:r>
            <a:endParaRPr lang="en-US" sz="1400" dirty="0"/>
          </a:p>
        </p:txBody>
      </p:sp>
      <p:sp>
        <p:nvSpPr>
          <p:cNvPr id="8" name="Column 2 card"/>
          <p:cNvSpPr/>
          <p:nvPr/>
        </p:nvSpPr>
        <p:spPr>
          <a:xfrm>
            <a:off x="4307738" y="1417320"/>
            <a:ext cx="3576218" cy="3794760"/>
          </a:xfrm>
          <a:prstGeom prst="roundRect">
            <a:avLst>
              <a:gd name="adj" fmla="val 3068"/>
            </a:avLst>
          </a:prstGeom>
          <a:solidFill>
            <a:schemeClr val="bg2"/>
          </a:solidFill>
          <a:ln/>
        </p:spPr>
      </p:sp>
      <p:sp>
        <p:nvSpPr>
          <p:cNvPr id="9" name="Column 2 icon circle"/>
          <p:cNvSpPr/>
          <p:nvPr/>
        </p:nvSpPr>
        <p:spPr>
          <a:xfrm>
            <a:off x="4536338" y="1668780"/>
            <a:ext cx="502920" cy="502920"/>
          </a:xfrm>
          <a:prstGeom prst="ellipse">
            <a:avLst/>
          </a:prstGeom>
          <a:solidFill>
            <a:schemeClr val="accent2"/>
          </a:solidFill>
          <a:ln/>
        </p:spPr>
      </p:sp>
      <p:pic>
        <p:nvPicPr>
          <p:cNvPr id="10" name="Column 2 icon glyph" descr="eye icon">    </p:cNvPr>
          <p:cNvPicPr>
            <a:picLocks noChangeAspect="1"/>
          </p:cNvPicPr>
          <p:nvPr/>
        </p:nvPicPr>
        <p:blipFill>
          <a:blip r:embed="rId2"/>
          <a:stretch>
            <a:fillRect/>
          </a:stretch>
        </p:blipFill>
        <p:spPr>
          <a:xfrm>
            <a:off x="4662068" y="1794510"/>
            <a:ext cx="251460" cy="251460"/>
          </a:xfrm>
          <a:prstGeom prst="rect">
            <a:avLst/>
          </a:prstGeom>
        </p:spPr>
      </p:pic>
      <p:sp>
        <p:nvSpPr>
          <p:cNvPr id="11" name="Column 2 head"/>
          <p:cNvSpPr txBox="1"/>
          <p:nvPr/>
        </p:nvSpPr>
        <p:spPr>
          <a:xfrm>
            <a:off x="5222138" y="1645920"/>
            <a:ext cx="2433218" cy="548640"/>
          </a:xfrm>
          <a:prstGeom prst="rect">
            <a:avLst/>
          </a:prstGeom>
          <a:noFill/>
          <a:ln/>
        </p:spPr>
        <p:txBody>
          <a:bodyPr wrap="square" lIns="0" tIns="0" rIns="0" bIns="0" rtlCol="0" anchor="ctr"/>
          <a:lstStyle/>
          <a:p>
            <a:pPr algn="l" indent="0" marL="0">
              <a:buNone/>
            </a:pPr>
            <a:r>
              <a:rPr lang="en-US" sz="1800" b="1" dirty="0">
                <a:solidFill>
                  <a:schemeClr val="tx2"/>
                </a:solidFill>
                <a:latin typeface="+mj-lt" pitchFamily="34" charset="0"/>
                <a:ea typeface="+mj-lt" pitchFamily="34" charset="-122"/>
                <a:cs typeface="+mj-lt" pitchFamily="34" charset="-120"/>
              </a:rPr>
              <a:t>D, detection trials</a:t>
            </a:r>
            <a:endParaRPr lang="en-US" sz="1800" dirty="0"/>
          </a:p>
        </p:txBody>
      </p:sp>
      <p:sp>
        <p:nvSpPr>
          <p:cNvPr id="12" name="Column 2 points"/>
          <p:cNvSpPr txBox="1"/>
          <p:nvPr/>
        </p:nvSpPr>
        <p:spPr>
          <a:xfrm>
            <a:off x="4536338" y="2286000"/>
            <a:ext cx="3119018" cy="2834640"/>
          </a:xfrm>
          <a:prstGeom prst="rect">
            <a:avLst/>
          </a:prstGeom>
          <a:noFill/>
          <a:ln/>
        </p:spPr>
        <p:txBody>
          <a:bodyPr wrap="square" lIns="0" tIns="0" rIns="0" bIns="0" rtlCol="0" anchor="t"/>
          <a:lstStyle/>
          <a:p>
            <a:pPr algn="l" marL="177800" indent="-177800">
              <a:spcAft>
                <a:spcPts val="400"/>
              </a:spcAft>
              <a:buSzPct val="100000"/>
              <a:buChar char="•"/>
            </a:pPr>
            <a:r>
              <a:rPr lang="en-US" sz="1400" dirty="0">
                <a:solidFill>
                  <a:schemeClr val="tx1"/>
                </a:solidFill>
              </a:rPr>
              <a:t>One frame per pose at a fresh random offset: one trial for every feature and blank site on the plate at once</a:t>
            </a:r>
            <a:endParaRPr lang="en-US" sz="1400" dirty="0"/>
          </a:p>
          <a:p>
            <a:pPr algn="l" marL="177800" indent="-177800">
              <a:spcAft>
                <a:spcPts val="400"/>
              </a:spcAft>
              <a:buSzPct val="100000"/>
              <a:buChar char="•"/>
            </a:pPr>
            <a:r>
              <a:rPr lang="en-US" sz="1400" dirty="0">
                <a:solidFill>
                  <a:schemeClr val="tx1"/>
                </a:solidFill>
              </a:rPr>
              <a:t>60 trials per feature and station; 300 at the 3 farthest stations for the 5 percent level</a:t>
            </a:r>
            <a:endParaRPr lang="en-US" sz="1400" dirty="0"/>
          </a:p>
          <a:p>
            <a:pPr algn="l" marL="177800" indent="-177800">
              <a:spcAft>
                <a:spcPts val="400"/>
              </a:spcAft>
              <a:buSzPct val="100000"/>
              <a:buChar char="•"/>
            </a:pPr>
            <a:r>
              <a:rPr lang="en-US" sz="1400" dirty="0">
                <a:solidFill>
                  <a:schemeClr val="tx1"/>
                </a:solidFill>
              </a:rPr>
              <a:t>Shuffled order with a logged seed; the first frame of each C pose may count as a trial if the engineer asked for it</a:t>
            </a:r>
            <a:endParaRPr lang="en-US" sz="1400" dirty="0"/>
          </a:p>
        </p:txBody>
      </p:sp>
      <p:sp>
        <p:nvSpPr>
          <p:cNvPr id="13" name="Column 3 card"/>
          <p:cNvSpPr/>
          <p:nvPr/>
        </p:nvSpPr>
        <p:spPr>
          <a:xfrm>
            <a:off x="8158277" y="1417320"/>
            <a:ext cx="3576218" cy="3794760"/>
          </a:xfrm>
          <a:prstGeom prst="roundRect">
            <a:avLst>
              <a:gd name="adj" fmla="val 3068"/>
            </a:avLst>
          </a:prstGeom>
          <a:solidFill>
            <a:schemeClr val="bg2"/>
          </a:solidFill>
          <a:ln/>
        </p:spPr>
      </p:sp>
      <p:sp>
        <p:nvSpPr>
          <p:cNvPr id="14" name="Column 3 icon circle"/>
          <p:cNvSpPr/>
          <p:nvPr/>
        </p:nvSpPr>
        <p:spPr>
          <a:xfrm>
            <a:off x="8386877" y="1668780"/>
            <a:ext cx="502920" cy="502920"/>
          </a:xfrm>
          <a:prstGeom prst="ellipse">
            <a:avLst/>
          </a:prstGeom>
          <a:solidFill>
            <a:schemeClr val="accent2"/>
          </a:solidFill>
          <a:ln/>
        </p:spPr>
      </p:sp>
      <p:pic>
        <p:nvPicPr>
          <p:cNvPr id="15" name="Column 3 icon glyph" descr="sliders icon">    </p:cNvPr>
          <p:cNvPicPr>
            <a:picLocks noChangeAspect="1"/>
          </p:cNvPicPr>
          <p:nvPr/>
        </p:nvPicPr>
        <p:blipFill>
          <a:blip r:embed="rId3"/>
          <a:stretch>
            <a:fillRect/>
          </a:stretch>
        </p:blipFill>
        <p:spPr>
          <a:xfrm>
            <a:off x="8512607" y="1794510"/>
            <a:ext cx="251460" cy="251460"/>
          </a:xfrm>
          <a:prstGeom prst="rect">
            <a:avLst/>
          </a:prstGeom>
        </p:spPr>
      </p:pic>
      <p:sp>
        <p:nvSpPr>
          <p:cNvPr id="16" name="Column 3 head"/>
          <p:cNvSpPr txBox="1"/>
          <p:nvPr/>
        </p:nvSpPr>
        <p:spPr>
          <a:xfrm>
            <a:off x="9072677" y="1645920"/>
            <a:ext cx="2433218" cy="548640"/>
          </a:xfrm>
          <a:prstGeom prst="rect">
            <a:avLst/>
          </a:prstGeom>
          <a:noFill/>
          <a:ln/>
        </p:spPr>
        <p:txBody>
          <a:bodyPr wrap="square" lIns="0" tIns="0" rIns="0" bIns="0" rtlCol="0" anchor="ctr"/>
          <a:lstStyle/>
          <a:p>
            <a:pPr algn="l" indent="0" marL="0">
              <a:buNone/>
            </a:pPr>
            <a:r>
              <a:rPr lang="en-US" sz="1800" b="1" dirty="0">
                <a:solidFill>
                  <a:schemeClr val="tx2"/>
                </a:solidFill>
                <a:latin typeface="+mj-lt" pitchFamily="34" charset="0"/>
                <a:ea typeface="+mj-lt" pitchFamily="34" charset="-122"/>
                <a:cs typeface="+mj-lt" pitchFamily="34" charset="-120"/>
              </a:rPr>
              <a:t>Rules</a:t>
            </a:r>
            <a:endParaRPr lang="en-US" sz="1800" dirty="0"/>
          </a:p>
        </p:txBody>
      </p:sp>
      <p:sp>
        <p:nvSpPr>
          <p:cNvPr id="17" name="Column 3 points"/>
          <p:cNvSpPr txBox="1"/>
          <p:nvPr/>
        </p:nvSpPr>
        <p:spPr>
          <a:xfrm>
            <a:off x="8386877" y="2286000"/>
            <a:ext cx="3119018" cy="2834640"/>
          </a:xfrm>
          <a:prstGeom prst="rect">
            <a:avLst/>
          </a:prstGeom>
          <a:noFill/>
          <a:ln/>
        </p:spPr>
        <p:txBody>
          <a:bodyPr wrap="square" lIns="0" tIns="0" rIns="0" bIns="0" rtlCol="0" anchor="t"/>
          <a:lstStyle/>
          <a:p>
            <a:pPr algn="l" marL="177800" indent="-177800">
              <a:spcAft>
                <a:spcPts val="400"/>
              </a:spcAft>
              <a:buSzPct val="100000"/>
              <a:buChar char="•"/>
            </a:pPr>
            <a:r>
              <a:rPr lang="en-US" sz="1400" dirty="0">
                <a:solidFill>
                  <a:schemeClr val="tx1"/>
                </a:solidFill>
              </a:rPr>
              <a:t>Never use two frames of one pose as two trials</a:t>
            </a:r>
            <a:endParaRPr lang="en-US" sz="1400" dirty="0"/>
          </a:p>
          <a:p>
            <a:pPr algn="l" marL="177800" indent="-177800">
              <a:spcAft>
                <a:spcPts val="400"/>
              </a:spcAft>
              <a:buSzPct val="100000"/>
              <a:buChar char="•"/>
            </a:pPr>
            <a:r>
              <a:rPr lang="en-US" sz="1400" dirty="0">
                <a:solidFill>
                  <a:schemeClr val="tx1"/>
                </a:solidFill>
              </a:rPr>
              <a:t>Post check first: check_captures --pilot 800 on the first C frames; posts seen above the false-alarm rate are remade thinner</a:t>
            </a:r>
            <a:endParaRPr lang="en-US" sz="1400" dirty="0"/>
          </a:p>
          <a:p>
            <a:pPr algn="l" marL="177800" indent="-177800">
              <a:spcAft>
                <a:spcPts val="400"/>
              </a:spcAft>
              <a:buSzPct val="100000"/>
              <a:buChar char="•"/>
            </a:pPr>
            <a:r>
              <a:rPr lang="en-US" sz="1400" dirty="0">
                <a:solidFill>
                  <a:schemeClr val="tx1"/>
                </a:solidFill>
              </a:rPr>
              <a:t>Keep frame f00 of every C pose</a:t>
            </a:r>
            <a:endParaRPr lang="en-US" sz="1400" dirty="0"/>
          </a:p>
        </p:txBody>
      </p:sp>
      <p:sp>
        <p:nvSpPr>
          <p:cNvPr id="18" name="Message box"/>
          <p:cNvSpPr/>
          <p:nvPr/>
        </p:nvSpPr>
        <p:spPr>
          <a:xfrm>
            <a:off x="457200" y="5394960"/>
            <a:ext cx="11277295" cy="731520"/>
          </a:xfrm>
          <a:prstGeom prst="roundRect">
            <a:avLst>
              <a:gd name="adj" fmla="val 15000"/>
            </a:avLst>
          </a:prstGeom>
          <a:solidFill>
            <a:schemeClr val="bg2"/>
          </a:solidFill>
          <a:ln w="25400">
            <a:solidFill>
              <a:schemeClr val="accent1"/>
            </a:solidFill>
            <a:prstDash val="solid"/>
          </a:ln>
        </p:spPr>
      </p:sp>
      <p:sp>
        <p:nvSpPr>
          <p:cNvPr id="19" name="Message icon circle"/>
          <p:cNvSpPr/>
          <p:nvPr/>
        </p:nvSpPr>
        <p:spPr>
          <a:xfrm>
            <a:off x="685800" y="5440680"/>
            <a:ext cx="640080" cy="640080"/>
          </a:xfrm>
          <a:prstGeom prst="ellipse">
            <a:avLst/>
          </a:prstGeom>
          <a:solidFill>
            <a:schemeClr val="accent1"/>
          </a:solidFill>
          <a:ln/>
        </p:spPr>
      </p:sp>
      <p:pic>
        <p:nvPicPr>
          <p:cNvPr id="20" name="Message icon glyph" descr="crosshairs icon">    </p:cNvPr>
          <p:cNvPicPr>
            <a:picLocks noChangeAspect="1"/>
          </p:cNvPicPr>
          <p:nvPr/>
        </p:nvPicPr>
        <p:blipFill>
          <a:blip r:embed="rId4"/>
          <a:stretch>
            <a:fillRect/>
          </a:stretch>
        </p:blipFill>
        <p:spPr>
          <a:xfrm>
            <a:off x="845820" y="5600700"/>
            <a:ext cx="320040" cy="320040"/>
          </a:xfrm>
          <a:prstGeom prst="rect">
            <a:avLst/>
          </a:prstGeom>
        </p:spPr>
      </p:pic>
      <p:sp>
        <p:nvSpPr>
          <p:cNvPr id="21" name="Key message"/>
          <p:cNvSpPr txBox="1"/>
          <p:nvPr/>
        </p:nvSpPr>
        <p:spPr>
          <a:xfrm>
            <a:off x="1508760" y="5394960"/>
            <a:ext cx="9997135" cy="731520"/>
          </a:xfrm>
          <a:prstGeom prst="rect">
            <a:avLst/>
          </a:prstGeom>
          <a:noFill/>
          <a:ln/>
        </p:spPr>
        <p:txBody>
          <a:bodyPr wrap="square" lIns="0" tIns="0" rIns="0" bIns="0" rtlCol="0" anchor="ctr"/>
          <a:lstStyle/>
          <a:p>
            <a:pPr algn="l" indent="0" marL="0">
              <a:buNone/>
            </a:pPr>
            <a:r>
              <a:rPr lang="en-US" sz="1800" b="1" dirty="0">
                <a:solidFill>
                  <a:schemeClr val="tx2"/>
                </a:solidFill>
              </a:rPr>
              <a:t>The detection levels are the feature-and-station pairs: 27 values of subtended size, spaced by the station ratio, overlapping by half an octave.</a:t>
            </a:r>
            <a:endParaRPr lang="en-US" sz="18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nchor="b"/>
          <a:lstStyle>
            <a:lvl1pPr>
              <a:defRPr sz="12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11277295" cy="685800"/>
          </a:xfrm>
          <a:prstGeom prst="rect">
            <a:avLst/>
          </a:prstGeom>
          <a:noFill/>
          <a:ln/>
        </p:spPr>
        <p:txBody>
          <a:bodyPr wrap="square" lIns="0" tIns="0" rIns="0" bIns="0" rtlCol="0" anchor="t"/>
          <a:lstStyle/>
          <a:p>
            <a:pPr algn="l" indent="0" marL="0">
              <a:buNone/>
            </a:pPr>
            <a:r>
              <a:rPr lang="en-US" sz="3400" b="1" dirty="0">
                <a:solidFill>
                  <a:schemeClr val="tx2"/>
                </a:solidFill>
                <a:latin typeface="+mj-lt" pitchFamily="34" charset="0"/>
                <a:ea typeface="+mj-lt" pitchFamily="34" charset="-122"/>
                <a:cs typeface="+mj-lt" pitchFamily="34" charset="-120"/>
              </a:rPr>
              <a:t>The pose log and the manifest</a:t>
            </a:r>
            <a:endParaRPr lang="en-US" sz="3400" dirty="0"/>
          </a:p>
        </p:txBody>
      </p:sp>
      <p:sp>
        <p:nvSpPr>
          <p:cNvPr id="3" name="Option 1 card"/>
          <p:cNvSpPr/>
          <p:nvPr/>
        </p:nvSpPr>
        <p:spPr>
          <a:xfrm>
            <a:off x="457200" y="1417320"/>
            <a:ext cx="5501488" cy="3703320"/>
          </a:xfrm>
          <a:prstGeom prst="roundRect">
            <a:avLst>
              <a:gd name="adj" fmla="val 2963"/>
            </a:avLst>
          </a:prstGeom>
          <a:solidFill>
            <a:schemeClr val="bg2"/>
          </a:solidFill>
          <a:ln/>
        </p:spPr>
      </p:sp>
      <p:sp>
        <p:nvSpPr>
          <p:cNvPr id="4" name="Option 1 header block"/>
          <p:cNvSpPr/>
          <p:nvPr/>
        </p:nvSpPr>
        <p:spPr>
          <a:xfrm>
            <a:off x="548640" y="1508760"/>
            <a:ext cx="5318608" cy="640080"/>
          </a:xfrm>
          <a:prstGeom prst="roundRect">
            <a:avLst>
              <a:gd name="adj" fmla="val 17143"/>
            </a:avLst>
          </a:prstGeom>
          <a:solidFill>
            <a:schemeClr val="tx2"/>
          </a:solidFill>
          <a:ln/>
        </p:spPr>
      </p:sp>
      <p:sp>
        <p:nvSpPr>
          <p:cNvPr id="5" name="Option 1 icon circle"/>
          <p:cNvSpPr/>
          <p:nvPr/>
        </p:nvSpPr>
        <p:spPr>
          <a:xfrm>
            <a:off x="640080" y="1623060"/>
            <a:ext cx="411480" cy="411480"/>
          </a:xfrm>
          <a:prstGeom prst="ellipse">
            <a:avLst/>
          </a:prstGeom>
          <a:solidFill>
            <a:schemeClr val="accent1"/>
          </a:solidFill>
          <a:ln/>
        </p:spPr>
      </p:sp>
      <p:pic>
        <p:nvPicPr>
          <p:cNvPr id="6" name="Option 1 icon glyph" descr="fileCode icon">    </p:cNvPr>
          <p:cNvPicPr>
            <a:picLocks noChangeAspect="1"/>
          </p:cNvPicPr>
          <p:nvPr/>
        </p:nvPicPr>
        <p:blipFill>
          <a:blip r:embed="rId1"/>
          <a:stretch>
            <a:fillRect/>
          </a:stretch>
        </p:blipFill>
        <p:spPr>
          <a:xfrm>
            <a:off x="742950" y="1725930"/>
            <a:ext cx="205740" cy="205740"/>
          </a:xfrm>
          <a:prstGeom prst="rect">
            <a:avLst/>
          </a:prstGeom>
        </p:spPr>
      </p:pic>
      <p:sp>
        <p:nvSpPr>
          <p:cNvPr id="7" name="Option 1 head"/>
          <p:cNvSpPr txBox="1"/>
          <p:nvPr/>
        </p:nvSpPr>
        <p:spPr>
          <a:xfrm>
            <a:off x="1143000" y="1508760"/>
            <a:ext cx="4632808" cy="640080"/>
          </a:xfrm>
          <a:prstGeom prst="rect">
            <a:avLst/>
          </a:prstGeom>
          <a:noFill/>
          <a:ln/>
        </p:spPr>
        <p:txBody>
          <a:bodyPr wrap="square" lIns="0" tIns="0" rIns="0" bIns="0" rtlCol="0" anchor="ctr"/>
          <a:lstStyle/>
          <a:p>
            <a:pPr algn="l" indent="0" marL="0">
              <a:buNone/>
            </a:pPr>
            <a:r>
              <a:rPr lang="en-US" sz="1800" b="1" dirty="0">
                <a:solidFill>
                  <a:schemeClr val="bg1"/>
                </a:solidFill>
                <a:latin typeface="+mj-lt" pitchFamily="34" charset="0"/>
                <a:ea typeface="+mj-lt" pitchFamily="34" charset="-122"/>
                <a:cs typeface="+mj-lt" pitchFamily="34" charset="-120"/>
              </a:rPr>
              <a:t>What the log holds, per pose</a:t>
            </a:r>
            <a:endParaRPr lang="en-US" sz="1800" dirty="0"/>
          </a:p>
        </p:txBody>
      </p:sp>
      <p:sp>
        <p:nvSpPr>
          <p:cNvPr id="8" name="Option 1 points"/>
          <p:cNvSpPr txBox="1"/>
          <p:nvPr/>
        </p:nvSpPr>
        <p:spPr>
          <a:xfrm>
            <a:off x="685800" y="2331720"/>
            <a:ext cx="5044288" cy="2560320"/>
          </a:xfrm>
          <a:prstGeom prst="rect">
            <a:avLst/>
          </a:prstGeom>
          <a:noFill/>
          <a:ln/>
        </p:spPr>
        <p:txBody>
          <a:bodyPr wrap="square" lIns="0" tIns="0" rIns="0" bIns="0" rtlCol="0" anchor="t"/>
          <a:lstStyle/>
          <a:p>
            <a:pPr algn="l" marL="177800" indent="-177800">
              <a:spcAft>
                <a:spcPts val="600"/>
              </a:spcAft>
              <a:buSzPct val="100000"/>
              <a:buChar char="•"/>
            </a:pPr>
            <a:r>
              <a:rPr lang="en-US" sz="1600" dirty="0">
                <a:solidFill>
                  <a:schemeClr val="tx1"/>
                </a:solidFill>
              </a:rPr>
              <a:t>procedure, target_id, gap_mm, station_z_mm, field, pose_index, frames: exactly the plan row, which also names the files</a:t>
            </a:r>
            <a:endParaRPr lang="en-US" sz="1600" dirty="0"/>
          </a:p>
          <a:p>
            <a:pPr algn="l" marL="177800" indent="-177800">
              <a:spcAft>
                <a:spcPts val="600"/>
              </a:spcAft>
              <a:buSzPct val="100000"/>
              <a:buChar char="•"/>
            </a:pPr>
            <a:r>
              <a:rPr lang="en-US" sz="1600" dirty="0">
                <a:solidFill>
                  <a:schemeClr val="tx1"/>
                </a:solidFill>
              </a:rPr>
              <a:t>x_mm, y_mm, z_mm: the REPORTED flange position in the base frame, at least 2 decimals</a:t>
            </a:r>
            <a:endParaRPr lang="en-US" sz="1600" dirty="0"/>
          </a:p>
          <a:p>
            <a:pPr algn="l" marL="177800" indent="-177800">
              <a:spcAft>
                <a:spcPts val="600"/>
              </a:spcAft>
              <a:buSzPct val="100000"/>
              <a:buChar char="•"/>
            </a:pPr>
            <a:r>
              <a:rPr lang="en-US" sz="1600" dirty="0">
                <a:solidFill>
                  <a:schemeClr val="tx1"/>
                </a:solidFill>
              </a:rPr>
              <a:t>rotation_type and r1 to r9: the orientation in the controller's own form</a:t>
            </a:r>
            <a:endParaRPr lang="en-US" sz="1600" dirty="0"/>
          </a:p>
          <a:p>
            <a:pPr algn="l" marL="177800" indent="-177800">
              <a:spcAft>
                <a:spcPts val="600"/>
              </a:spcAft>
              <a:buSzPct val="100000"/>
              <a:buChar char="•"/>
            </a:pPr>
            <a:r>
              <a:rPr lang="en-US" sz="1600" dirty="0">
                <a:solidFill>
                  <a:schemeClr val="tx1"/>
                </a:solidFill>
              </a:rPr>
              <a:t>timestamp, sensor_temp_c, air_temp_c</a:t>
            </a:r>
            <a:endParaRPr lang="en-US" sz="1600" dirty="0"/>
          </a:p>
        </p:txBody>
      </p:sp>
      <p:sp>
        <p:nvSpPr>
          <p:cNvPr id="9" name="Option 2 card"/>
          <p:cNvSpPr/>
          <p:nvPr/>
        </p:nvSpPr>
        <p:spPr>
          <a:xfrm>
            <a:off x="6233008" y="1417320"/>
            <a:ext cx="5501488" cy="3703320"/>
          </a:xfrm>
          <a:prstGeom prst="roundRect">
            <a:avLst>
              <a:gd name="adj" fmla="val 2963"/>
            </a:avLst>
          </a:prstGeom>
          <a:solidFill>
            <a:schemeClr val="bg2"/>
          </a:solidFill>
          <a:ln/>
        </p:spPr>
      </p:sp>
      <p:sp>
        <p:nvSpPr>
          <p:cNvPr id="10" name="Option 2 header block"/>
          <p:cNvSpPr/>
          <p:nvPr/>
        </p:nvSpPr>
        <p:spPr>
          <a:xfrm>
            <a:off x="6324448" y="1508760"/>
            <a:ext cx="5318608" cy="640080"/>
          </a:xfrm>
          <a:prstGeom prst="roundRect">
            <a:avLst>
              <a:gd name="adj" fmla="val 17143"/>
            </a:avLst>
          </a:prstGeom>
          <a:solidFill>
            <a:schemeClr val="tx2"/>
          </a:solidFill>
          <a:ln/>
        </p:spPr>
      </p:sp>
      <p:sp>
        <p:nvSpPr>
          <p:cNvPr id="11" name="Option 2 icon circle"/>
          <p:cNvSpPr/>
          <p:nvPr/>
        </p:nvSpPr>
        <p:spPr>
          <a:xfrm>
            <a:off x="6415888" y="1623060"/>
            <a:ext cx="411480" cy="411480"/>
          </a:xfrm>
          <a:prstGeom prst="ellipse">
            <a:avLst/>
          </a:prstGeom>
          <a:solidFill>
            <a:schemeClr val="accent1"/>
          </a:solidFill>
          <a:ln/>
        </p:spPr>
      </p:sp>
      <p:pic>
        <p:nvPicPr>
          <p:cNvPr id="12" name="Option 2 icon glyph" descr="fileList icon">    </p:cNvPr>
          <p:cNvPicPr>
            <a:picLocks noChangeAspect="1"/>
          </p:cNvPicPr>
          <p:nvPr/>
        </p:nvPicPr>
        <p:blipFill>
          <a:blip r:embed="rId2"/>
          <a:stretch>
            <a:fillRect/>
          </a:stretch>
        </p:blipFill>
        <p:spPr>
          <a:xfrm>
            <a:off x="6518758" y="1725930"/>
            <a:ext cx="205740" cy="205740"/>
          </a:xfrm>
          <a:prstGeom prst="rect">
            <a:avLst/>
          </a:prstGeom>
        </p:spPr>
      </p:pic>
      <p:sp>
        <p:nvSpPr>
          <p:cNvPr id="13" name="Option 2 head"/>
          <p:cNvSpPr txBox="1"/>
          <p:nvPr/>
        </p:nvSpPr>
        <p:spPr>
          <a:xfrm>
            <a:off x="6918808" y="1508760"/>
            <a:ext cx="4632808" cy="640080"/>
          </a:xfrm>
          <a:prstGeom prst="rect">
            <a:avLst/>
          </a:prstGeom>
          <a:noFill/>
          <a:ln/>
        </p:spPr>
        <p:txBody>
          <a:bodyPr wrap="square" lIns="0" tIns="0" rIns="0" bIns="0" rtlCol="0" anchor="ctr"/>
          <a:lstStyle/>
          <a:p>
            <a:pPr algn="l" indent="0" marL="0">
              <a:buNone/>
            </a:pPr>
            <a:r>
              <a:rPr lang="en-US" sz="1800" b="1" dirty="0">
                <a:solidFill>
                  <a:schemeClr val="bg1"/>
                </a:solidFill>
                <a:latin typeface="+mj-lt" pitchFamily="34" charset="0"/>
                <a:ea typeface="+mj-lt" pitchFamily="34" charset="-122"/>
                <a:cs typeface="+mj-lt" pitchFamily="34" charset="-120"/>
              </a:rPr>
              <a:t>Rotation forms the tools accept</a:t>
            </a:r>
            <a:endParaRPr lang="en-US" sz="1800" dirty="0"/>
          </a:p>
        </p:txBody>
      </p:sp>
      <p:sp>
        <p:nvSpPr>
          <p:cNvPr id="14" name="Option 2 points"/>
          <p:cNvSpPr txBox="1"/>
          <p:nvPr/>
        </p:nvSpPr>
        <p:spPr>
          <a:xfrm>
            <a:off x="6461608" y="2331720"/>
            <a:ext cx="5044288" cy="2560320"/>
          </a:xfrm>
          <a:prstGeom prst="rect">
            <a:avLst/>
          </a:prstGeom>
          <a:noFill/>
          <a:ln/>
        </p:spPr>
        <p:txBody>
          <a:bodyPr wrap="square" lIns="0" tIns="0" rIns="0" bIns="0" rtlCol="0" anchor="t"/>
          <a:lstStyle/>
          <a:p>
            <a:pPr algn="l" marL="177800" indent="-177800">
              <a:spcAft>
                <a:spcPts val="600"/>
              </a:spcAft>
              <a:buSzPct val="100000"/>
              <a:buChar char="•"/>
            </a:pPr>
            <a:r>
              <a:rPr lang="en-US" sz="1600" dirty="0">
                <a:solidFill>
                  <a:schemeClr val="tx1"/>
                </a:solidFill>
              </a:rPr>
              <a:t>quaternion_wxyz (ABB) or quaternion_xyzw</a:t>
            </a:r>
            <a:endParaRPr lang="en-US" sz="1600" dirty="0"/>
          </a:p>
          <a:p>
            <a:pPr algn="l" marL="177800" indent="-177800">
              <a:spcAft>
                <a:spcPts val="600"/>
              </a:spcAft>
              <a:buSzPct val="100000"/>
              <a:buChar char="•"/>
            </a:pPr>
            <a:r>
              <a:rPr lang="en-US" sz="1600" dirty="0">
                <a:solidFill>
                  <a:schemeClr val="tx1"/>
                </a:solidFill>
              </a:rPr>
              <a:t>euler_zyx_deg: KUKA A, B, C</a:t>
            </a:r>
            <a:endParaRPr lang="en-US" sz="1600" dirty="0"/>
          </a:p>
          <a:p>
            <a:pPr algn="l" marL="177800" indent="-177800">
              <a:spcAft>
                <a:spcPts val="600"/>
              </a:spcAft>
              <a:buSzPct val="100000"/>
              <a:buChar char="•"/>
            </a:pPr>
            <a:r>
              <a:rPr lang="en-US" sz="1600" dirty="0">
                <a:solidFill>
                  <a:schemeClr val="tx1"/>
                </a:solidFill>
              </a:rPr>
              <a:t>fixed_xyz_deg: FANUC W, P, R</a:t>
            </a:r>
            <a:endParaRPr lang="en-US" sz="1600" dirty="0"/>
          </a:p>
          <a:p>
            <a:pPr algn="l" marL="177800" indent="-177800">
              <a:spcAft>
                <a:spcPts val="600"/>
              </a:spcAft>
              <a:buSzPct val="100000"/>
              <a:buChar char="•"/>
            </a:pPr>
            <a:r>
              <a:rPr lang="en-US" sz="1600" dirty="0">
                <a:solidFill>
                  <a:schemeClr val="tx1"/>
                </a:solidFill>
              </a:rPr>
              <a:t>rotvec_deg: Universal Robots, in degrees</a:t>
            </a:r>
            <a:endParaRPr lang="en-US" sz="1600" dirty="0"/>
          </a:p>
          <a:p>
            <a:pPr algn="l" marL="177800" indent="-177800">
              <a:spcAft>
                <a:spcPts val="600"/>
              </a:spcAft>
              <a:buSzPct val="100000"/>
              <a:buChar char="•"/>
            </a:pPr>
            <a:r>
              <a:rPr lang="en-US" sz="1600" dirty="0">
                <a:solidFill>
                  <a:schemeClr val="tx1"/>
                </a:solidFill>
              </a:rPr>
              <a:t>matrix: nine numbers, row by row</a:t>
            </a:r>
            <a:endParaRPr lang="en-US" sz="1600" dirty="0"/>
          </a:p>
          <a:p>
            <a:pPr algn="l" marL="177800" indent="-177800">
              <a:spcAft>
                <a:spcPts val="600"/>
              </a:spcAft>
              <a:buSzPct val="100000"/>
              <a:buChar char="•"/>
            </a:pPr>
            <a:r>
              <a:rPr lang="en-US" sz="1600" dirty="0">
                <a:solidFill>
                  <a:schemeClr val="tx1"/>
                </a:solidFill>
              </a:rPr>
              <a:t>make_manifest converts them all and names every file or pose that does not match</a:t>
            </a:r>
            <a:endParaRPr lang="en-US" sz="1600" dirty="0"/>
          </a:p>
        </p:txBody>
      </p:sp>
      <p:sp>
        <p:nvSpPr>
          <p:cNvPr id="15" name="Example box"/>
          <p:cNvSpPr/>
          <p:nvPr/>
        </p:nvSpPr>
        <p:spPr>
          <a:xfrm>
            <a:off x="457200" y="5394960"/>
            <a:ext cx="11277295" cy="731520"/>
          </a:xfrm>
          <a:prstGeom prst="roundRect">
            <a:avLst>
              <a:gd name="adj" fmla="val 15000"/>
            </a:avLst>
          </a:prstGeom>
          <a:solidFill>
            <a:schemeClr val="bg2"/>
          </a:solidFill>
          <a:ln w="12700">
            <a:solidFill>
              <a:schemeClr val="accent6"/>
            </a:solidFill>
            <a:prstDash val="solid"/>
          </a:ln>
        </p:spPr>
      </p:sp>
      <p:sp>
        <p:nvSpPr>
          <p:cNvPr id="16" name="Example icon circle"/>
          <p:cNvSpPr/>
          <p:nvPr/>
        </p:nvSpPr>
        <p:spPr>
          <a:xfrm>
            <a:off x="640080" y="5509260"/>
            <a:ext cx="502920" cy="502920"/>
          </a:xfrm>
          <a:prstGeom prst="ellipse">
            <a:avLst/>
          </a:prstGeom>
          <a:solidFill>
            <a:schemeClr val="accent2"/>
          </a:solidFill>
          <a:ln/>
        </p:spPr>
      </p:sp>
      <p:pic>
        <p:nvPicPr>
          <p:cNvPr id="17" name="Example icon glyph" descr="fileAlt icon">    </p:cNvPr>
          <p:cNvPicPr>
            <a:picLocks noChangeAspect="1"/>
          </p:cNvPicPr>
          <p:nvPr/>
        </p:nvPicPr>
        <p:blipFill>
          <a:blip r:embed="rId3"/>
          <a:stretch>
            <a:fillRect/>
          </a:stretch>
        </p:blipFill>
        <p:spPr>
          <a:xfrm>
            <a:off x="765810" y="5634990"/>
            <a:ext cx="251460" cy="251460"/>
          </a:xfrm>
          <a:prstGeom prst="rect">
            <a:avLst/>
          </a:prstGeom>
        </p:spPr>
      </p:pic>
      <p:sp>
        <p:nvSpPr>
          <p:cNvPr id="18" name="Pose-log example line"/>
          <p:cNvSpPr txBox="1"/>
          <p:nvPr/>
        </p:nvSpPr>
        <p:spPr>
          <a:xfrm>
            <a:off x="1325880" y="5394960"/>
            <a:ext cx="10225735" cy="731520"/>
          </a:xfrm>
          <a:prstGeom prst="rect">
            <a:avLst/>
          </a:prstGeom>
          <a:noFill/>
          <a:ln/>
        </p:spPr>
        <p:txBody>
          <a:bodyPr wrap="square" lIns="0" tIns="0" rIns="0" bIns="0" rtlCol="0" anchor="ctr"/>
          <a:lstStyle/>
          <a:p>
            <a:pPr algn="l" indent="0" marL="0">
              <a:buNone/>
            </a:pPr>
            <a:r>
              <a:rPr lang="en-US" sz="1400" dirty="0">
                <a:solidFill>
                  <a:schemeClr val="tx1"/>
                </a:solidFill>
                <a:latin typeface="Courier New" pitchFamily="34" charset="0"/>
                <a:ea typeface="Courier New" pitchFamily="34" charset="-122"/>
                <a:cs typeface="Courier New" pitchFamily="34" charset="-120"/>
              </a:rPr>
              <a:t>C,T5,15,800,0,17,10,812.40,-33.21,455.02,euler_zyx_deg,-91.3,19.8,0.4,</a:t>
            </a:r>
            <a:endParaRPr lang="en-US" sz="14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nchor="b"/>
          <a:lstStyle>
            <a:lvl1pPr>
              <a:defRPr sz="12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11277295" cy="685800"/>
          </a:xfrm>
          <a:prstGeom prst="rect">
            <a:avLst/>
          </a:prstGeom>
          <a:noFill/>
          <a:ln/>
        </p:spPr>
        <p:txBody>
          <a:bodyPr wrap="square" lIns="0" tIns="0" rIns="0" bIns="0" rtlCol="0" anchor="t"/>
          <a:lstStyle/>
          <a:p>
            <a:pPr algn="l" indent="0" marL="0">
              <a:buNone/>
            </a:pPr>
            <a:r>
              <a:rPr lang="en-US" sz="3400" b="1" dirty="0">
                <a:solidFill>
                  <a:schemeClr val="tx2"/>
                </a:solidFill>
                <a:latin typeface="+mj-lt" pitchFamily="34" charset="0"/>
                <a:ea typeface="+mj-lt" pitchFamily="34" charset="-122"/>
                <a:cs typeface="+mj-lt" pitchFamily="34" charset="-120"/>
              </a:rPr>
              <a:t>Check each series while the targets are still set up</a:t>
            </a:r>
            <a:endParaRPr lang="en-US" sz="3400" dirty="0"/>
          </a:p>
        </p:txBody>
      </p:sp>
      <p:sp>
        <p:nvSpPr>
          <p:cNvPr id="3" name="Check 1 card"/>
          <p:cNvSpPr/>
          <p:nvPr/>
        </p:nvSpPr>
        <p:spPr>
          <a:xfrm>
            <a:off x="457200" y="1417320"/>
            <a:ext cx="3576218" cy="2081784"/>
          </a:xfrm>
          <a:prstGeom prst="roundRect">
            <a:avLst>
              <a:gd name="adj" fmla="val 5271"/>
            </a:avLst>
          </a:prstGeom>
          <a:solidFill>
            <a:schemeClr val="bg1"/>
          </a:solidFill>
          <a:ln w="12700">
            <a:solidFill>
              <a:schemeClr val="accent6"/>
            </a:solidFill>
            <a:prstDash val="solid"/>
          </a:ln>
        </p:spPr>
      </p:sp>
      <p:sp>
        <p:nvSpPr>
          <p:cNvPr id="4" name="Check 1 icon circle"/>
          <p:cNvSpPr/>
          <p:nvPr/>
        </p:nvSpPr>
        <p:spPr>
          <a:xfrm>
            <a:off x="594360" y="1554480"/>
            <a:ext cx="640080" cy="640080"/>
          </a:xfrm>
          <a:prstGeom prst="ellipse">
            <a:avLst/>
          </a:prstGeom>
          <a:solidFill>
            <a:schemeClr val="accent4"/>
          </a:solidFill>
          <a:ln/>
        </p:spPr>
      </p:sp>
      <p:pic>
        <p:nvPicPr>
          <p:cNvPr id="5" name="Check 1 icon glyph" descr="warning icon">    </p:cNvPr>
          <p:cNvPicPr>
            <a:picLocks noChangeAspect="1"/>
          </p:cNvPicPr>
          <p:nvPr/>
        </p:nvPicPr>
        <p:blipFill>
          <a:blip r:embed="rId1"/>
          <a:stretch>
            <a:fillRect/>
          </a:stretch>
        </p:blipFill>
        <p:spPr>
          <a:xfrm>
            <a:off x="754380" y="1714500"/>
            <a:ext cx="320040" cy="320040"/>
          </a:xfrm>
          <a:prstGeom prst="rect">
            <a:avLst/>
          </a:prstGeom>
        </p:spPr>
      </p:pic>
      <p:sp>
        <p:nvSpPr>
          <p:cNvPr id="6" name="Check 1 text"/>
          <p:cNvSpPr txBox="1"/>
          <p:nvPr/>
        </p:nvSpPr>
        <p:spPr>
          <a:xfrm>
            <a:off x="1417320" y="1554480"/>
            <a:ext cx="2478938" cy="1807464"/>
          </a:xfrm>
          <a:prstGeom prst="rect">
            <a:avLst/>
          </a:prstGeom>
          <a:noFill/>
          <a:ln/>
        </p:spPr>
        <p:txBody>
          <a:bodyPr wrap="square" lIns="0" tIns="0" rIns="0" bIns="0" rtlCol="0" anchor="t"/>
          <a:lstStyle/>
          <a:p>
            <a:pPr algn="l" indent="0" marL="0">
              <a:spcAft>
                <a:spcPts val="300"/>
              </a:spcAft>
              <a:buNone/>
            </a:pPr>
            <a:r>
              <a:rPr lang="en-US" sz="1800" b="1" dirty="0">
                <a:solidFill>
                  <a:schemeClr val="tx2"/>
                </a:solidFill>
              </a:rPr>
              <a:t>Low valid fraction</a:t>
            </a:r>
            <a:endParaRPr lang="en-US" sz="1600" dirty="0"/>
          </a:p>
          <a:p>
            <a:pPr algn="l" indent="0" marL="0">
              <a:spcAft>
                <a:spcPts val="300"/>
              </a:spcAft>
              <a:buNone/>
            </a:pPr>
            <a:r>
              <a:rPr lang="en-US" sz="1600" b="1" dirty="0">
                <a:solidFill>
                  <a:schemeClr val="accent1"/>
                </a:solidFill>
              </a:rPr>
              <a:t>below half of the target's pixels</a:t>
            </a:r>
            <a:endParaRPr lang="en-US" sz="1600" dirty="0"/>
          </a:p>
          <a:p>
            <a:pPr algn="l" indent="0" marL="0">
              <a:buNone/>
            </a:pPr>
            <a:r>
              <a:rPr lang="en-US" sz="1400" dirty="0">
                <a:solidFill>
                  <a:schemeClr val="tx1"/>
                </a:solidFill>
              </a:rPr>
              <a:t>Exposure, or the target was outside the field</a:t>
            </a:r>
            <a:endParaRPr lang="en-US" sz="1600" dirty="0"/>
          </a:p>
        </p:txBody>
      </p:sp>
      <p:sp>
        <p:nvSpPr>
          <p:cNvPr id="7" name="Check 2 card"/>
          <p:cNvSpPr/>
          <p:nvPr/>
        </p:nvSpPr>
        <p:spPr>
          <a:xfrm>
            <a:off x="4307738" y="1417320"/>
            <a:ext cx="3576218" cy="2081784"/>
          </a:xfrm>
          <a:prstGeom prst="roundRect">
            <a:avLst>
              <a:gd name="adj" fmla="val 5271"/>
            </a:avLst>
          </a:prstGeom>
          <a:solidFill>
            <a:schemeClr val="bg1"/>
          </a:solidFill>
          <a:ln w="12700">
            <a:solidFill>
              <a:schemeClr val="accent6"/>
            </a:solidFill>
            <a:prstDash val="solid"/>
          </a:ln>
        </p:spPr>
      </p:sp>
      <p:sp>
        <p:nvSpPr>
          <p:cNvPr id="8" name="Check 2 icon circle"/>
          <p:cNvSpPr/>
          <p:nvPr/>
        </p:nvSpPr>
        <p:spPr>
          <a:xfrm>
            <a:off x="4444898" y="1554480"/>
            <a:ext cx="640080" cy="640080"/>
          </a:xfrm>
          <a:prstGeom prst="ellipse">
            <a:avLst/>
          </a:prstGeom>
          <a:solidFill>
            <a:schemeClr val="accent4"/>
          </a:solidFill>
          <a:ln/>
        </p:spPr>
      </p:sp>
      <p:pic>
        <p:nvPicPr>
          <p:cNvPr id="9" name="Check 2 icon glyph" descr="warning icon">    </p:cNvPr>
          <p:cNvPicPr>
            <a:picLocks noChangeAspect="1"/>
          </p:cNvPicPr>
          <p:nvPr/>
        </p:nvPicPr>
        <p:blipFill>
          <a:blip r:embed="rId2"/>
          <a:stretch>
            <a:fillRect/>
          </a:stretch>
        </p:blipFill>
        <p:spPr>
          <a:xfrm>
            <a:off x="4604918" y="1714500"/>
            <a:ext cx="320040" cy="320040"/>
          </a:xfrm>
          <a:prstGeom prst="rect">
            <a:avLst/>
          </a:prstGeom>
        </p:spPr>
      </p:pic>
      <p:sp>
        <p:nvSpPr>
          <p:cNvPr id="10" name="Check 2 text"/>
          <p:cNvSpPr txBox="1"/>
          <p:nvPr/>
        </p:nvSpPr>
        <p:spPr>
          <a:xfrm>
            <a:off x="5267858" y="1554480"/>
            <a:ext cx="2478938" cy="1807464"/>
          </a:xfrm>
          <a:prstGeom prst="rect">
            <a:avLst/>
          </a:prstGeom>
          <a:noFill/>
          <a:ln/>
        </p:spPr>
        <p:txBody>
          <a:bodyPr wrap="square" lIns="0" tIns="0" rIns="0" bIns="0" rtlCol="0" anchor="t"/>
          <a:lstStyle/>
          <a:p>
            <a:pPr algn="l" indent="0" marL="0">
              <a:spcAft>
                <a:spcPts val="300"/>
              </a:spcAft>
              <a:buNone/>
            </a:pPr>
            <a:r>
              <a:rPr lang="en-US" sz="1800" b="1" dirty="0">
                <a:solidFill>
                  <a:schemeClr val="tx2"/>
                </a:solidFill>
              </a:rPr>
              <a:t>Outline crossing the border</a:t>
            </a:r>
            <a:endParaRPr lang="en-US" sz="1600" dirty="0"/>
          </a:p>
          <a:p>
            <a:pPr algn="l" indent="0" marL="0">
              <a:spcAft>
                <a:spcPts val="300"/>
              </a:spcAft>
              <a:buNone/>
            </a:pPr>
            <a:r>
              <a:rPr lang="en-US" sz="1600" b="1" dirty="0">
                <a:solidFill>
                  <a:schemeClr val="accent1"/>
                </a:solidFill>
              </a:rPr>
              <a:t>a disk, cutout or square cut off</a:t>
            </a:r>
            <a:endParaRPr lang="en-US" sz="1600" dirty="0"/>
          </a:p>
          <a:p>
            <a:pPr algn="l" indent="0" marL="0">
              <a:buNone/>
            </a:pPr>
            <a:r>
              <a:rPr lang="en-US" sz="1400" dirty="0">
                <a:solidFill>
                  <a:schemeClr val="tx1"/>
                </a:solidFill>
              </a:rPr>
              <a:t>The pose is unusable; ask the engineer to re-plan it slightly inward</a:t>
            </a:r>
            <a:endParaRPr lang="en-US" sz="1600" dirty="0"/>
          </a:p>
        </p:txBody>
      </p:sp>
      <p:sp>
        <p:nvSpPr>
          <p:cNvPr id="11" name="Check 3 card"/>
          <p:cNvSpPr/>
          <p:nvPr/>
        </p:nvSpPr>
        <p:spPr>
          <a:xfrm>
            <a:off x="8158277" y="1417320"/>
            <a:ext cx="3576218" cy="2081784"/>
          </a:xfrm>
          <a:prstGeom prst="roundRect">
            <a:avLst>
              <a:gd name="adj" fmla="val 5271"/>
            </a:avLst>
          </a:prstGeom>
          <a:solidFill>
            <a:schemeClr val="bg1"/>
          </a:solidFill>
          <a:ln w="12700">
            <a:solidFill>
              <a:schemeClr val="accent6"/>
            </a:solidFill>
            <a:prstDash val="solid"/>
          </a:ln>
        </p:spPr>
      </p:sp>
      <p:sp>
        <p:nvSpPr>
          <p:cNvPr id="12" name="Check 3 icon circle"/>
          <p:cNvSpPr/>
          <p:nvPr/>
        </p:nvSpPr>
        <p:spPr>
          <a:xfrm>
            <a:off x="8295437" y="1554480"/>
            <a:ext cx="640080" cy="640080"/>
          </a:xfrm>
          <a:prstGeom prst="ellipse">
            <a:avLst/>
          </a:prstGeom>
          <a:solidFill>
            <a:schemeClr val="accent4"/>
          </a:solidFill>
          <a:ln/>
        </p:spPr>
      </p:sp>
      <p:pic>
        <p:nvPicPr>
          <p:cNvPr id="13" name="Check 3 icon glyph" descr="warning icon">    </p:cNvPr>
          <p:cNvPicPr>
            <a:picLocks noChangeAspect="1"/>
          </p:cNvPicPr>
          <p:nvPr/>
        </p:nvPicPr>
        <p:blipFill>
          <a:blip r:embed="rId3"/>
          <a:stretch>
            <a:fillRect/>
          </a:stretch>
        </p:blipFill>
        <p:spPr>
          <a:xfrm>
            <a:off x="8455457" y="1714500"/>
            <a:ext cx="320040" cy="320040"/>
          </a:xfrm>
          <a:prstGeom prst="rect">
            <a:avLst/>
          </a:prstGeom>
        </p:spPr>
      </p:pic>
      <p:sp>
        <p:nvSpPr>
          <p:cNvPr id="14" name="Check 3 text"/>
          <p:cNvSpPr txBox="1"/>
          <p:nvPr/>
        </p:nvSpPr>
        <p:spPr>
          <a:xfrm>
            <a:off x="9118397" y="1554480"/>
            <a:ext cx="2478938" cy="1807464"/>
          </a:xfrm>
          <a:prstGeom prst="rect">
            <a:avLst/>
          </a:prstGeom>
          <a:noFill/>
          <a:ln/>
        </p:spPr>
        <p:txBody>
          <a:bodyPr wrap="square" lIns="0" tIns="0" rIns="0" bIns="0" rtlCol="0" anchor="t"/>
          <a:lstStyle/>
          <a:p>
            <a:pPr algn="l" indent="0" marL="0">
              <a:spcAft>
                <a:spcPts val="300"/>
              </a:spcAft>
              <a:buNone/>
            </a:pPr>
            <a:r>
              <a:rPr lang="en-US" sz="1800" b="1" dirty="0">
                <a:solidFill>
                  <a:schemeClr val="tx2"/>
                </a:solidFill>
              </a:rPr>
              <a:t>Target not in the field</a:t>
            </a:r>
            <a:endParaRPr lang="en-US" sz="1600" dirty="0"/>
          </a:p>
          <a:p>
            <a:pPr algn="l" indent="0" marL="0">
              <a:spcAft>
                <a:spcPts val="300"/>
              </a:spcAft>
              <a:buNone/>
            </a:pPr>
            <a:r>
              <a:rPr lang="en-US" sz="1600" b="1" dirty="0">
                <a:solidFill>
                  <a:schemeClr val="accent1"/>
                </a:solidFill>
              </a:rPr>
              <a:t>registered target absent</a:t>
            </a:r>
            <a:endParaRPr lang="en-US" sz="1600" dirty="0"/>
          </a:p>
          <a:p>
            <a:pPr algn="l" indent="0" marL="0">
              <a:buNone/>
            </a:pPr>
            <a:r>
              <a:rPr lang="en-US" sz="1400" dirty="0">
                <a:solidFill>
                  <a:schemeClr val="tx1"/>
                </a:solidFill>
              </a:rPr>
              <a:t>The manifest or the registration is wrong for that pose</a:t>
            </a:r>
            <a:endParaRPr lang="en-US" sz="1600" dirty="0"/>
          </a:p>
        </p:txBody>
      </p:sp>
      <p:sp>
        <p:nvSpPr>
          <p:cNvPr id="15" name="Check 4 card"/>
          <p:cNvSpPr/>
          <p:nvPr/>
        </p:nvSpPr>
        <p:spPr>
          <a:xfrm>
            <a:off x="457200" y="3681984"/>
            <a:ext cx="5501488" cy="1807464"/>
          </a:xfrm>
          <a:prstGeom prst="roundRect">
            <a:avLst>
              <a:gd name="adj" fmla="val 6071"/>
            </a:avLst>
          </a:prstGeom>
          <a:solidFill>
            <a:schemeClr val="bg1"/>
          </a:solidFill>
          <a:ln w="12700">
            <a:solidFill>
              <a:schemeClr val="accent6"/>
            </a:solidFill>
            <a:prstDash val="solid"/>
          </a:ln>
        </p:spPr>
      </p:sp>
      <p:sp>
        <p:nvSpPr>
          <p:cNvPr id="16" name="Check 4 icon circle"/>
          <p:cNvSpPr/>
          <p:nvPr/>
        </p:nvSpPr>
        <p:spPr>
          <a:xfrm>
            <a:off x="594360" y="3819144"/>
            <a:ext cx="640080" cy="640080"/>
          </a:xfrm>
          <a:prstGeom prst="ellipse">
            <a:avLst/>
          </a:prstGeom>
          <a:solidFill>
            <a:schemeClr val="accent4"/>
          </a:solidFill>
          <a:ln/>
        </p:spPr>
      </p:sp>
      <p:pic>
        <p:nvPicPr>
          <p:cNvPr id="17" name="Check 4 icon glyph" descr="warning icon">    </p:cNvPr>
          <p:cNvPicPr>
            <a:picLocks noChangeAspect="1"/>
          </p:cNvPicPr>
          <p:nvPr/>
        </p:nvPicPr>
        <p:blipFill>
          <a:blip r:embed="rId4"/>
          <a:stretch>
            <a:fillRect/>
          </a:stretch>
        </p:blipFill>
        <p:spPr>
          <a:xfrm>
            <a:off x="754380" y="3979164"/>
            <a:ext cx="320040" cy="320040"/>
          </a:xfrm>
          <a:prstGeom prst="rect">
            <a:avLst/>
          </a:prstGeom>
        </p:spPr>
      </p:pic>
      <p:sp>
        <p:nvSpPr>
          <p:cNvPr id="18" name="Check 4 text"/>
          <p:cNvSpPr txBox="1"/>
          <p:nvPr/>
        </p:nvSpPr>
        <p:spPr>
          <a:xfrm>
            <a:off x="1417320" y="3819144"/>
            <a:ext cx="4404208" cy="1533144"/>
          </a:xfrm>
          <a:prstGeom prst="rect">
            <a:avLst/>
          </a:prstGeom>
          <a:noFill/>
          <a:ln/>
        </p:spPr>
        <p:txBody>
          <a:bodyPr wrap="square" lIns="0" tIns="0" rIns="0" bIns="0" rtlCol="0" anchor="t"/>
          <a:lstStyle/>
          <a:p>
            <a:pPr algn="l" indent="0" marL="0">
              <a:spcAft>
                <a:spcPts val="300"/>
              </a:spcAft>
              <a:buNone/>
            </a:pPr>
            <a:r>
              <a:rPr lang="en-US" sz="1800" b="1" dirty="0">
                <a:solidFill>
                  <a:schemeClr val="tx2"/>
                </a:solidFill>
              </a:rPr>
              <a:t>Plane fit or plane position</a:t>
            </a:r>
            <a:endParaRPr lang="en-US" sz="1600" dirty="0"/>
          </a:p>
          <a:p>
            <a:pPr algn="l" indent="0" marL="0">
              <a:spcAft>
                <a:spcPts val="300"/>
              </a:spcAft>
              <a:buNone/>
            </a:pPr>
            <a:r>
              <a:rPr lang="en-US" sz="1600" b="1" dirty="0">
                <a:solidFill>
                  <a:schemeClr val="accent1"/>
                </a:solidFill>
              </a:rPr>
              <a:t>residual too large; plane far from the registered one</a:t>
            </a:r>
            <a:endParaRPr lang="en-US" sz="1600" dirty="0"/>
          </a:p>
          <a:p>
            <a:pPr algn="l" indent="0" marL="0">
              <a:buNone/>
            </a:pPr>
            <a:r>
              <a:rPr lang="en-US" sz="1400" dirty="0">
                <a:solidFill>
                  <a:schemeClr val="tx1"/>
                </a:solidFill>
              </a:rPr>
              <a:t>A wrongly classified plane, a wrong pose, a wrong registration or a target that moved; the limits are loose on purpose</a:t>
            </a:r>
            <a:endParaRPr lang="en-US" sz="1600" dirty="0"/>
          </a:p>
        </p:txBody>
      </p:sp>
      <p:sp>
        <p:nvSpPr>
          <p:cNvPr id="19" name="Check 5 card"/>
          <p:cNvSpPr/>
          <p:nvPr/>
        </p:nvSpPr>
        <p:spPr>
          <a:xfrm>
            <a:off x="6233008" y="3681984"/>
            <a:ext cx="5501488" cy="1807464"/>
          </a:xfrm>
          <a:prstGeom prst="roundRect">
            <a:avLst>
              <a:gd name="adj" fmla="val 6071"/>
            </a:avLst>
          </a:prstGeom>
          <a:solidFill>
            <a:schemeClr val="bg1"/>
          </a:solidFill>
          <a:ln w="12700">
            <a:solidFill>
              <a:schemeClr val="accent6"/>
            </a:solidFill>
            <a:prstDash val="solid"/>
          </a:ln>
        </p:spPr>
      </p:sp>
      <p:sp>
        <p:nvSpPr>
          <p:cNvPr id="20" name="Check 5 icon circle"/>
          <p:cNvSpPr/>
          <p:nvPr/>
        </p:nvSpPr>
        <p:spPr>
          <a:xfrm>
            <a:off x="6370168" y="3819144"/>
            <a:ext cx="640080" cy="640080"/>
          </a:xfrm>
          <a:prstGeom prst="ellipse">
            <a:avLst/>
          </a:prstGeom>
          <a:solidFill>
            <a:schemeClr val="accent4"/>
          </a:solidFill>
          <a:ln/>
        </p:spPr>
      </p:sp>
      <p:pic>
        <p:nvPicPr>
          <p:cNvPr id="21" name="Check 5 icon glyph" descr="warning icon">    </p:cNvPr>
          <p:cNvPicPr>
            <a:picLocks noChangeAspect="1"/>
          </p:cNvPicPr>
          <p:nvPr/>
        </p:nvPicPr>
        <p:blipFill>
          <a:blip r:embed="rId5"/>
          <a:stretch>
            <a:fillRect/>
          </a:stretch>
        </p:blipFill>
        <p:spPr>
          <a:xfrm>
            <a:off x="6530188" y="3979164"/>
            <a:ext cx="320040" cy="320040"/>
          </a:xfrm>
          <a:prstGeom prst="rect">
            <a:avLst/>
          </a:prstGeom>
        </p:spPr>
      </p:pic>
      <p:sp>
        <p:nvSpPr>
          <p:cNvPr id="22" name="Check 5 text"/>
          <p:cNvSpPr txBox="1"/>
          <p:nvPr/>
        </p:nvSpPr>
        <p:spPr>
          <a:xfrm>
            <a:off x="7193128" y="3819144"/>
            <a:ext cx="4404208" cy="1533144"/>
          </a:xfrm>
          <a:prstGeom prst="rect">
            <a:avLst/>
          </a:prstGeom>
          <a:noFill/>
          <a:ln/>
        </p:spPr>
        <p:txBody>
          <a:bodyPr wrap="square" lIns="0" tIns="0" rIns="0" bIns="0" rtlCol="0" anchor="t"/>
          <a:lstStyle/>
          <a:p>
            <a:pPr algn="l" indent="0" marL="0">
              <a:spcAft>
                <a:spcPts val="300"/>
              </a:spcAft>
              <a:buNone/>
            </a:pPr>
            <a:r>
              <a:rPr lang="en-US" sz="1800" b="1" dirty="0">
                <a:solidFill>
                  <a:schemeClr val="tx2"/>
                </a:solidFill>
              </a:rPr>
              <a:t>Normal disagrees</a:t>
            </a:r>
            <a:endParaRPr lang="en-US" sz="1600" dirty="0"/>
          </a:p>
          <a:p>
            <a:pPr algn="l" indent="0" marL="0">
              <a:spcAft>
                <a:spcPts val="300"/>
              </a:spcAft>
              <a:buNone/>
            </a:pPr>
            <a:r>
              <a:rPr lang="en-US" sz="1600" b="1" dirty="0">
                <a:solidFill>
                  <a:schemeClr val="accent1"/>
                </a:solidFill>
              </a:rPr>
              <a:t>more than 2 degrees</a:t>
            </a:r>
            <a:endParaRPr lang="en-US" sz="1600" dirty="0"/>
          </a:p>
          <a:p>
            <a:pPr algn="l" indent="0" marL="0">
              <a:buNone/>
            </a:pPr>
            <a:r>
              <a:rPr lang="en-US" sz="1400" dirty="0">
                <a:solidFill>
                  <a:schemeClr val="tx1"/>
                </a:solidFill>
              </a:rPr>
              <a:t>A tilted mount or a wrong pose</a:t>
            </a:r>
            <a:endParaRPr lang="en-US" sz="1600" dirty="0"/>
          </a:p>
        </p:txBody>
      </p:sp>
      <p:sp>
        <p:nvSpPr>
          <p:cNvPr id="23" name="Checks caption"/>
          <p:cNvSpPr txBox="1"/>
          <p:nvPr/>
        </p:nvSpPr>
        <p:spPr>
          <a:xfrm>
            <a:off x="457200" y="5669280"/>
            <a:ext cx="11277295" cy="457200"/>
          </a:xfrm>
          <a:prstGeom prst="rect">
            <a:avLst/>
          </a:prstGeom>
          <a:noFill/>
          <a:ln/>
        </p:spPr>
        <p:txBody>
          <a:bodyPr wrap="square" lIns="0" tIns="0" rIns="0" bIns="0" rtlCol="0" anchor="b"/>
          <a:lstStyle/>
          <a:p>
            <a:pPr algn="l" indent="0" marL="0">
              <a:buNone/>
            </a:pPr>
            <a:r>
              <a:rPr lang="en-US" sz="1200" dirty="0">
                <a:solidFill>
                  <a:schemeClr val="accent5"/>
                </a:solidFill>
              </a:rPr>
              <a:t>check_captures --session &lt;folder&gt; --out check.json prints one line per pose and a verdict; exit code 0 means nothing flagged. Re-capture flagged poses under a new pose_index; never delete lines from the log.</a:t>
            </a:r>
            <a:endParaRPr lang="en-US" sz="12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nchor="b"/>
          <a:lstStyle>
            <a:lvl1pPr>
              <a:defRPr sz="12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11277295" cy="685800"/>
          </a:xfrm>
          <a:prstGeom prst="rect">
            <a:avLst/>
          </a:prstGeom>
          <a:noFill/>
          <a:ln/>
        </p:spPr>
        <p:txBody>
          <a:bodyPr wrap="square" lIns="0" tIns="0" rIns="0" bIns="0" rtlCol="0" anchor="t"/>
          <a:lstStyle/>
          <a:p>
            <a:pPr algn="l" indent="0" marL="0">
              <a:buNone/>
            </a:pPr>
            <a:r>
              <a:rPr lang="en-US" sz="3400" b="1" dirty="0">
                <a:solidFill>
                  <a:schemeClr val="tx2"/>
                </a:solidFill>
                <a:latin typeface="+mj-lt" pitchFamily="34" charset="0"/>
                <a:ea typeface="+mj-lt" pitchFamily="34" charset="-122"/>
                <a:cs typeface="+mj-lt" pitchFamily="34" charset="-120"/>
              </a:rPr>
              <a:t>Things that spoil a session</a:t>
            </a:r>
            <a:endParaRPr lang="en-US" sz="3400" dirty="0"/>
          </a:p>
        </p:txBody>
      </p:sp>
      <p:sp>
        <p:nvSpPr>
          <p:cNvPr id="3" name="Spoiler column 1 row 1 card"/>
          <p:cNvSpPr/>
          <p:nvPr/>
        </p:nvSpPr>
        <p:spPr>
          <a:xfrm>
            <a:off x="457200" y="1417320"/>
            <a:ext cx="5501488" cy="1040130"/>
          </a:xfrm>
          <a:prstGeom prst="roundRect">
            <a:avLst>
              <a:gd name="adj" fmla="val 10549"/>
            </a:avLst>
          </a:prstGeom>
          <a:solidFill>
            <a:schemeClr val="bg2"/>
          </a:solidFill>
          <a:ln/>
        </p:spPr>
      </p:sp>
      <p:sp>
        <p:nvSpPr>
          <p:cNvPr id="4" name="Spoiler column 1 icon 1 circle"/>
          <p:cNvSpPr/>
          <p:nvPr/>
        </p:nvSpPr>
        <p:spPr>
          <a:xfrm>
            <a:off x="640080" y="1640205"/>
            <a:ext cx="594360" cy="594360"/>
          </a:xfrm>
          <a:prstGeom prst="ellipse">
            <a:avLst/>
          </a:prstGeom>
          <a:solidFill>
            <a:schemeClr val="accent4"/>
          </a:solidFill>
          <a:ln/>
        </p:spPr>
      </p:sp>
      <p:pic>
        <p:nvPicPr>
          <p:cNvPr id="5" name="Spoiler column 1 icon 1 glyph" descr="move icon">    </p:cNvPr>
          <p:cNvPicPr>
            <a:picLocks noChangeAspect="1"/>
          </p:cNvPicPr>
          <p:nvPr/>
        </p:nvPicPr>
        <p:blipFill>
          <a:blip r:embed="rId1"/>
          <a:stretch>
            <a:fillRect/>
          </a:stretch>
        </p:blipFill>
        <p:spPr>
          <a:xfrm>
            <a:off x="788670" y="1788795"/>
            <a:ext cx="297180" cy="297180"/>
          </a:xfrm>
          <a:prstGeom prst="rect">
            <a:avLst/>
          </a:prstGeom>
        </p:spPr>
      </p:pic>
      <p:sp>
        <p:nvSpPr>
          <p:cNvPr id="6" name="Spoiler column 1 text 1"/>
          <p:cNvSpPr txBox="1"/>
          <p:nvPr/>
        </p:nvSpPr>
        <p:spPr>
          <a:xfrm>
            <a:off x="1417320" y="1417320"/>
            <a:ext cx="4358488" cy="1040130"/>
          </a:xfrm>
          <a:prstGeom prst="rect">
            <a:avLst/>
          </a:prstGeom>
          <a:noFill/>
          <a:ln/>
        </p:spPr>
        <p:txBody>
          <a:bodyPr wrap="square" lIns="0" tIns="0" rIns="0" bIns="0" rtlCol="0" anchor="ctr"/>
          <a:lstStyle/>
          <a:p>
            <a:pPr algn="l" indent="0" marL="0">
              <a:buNone/>
            </a:pPr>
            <a:r>
              <a:rPr lang="en-US" sz="1600" dirty="0">
                <a:solidFill>
                  <a:schemeClr val="tx1"/>
                </a:solidFill>
              </a:rPr>
              <a:t>Moving or bumping the sensor: everything after it is a new session</a:t>
            </a:r>
            <a:endParaRPr lang="en-US" sz="1600" dirty="0"/>
          </a:p>
        </p:txBody>
      </p:sp>
      <p:sp>
        <p:nvSpPr>
          <p:cNvPr id="7" name="Spoiler column 1 row 2 card"/>
          <p:cNvSpPr/>
          <p:nvPr/>
        </p:nvSpPr>
        <p:spPr>
          <a:xfrm>
            <a:off x="457200" y="2640330"/>
            <a:ext cx="5501488" cy="1040130"/>
          </a:xfrm>
          <a:prstGeom prst="roundRect">
            <a:avLst>
              <a:gd name="adj" fmla="val 10549"/>
            </a:avLst>
          </a:prstGeom>
          <a:solidFill>
            <a:schemeClr val="bg2"/>
          </a:solidFill>
          <a:ln/>
        </p:spPr>
      </p:sp>
      <p:sp>
        <p:nvSpPr>
          <p:cNvPr id="8" name="Spoiler column 1 icon 2 circle"/>
          <p:cNvSpPr/>
          <p:nvPr/>
        </p:nvSpPr>
        <p:spPr>
          <a:xfrm>
            <a:off x="640080" y="2863215"/>
            <a:ext cx="594360" cy="594360"/>
          </a:xfrm>
          <a:prstGeom prst="ellipse">
            <a:avLst/>
          </a:prstGeom>
          <a:solidFill>
            <a:schemeClr val="accent4"/>
          </a:solidFill>
          <a:ln/>
        </p:spPr>
      </p:sp>
      <p:pic>
        <p:nvPicPr>
          <p:cNvPr id="9" name="Spoiler column 1 icon 2 glyph" descr="sliders icon">    </p:cNvPr>
          <p:cNvPicPr>
            <a:picLocks noChangeAspect="1"/>
          </p:cNvPicPr>
          <p:nvPr/>
        </p:nvPicPr>
        <p:blipFill>
          <a:blip r:embed="rId2"/>
          <a:stretch>
            <a:fillRect/>
          </a:stretch>
        </p:blipFill>
        <p:spPr>
          <a:xfrm>
            <a:off x="788670" y="3011805"/>
            <a:ext cx="297180" cy="297180"/>
          </a:xfrm>
          <a:prstGeom prst="rect">
            <a:avLst/>
          </a:prstGeom>
        </p:spPr>
      </p:pic>
      <p:sp>
        <p:nvSpPr>
          <p:cNvPr id="10" name="Spoiler column 1 text 2"/>
          <p:cNvSpPr txBox="1"/>
          <p:nvPr/>
        </p:nvSpPr>
        <p:spPr>
          <a:xfrm>
            <a:off x="1417320" y="2640330"/>
            <a:ext cx="4358488" cy="1040130"/>
          </a:xfrm>
          <a:prstGeom prst="rect">
            <a:avLst/>
          </a:prstGeom>
          <a:noFill/>
          <a:ln/>
        </p:spPr>
        <p:txBody>
          <a:bodyPr wrap="square" lIns="0" tIns="0" rIns="0" bIns="0" rtlCol="0" anchor="ctr"/>
          <a:lstStyle/>
          <a:p>
            <a:pPr algn="l" indent="0" marL="0">
              <a:buNone/>
            </a:pPr>
            <a:r>
              <a:rPr lang="en-US" sz="1600" dirty="0">
                <a:solidFill>
                  <a:schemeClr val="tx1"/>
                </a:solidFill>
              </a:rPr>
              <a:t>Changing exposure, gain, any filter, the base frame or the lighting mid-session</a:t>
            </a:r>
            <a:endParaRPr lang="en-US" sz="1600" dirty="0"/>
          </a:p>
        </p:txBody>
      </p:sp>
      <p:sp>
        <p:nvSpPr>
          <p:cNvPr id="11" name="Spoiler column 1 row 3 card"/>
          <p:cNvSpPr/>
          <p:nvPr/>
        </p:nvSpPr>
        <p:spPr>
          <a:xfrm>
            <a:off x="457200" y="3863340"/>
            <a:ext cx="5501488" cy="1152144"/>
          </a:xfrm>
          <a:prstGeom prst="roundRect">
            <a:avLst>
              <a:gd name="adj" fmla="val 9524"/>
            </a:avLst>
          </a:prstGeom>
          <a:solidFill>
            <a:schemeClr val="bg2"/>
          </a:solidFill>
          <a:ln/>
        </p:spPr>
      </p:sp>
      <p:sp>
        <p:nvSpPr>
          <p:cNvPr id="12" name="Spoiler column 1 icon 3 circle"/>
          <p:cNvSpPr/>
          <p:nvPr/>
        </p:nvSpPr>
        <p:spPr>
          <a:xfrm>
            <a:off x="640080" y="4142232"/>
            <a:ext cx="594360" cy="594360"/>
          </a:xfrm>
          <a:prstGeom prst="ellipse">
            <a:avLst/>
          </a:prstGeom>
          <a:solidFill>
            <a:schemeClr val="accent4"/>
          </a:solidFill>
          <a:ln/>
        </p:spPr>
      </p:sp>
      <p:pic>
        <p:nvPicPr>
          <p:cNvPr id="13" name="Spoiler column 1 icon 3 glyph" descr="edit icon">    </p:cNvPr>
          <p:cNvPicPr>
            <a:picLocks noChangeAspect="1"/>
          </p:cNvPicPr>
          <p:nvPr/>
        </p:nvPicPr>
        <p:blipFill>
          <a:blip r:embed="rId3"/>
          <a:stretch>
            <a:fillRect/>
          </a:stretch>
        </p:blipFill>
        <p:spPr>
          <a:xfrm>
            <a:off x="788670" y="4290822"/>
            <a:ext cx="297180" cy="297180"/>
          </a:xfrm>
          <a:prstGeom prst="rect">
            <a:avLst/>
          </a:prstGeom>
        </p:spPr>
      </p:pic>
      <p:sp>
        <p:nvSpPr>
          <p:cNvPr id="14" name="Spoiler column 1 text 3"/>
          <p:cNvSpPr txBox="1"/>
          <p:nvPr/>
        </p:nvSpPr>
        <p:spPr>
          <a:xfrm>
            <a:off x="1417320" y="3863340"/>
            <a:ext cx="4358488" cy="1152144"/>
          </a:xfrm>
          <a:prstGeom prst="rect">
            <a:avLst/>
          </a:prstGeom>
          <a:noFill/>
          <a:ln/>
        </p:spPr>
        <p:txBody>
          <a:bodyPr wrap="square" lIns="0" tIns="0" rIns="0" bIns="0" rtlCol="0" anchor="ctr"/>
          <a:lstStyle/>
          <a:p>
            <a:pPr algn="l" indent="0" marL="0">
              <a:buNone/>
            </a:pPr>
            <a:r>
              <a:rPr lang="en-US" sz="1600" dirty="0">
                <a:solidFill>
                  <a:schemeClr val="tx1"/>
                </a:solidFill>
              </a:rPr>
              <a:t>Logging the commanded pose instead of the reported one, or rounding it to 0.1 mm: for series Z the read-back pose is the step truth</a:t>
            </a:r>
            <a:endParaRPr lang="en-US" sz="1600" dirty="0"/>
          </a:p>
        </p:txBody>
      </p:sp>
      <p:sp>
        <p:nvSpPr>
          <p:cNvPr id="15" name="Spoiler column 1 row 4 card"/>
          <p:cNvSpPr/>
          <p:nvPr/>
        </p:nvSpPr>
        <p:spPr>
          <a:xfrm>
            <a:off x="457200" y="5198364"/>
            <a:ext cx="5501488" cy="1152144"/>
          </a:xfrm>
          <a:prstGeom prst="roundRect">
            <a:avLst>
              <a:gd name="adj" fmla="val 9524"/>
            </a:avLst>
          </a:prstGeom>
          <a:solidFill>
            <a:schemeClr val="bg2"/>
          </a:solidFill>
          <a:ln/>
        </p:spPr>
      </p:sp>
      <p:sp>
        <p:nvSpPr>
          <p:cNvPr id="16" name="Spoiler column 1 icon 4 circle"/>
          <p:cNvSpPr/>
          <p:nvPr/>
        </p:nvSpPr>
        <p:spPr>
          <a:xfrm>
            <a:off x="640080" y="5477256"/>
            <a:ext cx="594360" cy="594360"/>
          </a:xfrm>
          <a:prstGeom prst="ellipse">
            <a:avLst/>
          </a:prstGeom>
          <a:solidFill>
            <a:schemeClr val="accent4"/>
          </a:solidFill>
          <a:ln/>
        </p:spPr>
      </p:sp>
      <p:pic>
        <p:nvPicPr>
          <p:cNvPr id="17" name="Spoiler column 1 icon 4 glyph" descr="swap icon">    </p:cNvPr>
          <p:cNvPicPr>
            <a:picLocks noChangeAspect="1"/>
          </p:cNvPicPr>
          <p:nvPr/>
        </p:nvPicPr>
        <p:blipFill>
          <a:blip r:embed="rId4"/>
          <a:stretch>
            <a:fillRect/>
          </a:stretch>
        </p:blipFill>
        <p:spPr>
          <a:xfrm>
            <a:off x="788670" y="5625846"/>
            <a:ext cx="297180" cy="297180"/>
          </a:xfrm>
          <a:prstGeom prst="rect">
            <a:avLst/>
          </a:prstGeom>
        </p:spPr>
      </p:pic>
      <p:sp>
        <p:nvSpPr>
          <p:cNvPr id="18" name="Spoiler column 1 text 4"/>
          <p:cNvSpPr txBox="1"/>
          <p:nvPr/>
        </p:nvSpPr>
        <p:spPr>
          <a:xfrm>
            <a:off x="1417320" y="5198364"/>
            <a:ext cx="4358488" cy="1152144"/>
          </a:xfrm>
          <a:prstGeom prst="rect">
            <a:avLst/>
          </a:prstGeom>
          <a:noFill/>
          <a:ln/>
        </p:spPr>
        <p:txBody>
          <a:bodyPr wrap="square" lIns="0" tIns="0" rIns="0" bIns="0" rtlCol="0" anchor="ctr"/>
          <a:lstStyle/>
          <a:p>
            <a:pPr algn="l" indent="0" marL="0">
              <a:buNone/>
            </a:pPr>
            <a:r>
              <a:rPr lang="en-US" sz="1600" dirty="0">
                <a:solidFill>
                  <a:schemeClr val="tx1"/>
                </a:solidFill>
              </a:rPr>
              <a:t>Approaching a series Z pose from above or from different directions: backlash then enters the difference between visits</a:t>
            </a:r>
            <a:endParaRPr lang="en-US" sz="1600" dirty="0"/>
          </a:p>
        </p:txBody>
      </p:sp>
      <p:sp>
        <p:nvSpPr>
          <p:cNvPr id="19" name="Spoiler column 2 row 1 card"/>
          <p:cNvSpPr/>
          <p:nvPr/>
        </p:nvSpPr>
        <p:spPr>
          <a:xfrm>
            <a:off x="6233008" y="1417320"/>
            <a:ext cx="5501488" cy="1610360"/>
          </a:xfrm>
          <a:prstGeom prst="roundRect">
            <a:avLst>
              <a:gd name="adj" fmla="val 6814"/>
            </a:avLst>
          </a:prstGeom>
          <a:solidFill>
            <a:schemeClr val="bg2"/>
          </a:solidFill>
          <a:ln/>
        </p:spPr>
      </p:sp>
      <p:sp>
        <p:nvSpPr>
          <p:cNvPr id="20" name="Spoiler column 2 icon 1 circle"/>
          <p:cNvSpPr/>
          <p:nvPr/>
        </p:nvSpPr>
        <p:spPr>
          <a:xfrm>
            <a:off x="6415888" y="1925320"/>
            <a:ext cx="594360" cy="594360"/>
          </a:xfrm>
          <a:prstGeom prst="ellipse">
            <a:avLst/>
          </a:prstGeom>
          <a:solidFill>
            <a:schemeClr val="accent4"/>
          </a:solidFill>
          <a:ln/>
        </p:spPr>
      </p:sp>
      <p:pic>
        <p:nvPicPr>
          <p:cNvPr id="21" name="Spoiler column 2 icon 1 glyph" descr="tool icon">    </p:cNvPr>
          <p:cNvPicPr>
            <a:picLocks noChangeAspect="1"/>
          </p:cNvPicPr>
          <p:nvPr/>
        </p:nvPicPr>
        <p:blipFill>
          <a:blip r:embed="rId5"/>
          <a:stretch>
            <a:fillRect/>
          </a:stretch>
        </p:blipFill>
        <p:spPr>
          <a:xfrm>
            <a:off x="6564478" y="2073910"/>
            <a:ext cx="297180" cy="297180"/>
          </a:xfrm>
          <a:prstGeom prst="rect">
            <a:avLst/>
          </a:prstGeom>
        </p:spPr>
      </p:pic>
      <p:sp>
        <p:nvSpPr>
          <p:cNvPr id="22" name="Spoiler column 2 text 1"/>
          <p:cNvSpPr txBox="1"/>
          <p:nvPr/>
        </p:nvSpPr>
        <p:spPr>
          <a:xfrm>
            <a:off x="7193128" y="1417320"/>
            <a:ext cx="4358488" cy="1610360"/>
          </a:xfrm>
          <a:prstGeom prst="rect">
            <a:avLst/>
          </a:prstGeom>
          <a:noFill/>
          <a:ln/>
        </p:spPr>
        <p:txBody>
          <a:bodyPr wrap="square" lIns="0" tIns="0" rIns="0" bIns="0" rtlCol="0" anchor="ctr"/>
          <a:lstStyle/>
          <a:p>
            <a:pPr algn="l" indent="0" marL="0">
              <a:buNone/>
            </a:pPr>
            <a:r>
              <a:rPr lang="en-US" sz="1600" dirty="0">
                <a:solidFill>
                  <a:schemeClr val="tx1"/>
                </a:solidFill>
              </a:rPr>
              <a:t>A loose adapter, a loosened standoff or a target shifted on its spigot: do the mount check after every swap; never swap a target to take a sentinel</a:t>
            </a:r>
            <a:endParaRPr lang="en-US" sz="1600" dirty="0"/>
          </a:p>
        </p:txBody>
      </p:sp>
      <p:sp>
        <p:nvSpPr>
          <p:cNvPr id="23" name="Spoiler column 2 row 2 card"/>
          <p:cNvSpPr/>
          <p:nvPr/>
        </p:nvSpPr>
        <p:spPr>
          <a:xfrm>
            <a:off x="6233008" y="3210560"/>
            <a:ext cx="5501488" cy="1366520"/>
          </a:xfrm>
          <a:prstGeom prst="roundRect">
            <a:avLst>
              <a:gd name="adj" fmla="val 8030"/>
            </a:avLst>
          </a:prstGeom>
          <a:solidFill>
            <a:schemeClr val="bg2"/>
          </a:solidFill>
          <a:ln/>
        </p:spPr>
      </p:sp>
      <p:sp>
        <p:nvSpPr>
          <p:cNvPr id="24" name="Spoiler column 2 icon 2 circle"/>
          <p:cNvSpPr/>
          <p:nvPr/>
        </p:nvSpPr>
        <p:spPr>
          <a:xfrm>
            <a:off x="6415888" y="3596640"/>
            <a:ext cx="594360" cy="594360"/>
          </a:xfrm>
          <a:prstGeom prst="ellipse">
            <a:avLst/>
          </a:prstGeom>
          <a:solidFill>
            <a:schemeClr val="accent4"/>
          </a:solidFill>
          <a:ln/>
        </p:spPr>
      </p:sp>
      <p:pic>
        <p:nvPicPr>
          <p:cNvPr id="25" name="Spoiler column 2 icon 2 glyph" descr="hand icon">    </p:cNvPr>
          <p:cNvPicPr>
            <a:picLocks noChangeAspect="1"/>
          </p:cNvPicPr>
          <p:nvPr/>
        </p:nvPicPr>
        <p:blipFill>
          <a:blip r:embed="rId6"/>
          <a:stretch>
            <a:fillRect/>
          </a:stretch>
        </p:blipFill>
        <p:spPr>
          <a:xfrm>
            <a:off x="6564478" y="3745230"/>
            <a:ext cx="297180" cy="297180"/>
          </a:xfrm>
          <a:prstGeom prst="rect">
            <a:avLst/>
          </a:prstGeom>
        </p:spPr>
      </p:pic>
      <p:sp>
        <p:nvSpPr>
          <p:cNvPr id="26" name="Spoiler column 2 text 2"/>
          <p:cNvSpPr txBox="1"/>
          <p:nvPr/>
        </p:nvSpPr>
        <p:spPr>
          <a:xfrm>
            <a:off x="7193128" y="3210560"/>
            <a:ext cx="4358488" cy="1366520"/>
          </a:xfrm>
          <a:prstGeom prst="rect">
            <a:avLst/>
          </a:prstGeom>
          <a:noFill/>
          <a:ln/>
        </p:spPr>
        <p:txBody>
          <a:bodyPr wrap="square" lIns="0" tIns="0" rIns="0" bIns="0" rtlCol="0" anchor="ctr"/>
          <a:lstStyle/>
          <a:p>
            <a:pPr algn="l" indent="0" marL="0">
              <a:buNone/>
            </a:pPr>
            <a:r>
              <a:rPr lang="en-US" sz="1600" dirty="0">
                <a:solidFill>
                  <a:schemeClr val="tx1"/>
                </a:solidFill>
              </a:rPr>
              <a:t>Fingerprints, dust or gloss on a target, or different finishes on front and back plates: wipe with isopropyl alcohol</a:t>
            </a:r>
            <a:endParaRPr lang="en-US" sz="1600" dirty="0"/>
          </a:p>
        </p:txBody>
      </p:sp>
      <p:sp>
        <p:nvSpPr>
          <p:cNvPr id="27" name="Spoiler column 2 row 3 card"/>
          <p:cNvSpPr/>
          <p:nvPr/>
        </p:nvSpPr>
        <p:spPr>
          <a:xfrm>
            <a:off x="6233008" y="4759960"/>
            <a:ext cx="5501488" cy="1366520"/>
          </a:xfrm>
          <a:prstGeom prst="roundRect">
            <a:avLst>
              <a:gd name="adj" fmla="val 8030"/>
            </a:avLst>
          </a:prstGeom>
          <a:solidFill>
            <a:schemeClr val="bg2"/>
          </a:solidFill>
          <a:ln/>
        </p:spPr>
      </p:sp>
      <p:sp>
        <p:nvSpPr>
          <p:cNvPr id="28" name="Spoiler column 2 icon 3 circle"/>
          <p:cNvSpPr/>
          <p:nvPr/>
        </p:nvSpPr>
        <p:spPr>
          <a:xfrm>
            <a:off x="6415888" y="5146040"/>
            <a:ext cx="594360" cy="594360"/>
          </a:xfrm>
          <a:prstGeom prst="ellipse">
            <a:avLst/>
          </a:prstGeom>
          <a:solidFill>
            <a:schemeClr val="accent4"/>
          </a:solidFill>
          <a:ln/>
        </p:spPr>
      </p:sp>
      <p:pic>
        <p:nvPicPr>
          <p:cNvPr id="29" name="Spoiler column 2 icon 3 glyph" descr="eye icon">    </p:cNvPr>
          <p:cNvPicPr>
            <a:picLocks noChangeAspect="1"/>
          </p:cNvPicPr>
          <p:nvPr/>
        </p:nvPicPr>
        <p:blipFill>
          <a:blip r:embed="rId7"/>
          <a:stretch>
            <a:fillRect/>
          </a:stretch>
        </p:blipFill>
        <p:spPr>
          <a:xfrm>
            <a:off x="6564478" y="5294630"/>
            <a:ext cx="297180" cy="297180"/>
          </a:xfrm>
          <a:prstGeom prst="rect">
            <a:avLst/>
          </a:prstGeom>
        </p:spPr>
      </p:pic>
      <p:sp>
        <p:nvSpPr>
          <p:cNvPr id="30" name="Spoiler column 2 text 3"/>
          <p:cNvSpPr txBox="1"/>
          <p:nvPr/>
        </p:nvSpPr>
        <p:spPr>
          <a:xfrm>
            <a:off x="7193128" y="4759960"/>
            <a:ext cx="4358488" cy="1366520"/>
          </a:xfrm>
          <a:prstGeom prst="rect">
            <a:avLst/>
          </a:prstGeom>
          <a:noFill/>
          <a:ln/>
        </p:spPr>
        <p:txBody>
          <a:bodyPr wrap="square" lIns="0" tIns="0" rIns="0" bIns="0" rtlCol="0" anchor="ctr"/>
          <a:lstStyle/>
          <a:p>
            <a:pPr algn="l" indent="0" marL="0">
              <a:buNone/>
            </a:pPr>
            <a:r>
              <a:rPr lang="en-US" sz="1600" dirty="0">
                <a:solidFill>
                  <a:schemeClr val="tx1"/>
                </a:solidFill>
              </a:rPr>
              <a:t>Using two frames of one pose as two detection trials; skipping the warm-up or shortening the settle wait; losing the plan's seed</a:t>
            </a:r>
            <a:endParaRPr lang="en-US" sz="16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nchor="b"/>
          <a:lstStyle>
            <a:lvl1pPr>
              <a:defRPr sz="12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457200" y="457200"/>
            <a:ext cx="11277295" cy="685800"/>
          </a:xfrm>
          <a:prstGeom prst="rect">
            <a:avLst/>
          </a:prstGeom>
          <a:noFill/>
          <a:ln/>
        </p:spPr>
        <p:txBody>
          <a:bodyPr wrap="square" lIns="0" tIns="0" rIns="0" bIns="0" rtlCol="0" anchor="t"/>
          <a:lstStyle/>
          <a:p>
            <a:pPr algn="l" indent="0" marL="0">
              <a:buNone/>
            </a:pPr>
            <a:r>
              <a:rPr lang="en-US" sz="3400" b="1" dirty="0">
                <a:solidFill>
                  <a:schemeClr val="tx2"/>
                </a:solidFill>
                <a:latin typeface="+mj-lt" pitchFamily="34" charset="0"/>
                <a:ea typeface="+mj-lt" pitchFamily="34" charset="-122"/>
                <a:cs typeface="+mj-lt" pitchFamily="34" charset="-120"/>
              </a:rPr>
              <a:t>What to hand over at the end of the session</a:t>
            </a:r>
            <a:endParaRPr lang="en-US" sz="3400" dirty="0"/>
          </a:p>
        </p:txBody>
      </p:sp>
      <p:pic>
        <p:nvPicPr>
          <p:cNvPr id="3" name="Checklist check 1" descr="check icon">    </p:cNvPr>
          <p:cNvPicPr>
            <a:picLocks noChangeAspect="1"/>
          </p:cNvPicPr>
          <p:nvPr/>
        </p:nvPicPr>
        <p:blipFill>
          <a:blip r:embed="rId1"/>
          <a:stretch>
            <a:fillRect/>
          </a:stretch>
        </p:blipFill>
        <p:spPr>
          <a:xfrm>
            <a:off x="457200" y="1474579"/>
            <a:ext cx="411480" cy="411480"/>
          </a:xfrm>
          <a:prstGeom prst="rect">
            <a:avLst/>
          </a:prstGeom>
        </p:spPr>
      </p:pic>
      <p:sp>
        <p:nvSpPr>
          <p:cNvPr id="4" name="Checklist text 1"/>
          <p:cNvSpPr txBox="1"/>
          <p:nvPr/>
        </p:nvSpPr>
        <p:spPr>
          <a:xfrm>
            <a:off x="1051560" y="1417320"/>
            <a:ext cx="6995160" cy="525998"/>
          </a:xfrm>
          <a:prstGeom prst="rect">
            <a:avLst/>
          </a:prstGeom>
          <a:noFill/>
          <a:ln/>
        </p:spPr>
        <p:txBody>
          <a:bodyPr wrap="square" lIns="0" tIns="0" rIns="0" bIns="0" rtlCol="0" anchor="ctr"/>
          <a:lstStyle/>
          <a:p>
            <a:pPr algn="l" indent="0" marL="0">
              <a:buNone/>
            </a:pPr>
            <a:r>
              <a:rPr lang="en-US" sz="1400" dirty="0">
                <a:solidFill>
                  <a:schemeClr val="tx1"/>
                </a:solidFill>
              </a:rPr>
              <a:t>Characterization_&lt;YYYYMMDD&gt;/ with every .mc file in its series sub-folder, named by the rule of section 5</a:t>
            </a:r>
            <a:endParaRPr lang="en-US" sz="1400" dirty="0"/>
          </a:p>
        </p:txBody>
      </p:sp>
      <p:pic>
        <p:nvPicPr>
          <p:cNvPr id="5" name="Checklist check 2" descr="check icon">    </p:cNvPr>
          <p:cNvPicPr>
            <a:picLocks noChangeAspect="1"/>
          </p:cNvPicPr>
          <p:nvPr/>
        </p:nvPicPr>
        <p:blipFill>
          <a:blip r:embed="rId2"/>
          <a:stretch>
            <a:fillRect/>
          </a:stretch>
        </p:blipFill>
        <p:spPr>
          <a:xfrm>
            <a:off x="457200" y="2183457"/>
            <a:ext cx="411480" cy="411480"/>
          </a:xfrm>
          <a:prstGeom prst="rect">
            <a:avLst/>
          </a:prstGeom>
        </p:spPr>
      </p:pic>
      <p:sp>
        <p:nvSpPr>
          <p:cNvPr id="6" name="Checklist text 2"/>
          <p:cNvSpPr txBox="1"/>
          <p:nvPr/>
        </p:nvSpPr>
        <p:spPr>
          <a:xfrm>
            <a:off x="1051560" y="2126198"/>
            <a:ext cx="6995160" cy="525998"/>
          </a:xfrm>
          <a:prstGeom prst="rect">
            <a:avLst/>
          </a:prstGeom>
          <a:noFill/>
          <a:ln/>
        </p:spPr>
        <p:txBody>
          <a:bodyPr wrap="square" lIns="0" tIns="0" rIns="0" bIns="0" rtlCol="0" anchor="ctr"/>
          <a:lstStyle/>
          <a:p>
            <a:pPr algn="l" indent="0" marL="0">
              <a:buNone/>
            </a:pPr>
            <a:r>
              <a:rPr lang="en-US" sz="1400" dirty="0">
                <a:solidFill>
                  <a:schemeClr val="tx1"/>
                </a:solidFill>
              </a:rPr>
              <a:t>sensor_config.json with every filter setting and the dagger values filled in; registration.json, accepted, with its residual in session_log.md</a:t>
            </a:r>
            <a:endParaRPr lang="en-US" sz="1400" dirty="0"/>
          </a:p>
        </p:txBody>
      </p:sp>
      <p:pic>
        <p:nvPicPr>
          <p:cNvPr id="7" name="Checklist check 3" descr="check icon">    </p:cNvPr>
          <p:cNvPicPr>
            <a:picLocks noChangeAspect="1"/>
          </p:cNvPicPr>
          <p:nvPr/>
        </p:nvPicPr>
        <p:blipFill>
          <a:blip r:embed="rId3"/>
          <a:stretch>
            <a:fillRect/>
          </a:stretch>
        </p:blipFill>
        <p:spPr>
          <a:xfrm>
            <a:off x="457200" y="2892334"/>
            <a:ext cx="411480" cy="411480"/>
          </a:xfrm>
          <a:prstGeom prst="rect">
            <a:avLst/>
          </a:prstGeom>
        </p:spPr>
      </p:pic>
      <p:sp>
        <p:nvSpPr>
          <p:cNvPr id="8" name="Checklist text 3"/>
          <p:cNvSpPr txBox="1"/>
          <p:nvPr/>
        </p:nvSpPr>
        <p:spPr>
          <a:xfrm>
            <a:off x="1051560" y="2835075"/>
            <a:ext cx="6995160" cy="525998"/>
          </a:xfrm>
          <a:prstGeom prst="rect">
            <a:avLst/>
          </a:prstGeom>
          <a:noFill/>
          <a:ln/>
        </p:spPr>
        <p:txBody>
          <a:bodyPr wrap="square" lIns="0" tIns="0" rIns="0" bIns="0" rtlCol="0" anchor="ctr"/>
          <a:lstStyle/>
          <a:p>
            <a:pPr algn="l" indent="0" marL="0">
              <a:buNone/>
            </a:pPr>
            <a:r>
              <a:rPr lang="en-US" sz="1400" dirty="0">
                <a:solidFill>
                  <a:schemeClr val="tx1"/>
                </a:solidFill>
              </a:rPr>
              <a:t>targets_asbuilt.csv with the uncertainties; poses.csv, plan_summary.txt, plan.png, targets.json and parameters.json of the plan used, and the seed</a:t>
            </a:r>
            <a:endParaRPr lang="en-US" sz="1400" dirty="0"/>
          </a:p>
        </p:txBody>
      </p:sp>
      <p:pic>
        <p:nvPicPr>
          <p:cNvPr id="9" name="Checklist check 4" descr="check icon">    </p:cNvPr>
          <p:cNvPicPr>
            <a:picLocks noChangeAspect="1"/>
          </p:cNvPicPr>
          <p:nvPr/>
        </p:nvPicPr>
        <p:blipFill>
          <a:blip r:embed="rId4"/>
          <a:stretch>
            <a:fillRect/>
          </a:stretch>
        </p:blipFill>
        <p:spPr>
          <a:xfrm>
            <a:off x="457200" y="3601212"/>
            <a:ext cx="411480" cy="411480"/>
          </a:xfrm>
          <a:prstGeom prst="rect">
            <a:avLst/>
          </a:prstGeom>
        </p:spPr>
      </p:pic>
      <p:sp>
        <p:nvSpPr>
          <p:cNvPr id="10" name="Checklist text 4"/>
          <p:cNvSpPr txBox="1"/>
          <p:nvPr/>
        </p:nvSpPr>
        <p:spPr>
          <a:xfrm>
            <a:off x="1051560" y="3543953"/>
            <a:ext cx="6995160" cy="525998"/>
          </a:xfrm>
          <a:prstGeom prst="rect">
            <a:avLst/>
          </a:prstGeom>
          <a:noFill/>
          <a:ln/>
        </p:spPr>
        <p:txBody>
          <a:bodyPr wrap="square" lIns="0" tIns="0" rIns="0" bIns="0" rtlCol="0" anchor="ctr"/>
          <a:lstStyle/>
          <a:p>
            <a:pPr algn="l" indent="0" marL="0">
              <a:buNone/>
            </a:pPr>
            <a:r>
              <a:rPr lang="en-US" sz="1400" dirty="0">
                <a:solidFill>
                  <a:schemeClr val="tx1"/>
                </a:solidFill>
              </a:rPr>
              <a:t>The pose log, and manifest.csv produced by make_manifest without errors; check.json with no flags, or a note on each</a:t>
            </a:r>
            <a:endParaRPr lang="en-US" sz="1400" dirty="0"/>
          </a:p>
        </p:txBody>
      </p:sp>
      <p:pic>
        <p:nvPicPr>
          <p:cNvPr id="11" name="Checklist check 5" descr="check icon">    </p:cNvPr>
          <p:cNvPicPr>
            <a:picLocks noChangeAspect="1"/>
          </p:cNvPicPr>
          <p:nvPr/>
        </p:nvPicPr>
        <p:blipFill>
          <a:blip r:embed="rId5"/>
          <a:stretch>
            <a:fillRect/>
          </a:stretch>
        </p:blipFill>
        <p:spPr>
          <a:xfrm>
            <a:off x="457200" y="4310090"/>
            <a:ext cx="411480" cy="411480"/>
          </a:xfrm>
          <a:prstGeom prst="rect">
            <a:avLst/>
          </a:prstGeom>
        </p:spPr>
      </p:pic>
      <p:sp>
        <p:nvSpPr>
          <p:cNvPr id="12" name="Checklist text 5"/>
          <p:cNvSpPr txBox="1"/>
          <p:nvPr/>
        </p:nvSpPr>
        <p:spPr>
          <a:xfrm>
            <a:off x="1051560" y="4252831"/>
            <a:ext cx="6995160" cy="525998"/>
          </a:xfrm>
          <a:prstGeom prst="rect">
            <a:avLst/>
          </a:prstGeom>
          <a:noFill/>
          <a:ln/>
        </p:spPr>
        <p:txBody>
          <a:bodyPr wrap="square" lIns="0" tIns="0" rIns="0" bIns="0" rtlCol="0" anchor="ctr"/>
          <a:lstStyle/>
          <a:p>
            <a:pPr algn="l" indent="0" marL="0">
              <a:buNone/>
            </a:pPr>
            <a:r>
              <a:rPr lang="en-US" sz="1400" dirty="0">
                <a:solidFill>
                  <a:schemeClr val="tx1"/>
                </a:solidFill>
              </a:rPr>
              <a:t>environment_log.csv and the temperature logs; the drift run's 241 captures in sentinels/ if it was made</a:t>
            </a:r>
            <a:endParaRPr lang="en-US" sz="1400" dirty="0"/>
          </a:p>
        </p:txBody>
      </p:sp>
      <p:pic>
        <p:nvPicPr>
          <p:cNvPr id="13" name="Checklist check 6" descr="check icon">    </p:cNvPr>
          <p:cNvPicPr>
            <a:picLocks noChangeAspect="1"/>
          </p:cNvPicPr>
          <p:nvPr/>
        </p:nvPicPr>
        <p:blipFill>
          <a:blip r:embed="rId6"/>
          <a:stretch>
            <a:fillRect/>
          </a:stretch>
        </p:blipFill>
        <p:spPr>
          <a:xfrm>
            <a:off x="457200" y="5018967"/>
            <a:ext cx="411480" cy="411480"/>
          </a:xfrm>
          <a:prstGeom prst="rect">
            <a:avLst/>
          </a:prstGeom>
        </p:spPr>
      </p:pic>
      <p:sp>
        <p:nvSpPr>
          <p:cNvPr id="14" name="Checklist text 6"/>
          <p:cNvSpPr txBox="1"/>
          <p:nvPr/>
        </p:nvSpPr>
        <p:spPr>
          <a:xfrm>
            <a:off x="1051560" y="4961709"/>
            <a:ext cx="6995160" cy="525998"/>
          </a:xfrm>
          <a:prstGeom prst="rect">
            <a:avLst/>
          </a:prstGeom>
          <a:noFill/>
          <a:ln/>
        </p:spPr>
        <p:txBody>
          <a:bodyPr wrap="square" lIns="0" tIns="0" rIns="0" bIns="0" rtlCol="0" anchor="ctr"/>
          <a:lstStyle/>
          <a:p>
            <a:pPr algn="l" indent="0" marL="0">
              <a:buNone/>
            </a:pPr>
            <a:r>
              <a:rPr lang="en-US" sz="1400" dirty="0">
                <a:solidFill>
                  <a:schemeClr val="tx1"/>
                </a:solidFill>
              </a:rPr>
              <a:t>session_log.md: date, serial number, warm-up and settle times, base frame, plate flatness and finish, mount-check results, target changes with times, anything unusual</a:t>
            </a:r>
            <a:endParaRPr lang="en-US" sz="1400" dirty="0"/>
          </a:p>
        </p:txBody>
      </p:sp>
      <p:pic>
        <p:nvPicPr>
          <p:cNvPr id="15" name="Checklist check 7" descr="check icon">    </p:cNvPr>
          <p:cNvPicPr>
            <a:picLocks noChangeAspect="1"/>
          </p:cNvPicPr>
          <p:nvPr/>
        </p:nvPicPr>
        <p:blipFill>
          <a:blip r:embed="rId7"/>
          <a:stretch>
            <a:fillRect/>
          </a:stretch>
        </p:blipFill>
        <p:spPr>
          <a:xfrm>
            <a:off x="457200" y="5692793"/>
            <a:ext cx="411480" cy="411480"/>
          </a:xfrm>
          <a:prstGeom prst="rect">
            <a:avLst/>
          </a:prstGeom>
        </p:spPr>
      </p:pic>
      <p:sp>
        <p:nvSpPr>
          <p:cNvPr id="16" name="Checklist text 7"/>
          <p:cNvSpPr txBox="1"/>
          <p:nvPr/>
        </p:nvSpPr>
        <p:spPr>
          <a:xfrm>
            <a:off x="1051560" y="5670586"/>
            <a:ext cx="6995160" cy="455894"/>
          </a:xfrm>
          <a:prstGeom prst="rect">
            <a:avLst/>
          </a:prstGeom>
          <a:noFill/>
          <a:ln/>
        </p:spPr>
        <p:txBody>
          <a:bodyPr wrap="square" lIns="0" tIns="0" rIns="0" bIns="0" rtlCol="0" anchor="ctr"/>
          <a:lstStyle/>
          <a:p>
            <a:pPr algn="l" indent="0" marL="0">
              <a:buNone/>
            </a:pPr>
            <a:r>
              <a:rPr lang="en-US" sz="1400" dirty="0">
                <a:solidFill>
                  <a:schemeClr val="tx1"/>
                </a:solidFill>
              </a:rPr>
              <a:t>Photos of the sensor stand and of each target on the adapter (a phone camera is fine)</a:t>
            </a:r>
            <a:endParaRPr lang="en-US" sz="1400" dirty="0"/>
          </a:p>
        </p:txBody>
      </p:sp>
      <p:sp>
        <p:nvSpPr>
          <p:cNvPr id="17" name="Software card"/>
          <p:cNvSpPr/>
          <p:nvPr/>
        </p:nvSpPr>
        <p:spPr>
          <a:xfrm>
            <a:off x="8321040" y="1417320"/>
            <a:ext cx="3413455" cy="4709160"/>
          </a:xfrm>
          <a:prstGeom prst="roundRect">
            <a:avLst>
              <a:gd name="adj" fmla="val 3215"/>
            </a:avLst>
          </a:prstGeom>
          <a:solidFill>
            <a:schemeClr val="bg2"/>
          </a:solidFill>
          <a:ln/>
        </p:spPr>
      </p:sp>
      <p:sp>
        <p:nvSpPr>
          <p:cNvPr id="18" name="Software icon circle"/>
          <p:cNvSpPr/>
          <p:nvPr/>
        </p:nvSpPr>
        <p:spPr>
          <a:xfrm>
            <a:off x="8549640" y="1645920"/>
            <a:ext cx="640080" cy="640080"/>
          </a:xfrm>
          <a:prstGeom prst="ellipse">
            <a:avLst/>
          </a:prstGeom>
          <a:solidFill>
            <a:schemeClr val="accent2"/>
          </a:solidFill>
          <a:ln/>
        </p:spPr>
      </p:sp>
      <p:pic>
        <p:nvPicPr>
          <p:cNvPr id="19" name="Software icon glyph" descr="code icon">    </p:cNvPr>
          <p:cNvPicPr>
            <a:picLocks noChangeAspect="1"/>
          </p:cNvPicPr>
          <p:nvPr/>
        </p:nvPicPr>
        <p:blipFill>
          <a:blip r:embed="rId8"/>
          <a:stretch>
            <a:fillRect/>
          </a:stretch>
        </p:blipFill>
        <p:spPr>
          <a:xfrm>
            <a:off x="8709660" y="1805940"/>
            <a:ext cx="320040" cy="320040"/>
          </a:xfrm>
          <a:prstGeom prst="rect">
            <a:avLst/>
          </a:prstGeom>
        </p:spPr>
      </p:pic>
      <p:sp>
        <p:nvSpPr>
          <p:cNvPr id="20" name="Software head"/>
          <p:cNvSpPr txBox="1"/>
          <p:nvPr/>
        </p:nvSpPr>
        <p:spPr>
          <a:xfrm>
            <a:off x="9372600" y="1645920"/>
            <a:ext cx="2133295" cy="640080"/>
          </a:xfrm>
          <a:prstGeom prst="rect">
            <a:avLst/>
          </a:prstGeom>
          <a:noFill/>
          <a:ln/>
        </p:spPr>
        <p:txBody>
          <a:bodyPr wrap="square" lIns="0" tIns="0" rIns="0" bIns="0" rtlCol="0" anchor="ctr"/>
          <a:lstStyle/>
          <a:p>
            <a:pPr algn="l" indent="0" marL="0">
              <a:buNone/>
            </a:pPr>
            <a:r>
              <a:rPr lang="en-US" sz="2000" b="1" dirty="0">
                <a:solidFill>
                  <a:schemeClr val="tx2"/>
                </a:solidFill>
                <a:latin typeface="+mj-lt" pitchFamily="34" charset="0"/>
                <a:ea typeface="+mj-lt" pitchFamily="34" charset="-122"/>
                <a:cs typeface="+mj-lt" pitchFamily="34" charset="-120"/>
              </a:rPr>
              <a:t>Software</a:t>
            </a:r>
            <a:endParaRPr lang="en-US" sz="2000" dirty="0"/>
          </a:p>
        </p:txBody>
      </p:sp>
      <p:sp>
        <p:nvSpPr>
          <p:cNvPr id="21" name="Software points"/>
          <p:cNvSpPr txBox="1"/>
          <p:nvPr/>
        </p:nvSpPr>
        <p:spPr>
          <a:xfrm>
            <a:off x="8549640" y="2468880"/>
            <a:ext cx="2956255" cy="3429000"/>
          </a:xfrm>
          <a:prstGeom prst="rect">
            <a:avLst/>
          </a:prstGeom>
          <a:noFill/>
          <a:ln/>
        </p:spPr>
        <p:txBody>
          <a:bodyPr wrap="square" lIns="0" tIns="0" rIns="0" bIns="0" rtlCol="0" anchor="t"/>
          <a:lstStyle/>
          <a:p>
            <a:pPr algn="l" marL="177800" indent="-177800">
              <a:spcAft>
                <a:spcPts val="1200"/>
              </a:spcAft>
              <a:buSzPct val="100000"/>
              <a:buChar char="•"/>
            </a:pPr>
            <a:r>
              <a:rPr lang="en-US" sz="1600" dirty="0">
                <a:solidFill>
                  <a:schemeClr val="tx1"/>
                </a:solidFill>
              </a:rPr>
              <a:t>plan_stations, make_manifest, check_captures, register and analyze in sensorperf.cli</a:t>
            </a:r>
            <a:endParaRPr lang="en-US" sz="1600" dirty="0"/>
          </a:p>
          <a:p>
            <a:pPr algn="l" marL="177800" indent="-177800">
              <a:spcAft>
                <a:spcPts val="1200"/>
              </a:spcAft>
              <a:buSzPct val="100000"/>
              <a:buChar char="•"/>
            </a:pPr>
            <a:r>
              <a:rPr lang="en-US" sz="1600" dirty="0">
                <a:solidFill>
                  <a:schemeClr val="tx1"/>
                </a:solidFill>
              </a:rPr>
              <a:t>Install and self-test: procedure appendix C; every tool prints its options with --help, quoted in appendix B</a:t>
            </a:r>
            <a:endParaRPr lang="en-US" sz="1600" dirty="0"/>
          </a:p>
          <a:p>
            <a:pPr algn="l" marL="177800" indent="-177800">
              <a:spcAft>
                <a:spcPts val="1200"/>
              </a:spcAft>
              <a:buSzPct val="100000"/>
              <a:buChar char="•"/>
            </a:pPr>
            <a:r>
              <a:rPr lang="en-US" sz="1600" dirty="0">
                <a:solidFill>
                  <a:schemeClr val="tx1"/>
                </a:solidFill>
              </a:rPr>
              <a:t>The engineer runs analyze on the finished folder; results go into analysis/</a:t>
            </a:r>
            <a:endParaRPr lang="en-US" sz="16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lIns="0" tIns="0" rIns="0" bIns="0" anchor="b"/>
          <a:lstStyle>
            <a:lvl1pPr>
              <a:defRPr sz="1200">
                <a:solidFill>
                  <a:schemeClr val="accent5"/>
                </a:solidFill>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VSX3000 Performance">
  <a:themeElements>
    <a:clrScheme name="VSX3000 Performance">
      <a:dk1>
        <a:srgbClr val="1F2A30"/>
      </a:dk1>
      <a:lt1>
        <a:srgbClr val="FFFFFF"/>
      </a:lt1>
      <a:dk2>
        <a:srgbClr val="2E4A52"/>
      </a:dk2>
      <a:lt2>
        <a:srgbClr val="EEF2F3"/>
      </a:lt2>
      <a:accent1>
        <a:srgbClr val="D9731A"/>
      </a:accent1>
      <a:accent2>
        <a:srgbClr val="3E7C87"/>
      </a:accent2>
      <a:accent3>
        <a:srgbClr val="8FA9AE"/>
      </a:accent3>
      <a:accent4>
        <a:srgbClr val="B23A2E"/>
      </a:accent4>
      <a:accent5>
        <a:srgbClr val="5B6B70"/>
      </a:accent5>
      <a:accent6>
        <a:srgbClr val="C9D6D8"/>
      </a:accent6>
      <a:hlink>
        <a:srgbClr val="3E7C87"/>
      </a:hlink>
      <a:folHlink>
        <a:srgbClr val="5B6B70"/>
      </a:folHlink>
    </a:clrScheme>
    <a:fontScheme name="VSX3000 Performan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VSX3000 Performance Testing: Test Procedure and Robot Program</dc:title>
  <dc:subject>VSX3000 performance testing</dc:subject>
  <dc:creator>Sensor performance estimation</dc:creator>
  <cp:lastModifiedBy>Sensor performance estimation</cp:lastModifiedBy>
  <cp:revision>1</cp:revision>
  <dcterms:created xsi:type="dcterms:W3CDTF">2026-10-08T19:41:47Z</dcterms:created>
  <dcterms:modified xsi:type="dcterms:W3CDTF">2026-10-08T19:41:47Z</dcterms:modified>
</cp:coreProperties>
</file>
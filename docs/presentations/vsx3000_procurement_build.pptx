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8c3de7a-46ca-33c5-9840-e711c7b2b200}">
          <p14:sldIdLst>
            <p14:sldId id="256"/>
            <p14:sldId id="257"/>
            <p14:sldId id="258"/>
          </p14:sldIdLst>
        </p14:section>
        <p14:section name="Scope of work" id="{8d11da45-10fe-f691-70b1-5f6d08c825fe}">
          <p14:sldIdLst>
            <p14:sldId id="259"/>
            <p14:sldId id="260"/>
            <p14:sldId id="261"/>
          </p14:sldIdLst>
        </p14:section>
        <p14:section name="Procurement" id="{18b81176-13c1-6ea7-e8c1-c3084d7a1ada}">
          <p14:sldIdLst>
            <p14:sldId id="262"/>
            <p14:sldId id="263"/>
            <p14:sldId id="264"/>
          </p14:sldIdLst>
        </p14:section>
        <p14:section name="Mechanical build" id="{4e2bcf50-efac-ed89-c437-ae148da3e85f}">
          <p14:sldIdLst>
            <p14:sldId id="265"/>
            <p14:sldId id="266"/>
            <p14:sldId id="267"/>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covers what must be built and bought before the VSX3000 performance-testing session, and how the parts go together. It follows section 1 and appendices E and F of the technician procedure. The companion deck covers the test procedure and the robot program. The robot model is not yet chosen, so every flange part is drawn to the ISO 9409-1-50-4-M6 interface and must be confirmed against the chosen robot's flange drawing before machining.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target except the board is a two-plane construction: a front surface with knife edges standing a known gap in front of a back plate of the same finish. One geometry serves the edge, area, detection and boundary-bias tests. The board is the stage-1 calibration board on its SC1-05 adapter, which replaced a 400 mm noise plate; it also carries the registration. Feature sizes follow a ladder of 2 square root 2, so that over the 400 to 1600 mm working range each feature covers two octaves of subtended size and neighbors overlap by half an octave. Procedure section 2 and the specification's section 3.2 give the construction; the drawings are in appendix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unchamfered wall would be seen as a third surface by one camera and not the other, which corrupts exactly the edge measurements the procedure makes. The bevel angle must exceed the worst-case ray angle plus a 10 degree margin; at the indicative geometry that is 39 degrees, so the standard 45 degree bevel passes, but the engineer recomputes it once the sensor geometry is known. The land tolerance and the bevel are on every plate drawing, PT-04 to PT-07. Procedure section 2, chamfered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items are the mounting system (adapter, spigots, standoffs) and the four feature targets. The board, its adapter, the run-out fixture and the rigid sensor mount come from the stage-1 calibration project and cost nothing more when it has been run. The drawings are in appendix F of the procedure and in the repository folder docs/procedures/drawings; the PNG files print at full size and are the copies to send to the 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1c of the procedure. No feature-level metrology is bought: the fabricator's inspection report supplies the as-built feature sizes, and in-house the technician checks only each plate's flatness with the stage-1 run-out fixture and its width and length with the long calipers or a steel rule. The temperature loggers feed the drift attribution of analysis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cost figures come from one script, docs/procedures/build/costs.py, which also fills the procedure's section 1, so the deck and the procedure cannot disagree. The knife edges, the back bevels and the bead-blast finish are each a shop's judgment, which is why the targets are the least certain items. Get quotes before ordering.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drawings carry tolerances and the fabricator's inspection report fills the as-built record; where the report leaves a value out, the nominal value stands with the drawing tolerance as its uncertainty. The approximate masses are 3.9 kg for an edge target with its spigot and 3.0 kg for a feature plate; the heaviest target with the adapter is about 5.1 kg, which the robot's payload must exceed. Thermal growth of aluminum is small at these sizes but the session temperature is logged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board replaced a 400 mm noise plate. It serves registration, the noise series, the depth-step series (step ladder and ramp), the warm-up and settle checks, the drift sentinels and the optional drift run. The tilt sub-series of the noise series therefore runs at 476, 800 and 1600 mm rather than at 400 mm, where no tilt keeps the board's near edge beyond the near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E of the procedure. The targets are made to order; the only stock items are the pins, the loggers and the measuring tools. Keep the machining and the bead blasting with one shop, or have the shop send all plates out together, so that every surface the sensor sees has the same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Changing targets takes seconds and returns to the same datum each time, so no re-registration is needed, only the mount check of procedure step 4.8. The board T2 keeps its own stage-1 adapter, so swapping between the board and a feature target means swapping the adapter on the flange. The adapter is aluminum to keep the heaviest target with its adapter near 5 kg for a robot that is not yet chosen. Drawings PT-01 and PT-02, appendix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adapter stays on the robot flange for the whole session; a witness line across the adapter and the flange shows whether it has moved. Points for the shop to confirm are listed on the sheet and in appendix F: the counterbores notch the bore by 0.5 mm, the dowel-hole drill point stops 1.2 mm from the cross hole, and the ball-lock pin's grip length. The drawing is generated by docs/procedures/drawings/part_01_target_adapter.py.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spigot per feature target, four in all; they stay bolted to their targets. The mating pattern (detail M on the sheet) is shared by the plate drawings through the script spigot_pattern.py, so the plates and the spigot cannot disagree. The flange faces are machined with the body in one setup so the target face is square to the spigot axis within 0.02 mm over 80 mm. Drawing script part_02_target_spigot.py.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G between the planes is set by the standoff body alone, which is why its length and squareness are the tight dimensions. The disks of T4 stand on their own posts instead, one disk-and-post assembly per gap. Drawing script part_03_standoffs.py; the asymmetric studs are also read by the plate drawings.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targets have opposite edge polarity: front material inside the square, back plate inside the window. The square and the window are slanted 5 degrees so that every edge is slanted relative to the pixel grid for the slanted-edge analysis. The hidden standoffs of T3a sit on a 60 mm square, well inside the shadow of the square at the large gap; the corner standoffs of T3b are shown hidden at the 60 mm gap by the margin computed on the sheet. Drawing scripts part_04_t3a_raised_square.py and part_05_t3b_square_window.py; appendix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Site positions and diameters come from the code's target definitions (targets.json), never typed, and the same positions go into the as-built record. T5 is carried from its left short edge: in the open-background variant the back plate is removed and nothing may sit behind the holes within the sensor's range, so the spigot cannot be at the plate center. The disk-and-post assemblies of T4 are on sheet 2 of PT-06. Drawing scripts part_06_t4_disk_plate.py and part_07_t5_cutout_plate.py; appendix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1e of the procedure. The run-out fixture replaces the straightedge and feeler gauges of the earlier projects as the flatness check: the robot turns the plate in front of the indicator. The drift-run stand needs no drawing because the sentinel captures of the run show whether it 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checks of procedure sections 1f and 2 and of the mount check of step 4.8, gathered for the build. The post check itself runs on the first captures of series C (procedure section 10, step 1): if a post-only site shows detections above the false-alarm rate the posts must be remade thinner.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1463040"/>
          </a:xfrm>
          <a:prstGeom prst="rect">
            <a:avLst/>
          </a:prstGeom>
          <a:noFill/>
          <a:ln/>
        </p:spPr>
        <p:txBody>
          <a:bodyPr wrap="square" rtlCol="0"/>
          <a:lstStyle>
            <a:lvl1pPr algn="l" indent="0" marL="0">
              <a:buNone/>
              <a:defRPr lang="en-US" sz="4400" b="1" dirty="0">
                <a:solidFill>
                  <a:schemeClr val="bg1"/>
                </a:solidFill>
                <a:latin typeface="+mj-lt" pitchFamily="34" charset="0"/>
                <a:ea typeface="+mj-lt" pitchFamily="34" charset="-122"/>
                <a:cs typeface="+mj-lt" pitchFamily="34" charset="-120"/>
              </a:defRPr>
            </a:lvl1pPr>
          </a:lstStyle>
          <a:p>
            <a:pPr algn="l" indent="0" marL="0">
              <a:buNone/>
            </a:pPr>
            <a:r>
              <a:rPr lang="en-US" sz="4400" b="1" dirty="0">
                <a:solidFill>
                  <a:schemeClr val="bg1"/>
                </a:solidFill>
                <a:latin typeface="+mj-lt" pitchFamily="34" charset="0"/>
                <a:ea typeface="+mj-lt" pitchFamily="34" charset="-122"/>
                <a:cs typeface="+mj-lt" pitchFamily="34" charset="-120"/>
              </a:rPr>
              <a:t>Title</a:t>
            </a:r>
            <a:endParaRPr lang="en-US" sz="4400" dirty="0"/>
          </a:p>
        </p:txBody>
      </p:sp>
      <p:sp>
        <p:nvSpPr>
          <p:cNvPr id="3" name="Text 0"/>
          <p:cNvSpPr/>
          <p:nvPr>
            <p:ph idx="101" type="body" hasCustomPrompt="1"/>
          </p:nvPr>
        </p:nvSpPr>
        <p:spPr>
          <a:xfrm>
            <a:off x="457200" y="2103120"/>
            <a:ext cx="8229600" cy="822960"/>
          </a:xfrm>
          <a:prstGeom prst="rect">
            <a:avLst/>
          </a:prstGeom>
          <a:noFill/>
          <a:ln/>
        </p:spPr>
        <p:txBody>
          <a:bodyPr wrap="square" rtlCol="0"/>
          <a:lstStyle>
            <a:lvl1pPr algn="l" indent="0" marL="0">
              <a:buNone/>
              <a:defRPr lang="en-US" sz="2200" dirty="0">
                <a:solidFill>
                  <a:schemeClr val="accent6"/>
                </a:solidFill>
              </a:defRPr>
            </a:lvl1pPr>
          </a:lstStyle>
          <a:p>
            <a:pPr algn="l" indent="0" marL="0">
              <a:buNone/>
            </a:pPr>
            <a:r>
              <a:rPr lang="en-US" sz="2200" dirty="0">
                <a:solidFill>
                  <a:schemeClr val="accent6"/>
                </a:solidFill>
              </a:rPr>
              <a:t>Subtitle</a:t>
            </a:r>
            <a:endParaRPr lang="en-US" sz="2200" dirty="0"/>
          </a:p>
        </p:txBody>
      </p:sp>
      <p:sp>
        <p:nvSpPr>
          <p:cNvPr id="4" name="Text 0"/>
          <p:cNvSpPr/>
          <p:nvPr>
            <p:ph idx="102" type="body" hasCustomPrompt="1"/>
          </p:nvPr>
        </p:nvSpPr>
        <p:spPr>
          <a:xfrm>
            <a:off x="457200" y="6035040"/>
            <a:ext cx="11277295" cy="365760"/>
          </a:xfrm>
          <a:prstGeom prst="rect">
            <a:avLst/>
          </a:prstGeom>
          <a:noFill/>
          <a:ln/>
        </p:spPr>
        <p:txBody>
          <a:bodyPr wrap="square" rtlCol="0"/>
          <a:lstStyle>
            <a:lvl1pPr algn="l" indent="0" marL="0">
              <a:buNone/>
              <a:defRPr lang="en-US" sz="1400" dirty="0">
                <a:solidFill>
                  <a:schemeClr val="accent6"/>
                </a:solidFill>
              </a:defRPr>
            </a:lvl1pPr>
          </a:lstStyle>
          <a:p>
            <a:pPr algn="l" indent="0" marL="0">
              <a:buNone/>
            </a:pPr>
            <a:r>
              <a:rPr lang="en-US" sz="1400" dirty="0">
                <a:solidFill>
                  <a:schemeClr val="accent6"/>
                </a:solidFill>
              </a:rPr>
              <a:t>Footer</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rtlCol="0"/>
          <a:lstStyle>
            <a:lvl1pPr algn="l" indent="0" marL="0">
              <a:buNone/>
              <a:defRPr lang="en-US" sz="3400" b="1" dirty="0">
                <a:solidFill>
                  <a:schemeClr val="tx2"/>
                </a:solidFill>
                <a:latin typeface="+mj-lt" pitchFamily="34" charset="0"/>
                <a:ea typeface="+mj-lt" pitchFamily="34" charset="-122"/>
                <a:cs typeface="+mj-lt" pitchFamily="34" charset="-120"/>
              </a:defRPr>
            </a:lvl1pPr>
          </a:lstStyle>
          <a:p>
            <a:pPr algn="l" indent="0" marL="0">
              <a:buNone/>
            </a:pPr>
            <a:r>
              <a:rPr lang="en-US" sz="3400" b="1" dirty="0">
                <a:solidFill>
                  <a:schemeClr val="tx2"/>
                </a:solidFill>
                <a:latin typeface="+mj-lt" pitchFamily="34" charset="0"/>
                <a:ea typeface="+mj-lt" pitchFamily="34" charset="-122"/>
                <a:cs typeface="+mj-lt" pitchFamily="34" charset="-120"/>
              </a:rPr>
              <a:t>Title</a:t>
            </a:r>
            <a:endParaRPr lang="en-US" sz="3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3.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slideLayout" Target="../slideLayouts/slideLayout3.xml"/><Relationship Id="rId11"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1463040"/>
          </a:xfrm>
          <a:prstGeom prst="rect">
            <a:avLst/>
          </a:prstGeom>
          <a:noFill/>
          <a:ln/>
        </p:spPr>
        <p:txBody>
          <a:bodyPr wrap="square" lIns="0" tIns="0" rIns="0" bIns="0" rtlCol="0" anchor="b"/>
          <a:lstStyle/>
          <a:p>
            <a:pPr algn="l" indent="0" marL="0">
              <a:buNone/>
            </a:pPr>
            <a:r>
              <a:rPr lang="en-US" sz="4400" b="1" dirty="0">
                <a:solidFill>
                  <a:schemeClr val="bg1"/>
                </a:solidFill>
                <a:latin typeface="+mj-lt" pitchFamily="34" charset="0"/>
                <a:ea typeface="+mj-lt" pitchFamily="34" charset="-122"/>
                <a:cs typeface="+mj-lt" pitchFamily="34" charset="-120"/>
              </a:rPr>
              <a:t>VSX3000 Performance Testing: Procurement and Build</a:t>
            </a:r>
            <a:endParaRPr lang="en-US" sz="4400" dirty="0"/>
          </a:p>
        </p:txBody>
      </p:sp>
      <p:sp>
        <p:nvSpPr>
          <p:cNvPr id="3" name="Text 0"/>
          <p:cNvSpPr/>
          <p:nvPr>
            <p:ph idx="101" type="body" hasCustomPrompt="1"/>
          </p:nvPr>
        </p:nvSpPr>
        <p:spPr>
          <a:xfrm>
            <a:off x="457200" y="2103120"/>
            <a:ext cx="8229600" cy="822960"/>
          </a:xfrm>
          <a:prstGeom prst="rect">
            <a:avLst/>
          </a:prstGeom>
          <a:noFill/>
          <a:ln/>
        </p:spPr>
        <p:txBody>
          <a:bodyPr wrap="square" lIns="0" tIns="0" rIns="0" bIns="0" rtlCol="0" anchor="t"/>
          <a:lstStyle/>
          <a:p>
            <a:pPr algn="l" indent="0" marL="0">
              <a:buNone/>
            </a:pPr>
            <a:r>
              <a:rPr lang="en-US" sz="2200" dirty="0">
                <a:solidFill>
                  <a:schemeClr val="accent6"/>
                </a:solidFill>
              </a:rPr>
              <a:t>The targets, the mounting system and the fixtures needed for the characterization captures</a:t>
            </a:r>
            <a:endParaRPr lang="en-US" sz="2200" dirty="0"/>
          </a:p>
        </p:txBody>
      </p:sp>
      <p:sp>
        <p:nvSpPr>
          <p:cNvPr id="4" name="Text 0"/>
          <p:cNvSpPr/>
          <p:nvPr>
            <p:ph idx="102" type="body" hasCustomPrompt="1"/>
          </p:nvPr>
        </p:nvSpPr>
        <p:spPr>
          <a:xfrm>
            <a:off x="457200" y="6035040"/>
            <a:ext cx="11277295" cy="365760"/>
          </a:xfrm>
          <a:prstGeom prst="rect">
            <a:avLst/>
          </a:prstGeom>
          <a:noFill/>
          <a:ln/>
        </p:spPr>
        <p:txBody>
          <a:bodyPr wrap="square" lIns="0" tIns="0" rIns="0" bIns="0" rtlCol="0" anchor="b"/>
          <a:lstStyle/>
          <a:p>
            <a:pPr algn="l" indent="0" marL="0">
              <a:buNone/>
            </a:pPr>
            <a:r>
              <a:rPr lang="en-US" sz="1400" dirty="0">
                <a:solidFill>
                  <a:schemeClr val="accent6"/>
                </a:solidFill>
              </a:rPr>
              <a:t>Procurement and mechanical build  ·  October 2026</a:t>
            </a:r>
            <a:endParaRPr lang="en-US" sz="1400" dirty="0"/>
          </a:p>
        </p:txBody>
      </p:sp>
      <p:sp>
        <p:nvSpPr>
          <p:cNvPr id="5" name="Graphic sensor body"/>
          <p:cNvSpPr/>
          <p:nvPr/>
        </p:nvSpPr>
        <p:spPr>
          <a:xfrm>
            <a:off x="457200" y="4023360"/>
            <a:ext cx="1005840" cy="1371600"/>
          </a:xfrm>
          <a:prstGeom prst="roundRect">
            <a:avLst>
              <a:gd name="adj" fmla="val 10909"/>
            </a:avLst>
          </a:prstGeom>
          <a:solidFill>
            <a:schemeClr val="accent2"/>
          </a:solidFill>
          <a:ln w="25400">
            <a:solidFill>
              <a:schemeClr val="accent6"/>
            </a:solidFill>
            <a:prstDash val="solid"/>
          </a:ln>
        </p:spPr>
      </p:sp>
      <p:sp>
        <p:nvSpPr>
          <p:cNvPr id="6" name="Graphic sensor lens"/>
          <p:cNvSpPr/>
          <p:nvPr/>
        </p:nvSpPr>
        <p:spPr>
          <a:xfrm>
            <a:off x="868680" y="4480560"/>
            <a:ext cx="457200" cy="457200"/>
          </a:xfrm>
          <a:prstGeom prst="ellipse">
            <a:avLst/>
          </a:prstGeom>
          <a:solidFill>
            <a:schemeClr val="accent3"/>
          </a:solidFill>
          <a:ln/>
        </p:spPr>
      </p:sp>
      <p:sp>
        <p:nvSpPr>
          <p:cNvPr id="7" name="Graphic board 1"/>
          <p:cNvSpPr/>
          <p:nvPr/>
        </p:nvSpPr>
        <p:spPr>
          <a:xfrm>
            <a:off x="3511296" y="3657600"/>
            <a:ext cx="128016" cy="2103120"/>
          </a:xfrm>
          <a:prstGeom prst="roundRect">
            <a:avLst>
              <a:gd name="adj" fmla="val 28571"/>
            </a:avLst>
          </a:prstGeom>
          <a:solidFill>
            <a:schemeClr val="accent6"/>
          </a:solidFill>
          <a:ln w="25400">
            <a:solidFill>
              <a:schemeClr val="accent3"/>
            </a:solidFill>
            <a:prstDash val="solid"/>
          </a:ln>
        </p:spPr>
      </p:sp>
      <p:sp>
        <p:nvSpPr>
          <p:cNvPr id="8" name="Graphic board 1 tool-frame origin"/>
          <p:cNvSpPr/>
          <p:nvPr/>
        </p:nvSpPr>
        <p:spPr>
          <a:xfrm>
            <a:off x="3465576" y="4599432"/>
            <a:ext cx="219456" cy="219456"/>
          </a:xfrm>
          <a:prstGeom prst="ellipse">
            <a:avLst/>
          </a:prstGeom>
          <a:solidFill>
            <a:schemeClr val="accent1"/>
          </a:solidFill>
          <a:ln/>
        </p:spPr>
      </p:sp>
      <p:sp>
        <p:nvSpPr>
          <p:cNvPr id="9" name="Graphic board 2"/>
          <p:cNvSpPr/>
          <p:nvPr/>
        </p:nvSpPr>
        <p:spPr>
          <a:xfrm rot="900000">
            <a:off x="4279392" y="3657600"/>
            <a:ext cx="128016" cy="2103120"/>
          </a:xfrm>
          <a:prstGeom prst="roundRect">
            <a:avLst>
              <a:gd name="adj" fmla="val 28571"/>
            </a:avLst>
          </a:prstGeom>
          <a:solidFill>
            <a:schemeClr val="accent6"/>
          </a:solidFill>
          <a:ln w="25400">
            <a:solidFill>
              <a:schemeClr val="accent3"/>
            </a:solidFill>
            <a:prstDash val="solid"/>
          </a:ln>
        </p:spPr>
      </p:sp>
      <p:sp>
        <p:nvSpPr>
          <p:cNvPr id="10" name="Graphic board 2 tool-frame origin"/>
          <p:cNvSpPr/>
          <p:nvPr/>
        </p:nvSpPr>
        <p:spPr>
          <a:xfrm>
            <a:off x="4233672" y="4599432"/>
            <a:ext cx="219456" cy="219456"/>
          </a:xfrm>
          <a:prstGeom prst="ellipse">
            <a:avLst/>
          </a:prstGeom>
          <a:solidFill>
            <a:schemeClr val="accent1"/>
          </a:solidFill>
          <a:ln/>
        </p:spPr>
      </p:sp>
      <p:sp>
        <p:nvSpPr>
          <p:cNvPr id="11" name="Graphic board 3"/>
          <p:cNvSpPr/>
          <p:nvPr/>
        </p:nvSpPr>
        <p:spPr>
          <a:xfrm rot="1800000">
            <a:off x="5047488" y="3657600"/>
            <a:ext cx="128016" cy="2103120"/>
          </a:xfrm>
          <a:prstGeom prst="roundRect">
            <a:avLst>
              <a:gd name="adj" fmla="val 28571"/>
            </a:avLst>
          </a:prstGeom>
          <a:solidFill>
            <a:schemeClr val="accent6"/>
          </a:solidFill>
          <a:ln w="25400">
            <a:solidFill>
              <a:schemeClr val="accent3"/>
            </a:solidFill>
            <a:prstDash val="solid"/>
          </a:ln>
        </p:spPr>
      </p:sp>
      <p:sp>
        <p:nvSpPr>
          <p:cNvPr id="12" name="Graphic board 3 tool-frame origin"/>
          <p:cNvSpPr/>
          <p:nvPr/>
        </p:nvSpPr>
        <p:spPr>
          <a:xfrm>
            <a:off x="5001768" y="4599432"/>
            <a:ext cx="219456" cy="219456"/>
          </a:xfrm>
          <a:prstGeom prst="ellipse">
            <a:avLst/>
          </a:prstGeom>
          <a:solidFill>
            <a:schemeClr val="accent1"/>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Five targets, one two-plane construction</a:t>
            </a:r>
            <a:endParaRPr lang="en-US" sz="3400" dirty="0"/>
          </a:p>
        </p:txBody>
      </p:sp>
      <p:sp>
        <p:nvSpPr>
          <p:cNvPr id="3" name="Figure card"/>
          <p:cNvSpPr/>
          <p:nvPr/>
        </p:nvSpPr>
        <p:spPr>
          <a:xfrm>
            <a:off x="457200" y="1417320"/>
            <a:ext cx="3749040" cy="4709160"/>
          </a:xfrm>
          <a:prstGeom prst="roundRect">
            <a:avLst>
              <a:gd name="adj" fmla="val 2927"/>
            </a:avLst>
          </a:prstGeom>
          <a:solidFill>
            <a:schemeClr val="bg1"/>
          </a:solidFill>
          <a:ln w="12700">
            <a:solidFill>
              <a:schemeClr val="accent6"/>
            </a:solidFill>
            <a:prstDash val="solid"/>
          </a:ln>
        </p:spPr>
      </p:sp>
      <p:pic>
        <p:nvPicPr>
          <p:cNvPr id="4" name="Front views of the five targets T2, T3a, T3b, T4 and T5 to one scale" descr="Front views of the five targets T2, T3a, T3b, T4 and T5 to one scale">    </p:cNvPr>
          <p:cNvPicPr>
            <a:picLocks noChangeAspect="1"/>
          </p:cNvPicPr>
          <p:nvPr/>
        </p:nvPicPr>
        <p:blipFill>
          <a:blip r:embed="rId1"/>
          <a:stretch>
            <a:fillRect/>
          </a:stretch>
        </p:blipFill>
        <p:spPr>
          <a:xfrm>
            <a:off x="685800" y="2054446"/>
            <a:ext cx="3291840" cy="2282764"/>
          </a:xfrm>
          <a:prstGeom prst="rect">
            <a:avLst/>
          </a:prstGeom>
        </p:spPr>
      </p:pic>
      <p:sp>
        <p:nvSpPr>
          <p:cNvPr id="5" name="Figure caption"/>
          <p:cNvSpPr txBox="1"/>
          <p:nvPr/>
        </p:nvSpPr>
        <p:spPr>
          <a:xfrm>
            <a:off x="685800" y="4520090"/>
            <a:ext cx="3291840" cy="969264"/>
          </a:xfrm>
          <a:prstGeom prst="rect">
            <a:avLst/>
          </a:prstGeom>
          <a:noFill/>
          <a:ln/>
        </p:spPr>
        <p:txBody>
          <a:bodyPr wrap="square" lIns="0" tIns="0" rIns="0" bIns="0" rtlCol="0" anchor="t"/>
          <a:lstStyle/>
          <a:p>
            <a:pPr algn="l" indent="0" marL="0">
              <a:buNone/>
            </a:pPr>
            <a:r>
              <a:rPr lang="en-US" sz="1200" dirty="0">
                <a:solidFill>
                  <a:schemeClr val="accent5"/>
                </a:solidFill>
              </a:rPr>
              <a:t>Front views of T2, T3a, T3b, T4 and T5 to one scale, from the code's own target definitions at the indicative sensor geometry. Gray is the back plate, dashed circles are blank sites, the dot on T4 is the post-only site.</a:t>
            </a:r>
            <a:endParaRPr lang="en-US" sz="1200" dirty="0"/>
          </a:p>
        </p:txBody>
      </p:sp>
      <p:sp>
        <p:nvSpPr>
          <p:cNvPr id="6" name="Fixture 1 card"/>
          <p:cNvSpPr/>
          <p:nvPr/>
        </p:nvSpPr>
        <p:spPr>
          <a:xfrm>
            <a:off x="4480560" y="1417320"/>
            <a:ext cx="7253935" cy="964785"/>
          </a:xfrm>
          <a:prstGeom prst="roundRect">
            <a:avLst>
              <a:gd name="adj" fmla="val 11373"/>
            </a:avLst>
          </a:prstGeom>
          <a:solidFill>
            <a:schemeClr val="bg2"/>
          </a:solidFill>
          <a:ln/>
        </p:spPr>
      </p:sp>
      <p:sp>
        <p:nvSpPr>
          <p:cNvPr id="7" name="Fixture 1 icon circle"/>
          <p:cNvSpPr/>
          <p:nvPr/>
        </p:nvSpPr>
        <p:spPr>
          <a:xfrm>
            <a:off x="4709160" y="1579673"/>
            <a:ext cx="640080" cy="640080"/>
          </a:xfrm>
          <a:prstGeom prst="ellipse">
            <a:avLst/>
          </a:prstGeom>
          <a:solidFill>
            <a:schemeClr val="accent2"/>
          </a:solidFill>
          <a:ln/>
        </p:spPr>
      </p:sp>
      <p:pic>
        <p:nvPicPr>
          <p:cNvPr id="8" name="Fixture 1 icon glyph" descr="board icon">    </p:cNvPr>
          <p:cNvPicPr>
            <a:picLocks noChangeAspect="1"/>
          </p:cNvPicPr>
          <p:nvPr/>
        </p:nvPicPr>
        <p:blipFill>
          <a:blip r:embed="rId2"/>
          <a:stretch>
            <a:fillRect/>
          </a:stretch>
        </p:blipFill>
        <p:spPr>
          <a:xfrm>
            <a:off x="4869180" y="1739693"/>
            <a:ext cx="320040" cy="320040"/>
          </a:xfrm>
          <a:prstGeom prst="rect">
            <a:avLst/>
          </a:prstGeom>
        </p:spPr>
      </p:pic>
      <p:sp>
        <p:nvSpPr>
          <p:cNvPr id="9" name="Fixture 1 text"/>
          <p:cNvSpPr txBox="1"/>
          <p:nvPr/>
        </p:nvSpPr>
        <p:spPr>
          <a:xfrm>
            <a:off x="5532120" y="1508760"/>
            <a:ext cx="5973775" cy="781905"/>
          </a:xfrm>
          <a:prstGeom prst="rect">
            <a:avLst/>
          </a:prstGeom>
          <a:noFill/>
          <a:ln/>
        </p:spPr>
        <p:txBody>
          <a:bodyPr wrap="square" lIns="0" tIns="0" rIns="0" bIns="0" rtlCol="0" anchor="ctr"/>
          <a:lstStyle/>
          <a:p>
            <a:pPr algn="l" indent="0" marL="0">
              <a:buNone/>
            </a:pPr>
            <a:r>
              <a:rPr lang="en-US" sz="1800" b="1" dirty="0">
                <a:solidFill>
                  <a:schemeClr val="tx2"/>
                </a:solidFill>
              </a:rPr>
              <a:t>T2, the board</a:t>
            </a:r>
            <a:endParaRPr lang="en-US" sz="1600" dirty="0"/>
          </a:p>
          <a:p>
            <a:pPr algn="l" indent="0" marL="0">
              <a:buNone/>
            </a:pPr>
            <a:r>
              <a:rPr lang="en-US" sz="1400" dirty="0">
                <a:solidFill>
                  <a:schemeClr val="tx1"/>
                </a:solidFill>
              </a:rPr>
              <a:t>The stage-1 calibration board, 200 x 150 mm, flat to 0.05 mm, on its own board adapter: registration, noise, depth steps and the drift sentinels</a:t>
            </a:r>
            <a:endParaRPr lang="en-US" sz="1600" dirty="0"/>
          </a:p>
        </p:txBody>
      </p:sp>
      <p:sp>
        <p:nvSpPr>
          <p:cNvPr id="10" name="Fixture 2 card"/>
          <p:cNvSpPr/>
          <p:nvPr/>
        </p:nvSpPr>
        <p:spPr>
          <a:xfrm>
            <a:off x="4480560" y="2519265"/>
            <a:ext cx="7253935" cy="1184055"/>
          </a:xfrm>
          <a:prstGeom prst="roundRect">
            <a:avLst>
              <a:gd name="adj" fmla="val 9267"/>
            </a:avLst>
          </a:prstGeom>
          <a:solidFill>
            <a:schemeClr val="bg2"/>
          </a:solidFill>
          <a:ln/>
        </p:spPr>
      </p:sp>
      <p:sp>
        <p:nvSpPr>
          <p:cNvPr id="11" name="Fixture 2 icon circle"/>
          <p:cNvSpPr/>
          <p:nvPr/>
        </p:nvSpPr>
        <p:spPr>
          <a:xfrm>
            <a:off x="4709160" y="2791253"/>
            <a:ext cx="640080" cy="640080"/>
          </a:xfrm>
          <a:prstGeom prst="ellipse">
            <a:avLst/>
          </a:prstGeom>
          <a:solidFill>
            <a:schemeClr val="accent2"/>
          </a:solidFill>
          <a:ln/>
        </p:spPr>
      </p:sp>
      <p:pic>
        <p:nvPicPr>
          <p:cNvPr id="12" name="Fixture 2 icon glyph" descr="layers icon">    </p:cNvPr>
          <p:cNvPicPr>
            <a:picLocks noChangeAspect="1"/>
          </p:cNvPicPr>
          <p:nvPr/>
        </p:nvPicPr>
        <p:blipFill>
          <a:blip r:embed="rId3"/>
          <a:stretch>
            <a:fillRect/>
          </a:stretch>
        </p:blipFill>
        <p:spPr>
          <a:xfrm>
            <a:off x="4869180" y="2951273"/>
            <a:ext cx="320040" cy="320040"/>
          </a:xfrm>
          <a:prstGeom prst="rect">
            <a:avLst/>
          </a:prstGeom>
        </p:spPr>
      </p:pic>
      <p:sp>
        <p:nvSpPr>
          <p:cNvPr id="13" name="Fixture 2 text"/>
          <p:cNvSpPr txBox="1"/>
          <p:nvPr/>
        </p:nvSpPr>
        <p:spPr>
          <a:xfrm>
            <a:off x="5532120" y="2610705"/>
            <a:ext cx="5973775" cy="1001175"/>
          </a:xfrm>
          <a:prstGeom prst="rect">
            <a:avLst/>
          </a:prstGeom>
          <a:noFill/>
          <a:ln/>
        </p:spPr>
        <p:txBody>
          <a:bodyPr wrap="square" lIns="0" tIns="0" rIns="0" bIns="0" rtlCol="0" anchor="ctr"/>
          <a:lstStyle/>
          <a:p>
            <a:pPr algn="l" indent="0" marL="0">
              <a:buNone/>
            </a:pPr>
            <a:r>
              <a:rPr lang="en-US" sz="1800" b="1" dirty="0">
                <a:solidFill>
                  <a:schemeClr val="tx2"/>
                </a:solidFill>
              </a:rPr>
              <a:t>T3a and T3b, the edge targets</a:t>
            </a:r>
            <a:endParaRPr lang="en-US" sz="1600" dirty="0"/>
          </a:p>
          <a:p>
            <a:pPr algn="l" indent="0" marL="0">
              <a:buNone/>
            </a:pPr>
            <a:r>
              <a:rPr lang="en-US" sz="1400" dirty="0">
                <a:solidFill>
                  <a:schemeClr val="tx1"/>
                </a:solidFill>
              </a:rPr>
              <a:t>A raised 160 mm square on hidden standoffs, and a 160 mm window in a front plate; 300 x 300 mm back plates; both edge polarities for lateral resolution</a:t>
            </a:r>
            <a:endParaRPr lang="en-US" sz="1600" dirty="0"/>
          </a:p>
        </p:txBody>
      </p:sp>
      <p:sp>
        <p:nvSpPr>
          <p:cNvPr id="14" name="Fixture 3 card"/>
          <p:cNvSpPr/>
          <p:nvPr/>
        </p:nvSpPr>
        <p:spPr>
          <a:xfrm>
            <a:off x="4480560" y="3840480"/>
            <a:ext cx="7253935" cy="1184055"/>
          </a:xfrm>
          <a:prstGeom prst="roundRect">
            <a:avLst>
              <a:gd name="adj" fmla="val 9267"/>
            </a:avLst>
          </a:prstGeom>
          <a:solidFill>
            <a:schemeClr val="bg2"/>
          </a:solidFill>
          <a:ln/>
        </p:spPr>
      </p:sp>
      <p:sp>
        <p:nvSpPr>
          <p:cNvPr id="15" name="Fixture 3 icon circle"/>
          <p:cNvSpPr/>
          <p:nvPr/>
        </p:nvSpPr>
        <p:spPr>
          <a:xfrm>
            <a:off x="4709160" y="4112467"/>
            <a:ext cx="640080" cy="640080"/>
          </a:xfrm>
          <a:prstGeom prst="ellipse">
            <a:avLst/>
          </a:prstGeom>
          <a:solidFill>
            <a:schemeClr val="accent2"/>
          </a:solidFill>
          <a:ln/>
        </p:spPr>
      </p:sp>
      <p:pic>
        <p:nvPicPr>
          <p:cNvPr id="16" name="Fixture 3 icon glyph" descr="crosshairs icon">    </p:cNvPr>
          <p:cNvPicPr>
            <a:picLocks noChangeAspect="1"/>
          </p:cNvPicPr>
          <p:nvPr/>
        </p:nvPicPr>
        <p:blipFill>
          <a:blip r:embed="rId4"/>
          <a:stretch>
            <a:fillRect/>
          </a:stretch>
        </p:blipFill>
        <p:spPr>
          <a:xfrm>
            <a:off x="4869180" y="4272487"/>
            <a:ext cx="320040" cy="320040"/>
          </a:xfrm>
          <a:prstGeom prst="rect">
            <a:avLst/>
          </a:prstGeom>
        </p:spPr>
      </p:pic>
      <p:sp>
        <p:nvSpPr>
          <p:cNvPr id="17" name="Fixture 3 text"/>
          <p:cNvSpPr txBox="1"/>
          <p:nvPr/>
        </p:nvSpPr>
        <p:spPr>
          <a:xfrm>
            <a:off x="5532120" y="3931920"/>
            <a:ext cx="5973775" cy="1001175"/>
          </a:xfrm>
          <a:prstGeom prst="rect">
            <a:avLst/>
          </a:prstGeom>
          <a:noFill/>
          <a:ln/>
        </p:spPr>
        <p:txBody>
          <a:bodyPr wrap="square" lIns="0" tIns="0" rIns="0" bIns="0" rtlCol="0" anchor="ctr"/>
          <a:lstStyle/>
          <a:p>
            <a:pPr algn="l" indent="0" marL="0">
              <a:buNone/>
            </a:pPr>
            <a:r>
              <a:rPr lang="en-US" sz="1800" b="1" dirty="0">
                <a:solidFill>
                  <a:schemeClr val="tx2"/>
                </a:solidFill>
              </a:rPr>
              <a:t>T4 and T5, the feature plates</a:t>
            </a:r>
            <a:endParaRPr lang="en-US" sz="1600" dirty="0"/>
          </a:p>
          <a:p>
            <a:pPr algn="l" indent="0" marL="0">
              <a:buNone/>
            </a:pPr>
            <a:r>
              <a:rPr lang="en-US" sz="1400" dirty="0">
                <a:solidFill>
                  <a:schemeClr val="tx1"/>
                </a:solidFill>
              </a:rPr>
              <a:t>Three disks of 7.0, 19.7 and 55.8 mm on 2 mm posts, and three holes of the same sizes in a front plate; 336 x 198 mm; blank sites give the false-alarm rate</a:t>
            </a:r>
            <a:endParaRPr lang="en-US" sz="1600" dirty="0"/>
          </a:p>
        </p:txBody>
      </p:sp>
      <p:sp>
        <p:nvSpPr>
          <p:cNvPr id="18" name="Fixture 4 card"/>
          <p:cNvSpPr/>
          <p:nvPr/>
        </p:nvSpPr>
        <p:spPr>
          <a:xfrm>
            <a:off x="4480560" y="5161695"/>
            <a:ext cx="7253935" cy="964785"/>
          </a:xfrm>
          <a:prstGeom prst="roundRect">
            <a:avLst>
              <a:gd name="adj" fmla="val 11373"/>
            </a:avLst>
          </a:prstGeom>
          <a:solidFill>
            <a:schemeClr val="bg2"/>
          </a:solidFill>
          <a:ln/>
        </p:spPr>
      </p:sp>
      <p:sp>
        <p:nvSpPr>
          <p:cNvPr id="19" name="Fixture 4 icon circle"/>
          <p:cNvSpPr/>
          <p:nvPr/>
        </p:nvSpPr>
        <p:spPr>
          <a:xfrm>
            <a:off x="4709160" y="5324047"/>
            <a:ext cx="640080" cy="640080"/>
          </a:xfrm>
          <a:prstGeom prst="ellipse">
            <a:avLst/>
          </a:prstGeom>
          <a:solidFill>
            <a:schemeClr val="accent2"/>
          </a:solidFill>
          <a:ln/>
        </p:spPr>
      </p:sp>
      <p:pic>
        <p:nvPicPr>
          <p:cNvPr id="20" name="Fixture 4 icon glyph" descr="ruler icon">    </p:cNvPr>
          <p:cNvPicPr>
            <a:picLocks noChangeAspect="1"/>
          </p:cNvPicPr>
          <p:nvPr/>
        </p:nvPicPr>
        <p:blipFill>
          <a:blip r:embed="rId5"/>
          <a:stretch>
            <a:fillRect/>
          </a:stretch>
        </p:blipFill>
        <p:spPr>
          <a:xfrm>
            <a:off x="4869180" y="5484067"/>
            <a:ext cx="320040" cy="320040"/>
          </a:xfrm>
          <a:prstGeom prst="rect">
            <a:avLst/>
          </a:prstGeom>
        </p:spPr>
      </p:pic>
      <p:sp>
        <p:nvSpPr>
          <p:cNvPr id="21" name="Fixture 4 text"/>
          <p:cNvSpPr txBox="1"/>
          <p:nvPr/>
        </p:nvSpPr>
        <p:spPr>
          <a:xfrm>
            <a:off x="5532120" y="5253135"/>
            <a:ext cx="5973775" cy="781905"/>
          </a:xfrm>
          <a:prstGeom prst="rect">
            <a:avLst/>
          </a:prstGeom>
          <a:noFill/>
          <a:ln/>
        </p:spPr>
        <p:txBody>
          <a:bodyPr wrap="square" lIns="0" tIns="0" rIns="0" bIns="0" rtlCol="0" anchor="ctr"/>
          <a:lstStyle/>
          <a:p>
            <a:pPr algn="l" indent="0" marL="0">
              <a:buNone/>
            </a:pPr>
            <a:r>
              <a:rPr lang="en-US" sz="1800" b="1" dirty="0">
                <a:solidFill>
                  <a:schemeClr val="tx2"/>
                </a:solidFill>
              </a:rPr>
              <a:t>Two gaps</a:t>
            </a:r>
            <a:endParaRPr lang="en-US" sz="1600" dirty="0"/>
          </a:p>
          <a:p>
            <a:pPr algn="l" indent="0" marL="0">
              <a:buNone/>
            </a:pPr>
            <a:r>
              <a:rPr lang="en-US" sz="1400" dirty="0">
                <a:solidFill>
                  <a:schemeClr val="tx1"/>
                </a:solidFill>
              </a:rPr>
              <a:t>Standoffs set the gap G, 15 mm or 60 mm, between the faces the sensor sees, so every result is measured at two step heights</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Every boundary is a knife edge beveled from the back</a:t>
            </a:r>
            <a:endParaRPr lang="en-US" sz="3400" dirty="0"/>
          </a:p>
        </p:txBody>
      </p:sp>
      <p:sp>
        <p:nvSpPr>
          <p:cNvPr id="3" name="Figure card"/>
          <p:cNvSpPr/>
          <p:nvPr/>
        </p:nvSpPr>
        <p:spPr>
          <a:xfrm>
            <a:off x="457200" y="1417320"/>
            <a:ext cx="4480560" cy="4709160"/>
          </a:xfrm>
          <a:prstGeom prst="roundRect">
            <a:avLst>
              <a:gd name="adj" fmla="val 2449"/>
            </a:avLst>
          </a:prstGeom>
          <a:solidFill>
            <a:schemeClr val="bg1"/>
          </a:solidFill>
          <a:ln w="12700">
            <a:solidFill>
              <a:schemeClr val="accent6"/>
            </a:solidFill>
            <a:prstDash val="solid"/>
          </a:ln>
        </p:spPr>
      </p:sp>
      <p:pic>
        <p:nvPicPr>
          <p:cNvPr id="4" name="Cross-section of a cutout and of a disk on its post with the bevel at the knife edge" descr="Cross-section of a cutout and of a disk on its post with the bevel at the knife edge">    </p:cNvPr>
          <p:cNvPicPr>
            <a:picLocks noChangeAspect="1"/>
          </p:cNvPicPr>
          <p:nvPr/>
        </p:nvPicPr>
        <p:blipFill>
          <a:blip r:embed="rId1"/>
          <a:stretch>
            <a:fillRect/>
          </a:stretch>
        </p:blipFill>
        <p:spPr>
          <a:xfrm>
            <a:off x="685800" y="2574036"/>
            <a:ext cx="4023360" cy="1609344"/>
          </a:xfrm>
          <a:prstGeom prst="rect">
            <a:avLst/>
          </a:prstGeom>
        </p:spPr>
      </p:pic>
      <p:sp>
        <p:nvSpPr>
          <p:cNvPr id="5" name="Figure caption"/>
          <p:cNvSpPr txBox="1"/>
          <p:nvPr/>
        </p:nvSpPr>
        <p:spPr>
          <a:xfrm>
            <a:off x="685800" y="4366260"/>
            <a:ext cx="4023360" cy="603504"/>
          </a:xfrm>
          <a:prstGeom prst="rect">
            <a:avLst/>
          </a:prstGeom>
          <a:noFill/>
          <a:ln/>
        </p:spPr>
        <p:txBody>
          <a:bodyPr wrap="square" lIns="0" tIns="0" rIns="0" bIns="0" rtlCol="0" anchor="t"/>
          <a:lstStyle/>
          <a:p>
            <a:pPr algn="l" indent="0" marL="0">
              <a:buNone/>
            </a:pPr>
            <a:r>
              <a:rPr lang="en-US" sz="1200" dirty="0">
                <a:solidFill>
                  <a:schemeClr val="accent5"/>
                </a:solidFill>
              </a:rPr>
              <a:t>Cross-section of a cutout and a disk on its post, not to scale. The three viewpoints pass the knife edge in open space and never meet the beveled wall.</a:t>
            </a:r>
            <a:endParaRPr lang="en-US" sz="1200" dirty="0"/>
          </a:p>
        </p:txBody>
      </p:sp>
      <p:sp>
        <p:nvSpPr>
          <p:cNvPr id="6" name="Fixture 1 card"/>
          <p:cNvSpPr/>
          <p:nvPr/>
        </p:nvSpPr>
        <p:spPr>
          <a:xfrm>
            <a:off x="5212080" y="1417320"/>
            <a:ext cx="6522415" cy="1184055"/>
          </a:xfrm>
          <a:prstGeom prst="roundRect">
            <a:avLst>
              <a:gd name="adj" fmla="val 9267"/>
            </a:avLst>
          </a:prstGeom>
          <a:solidFill>
            <a:schemeClr val="bg2"/>
          </a:solidFill>
          <a:ln/>
        </p:spPr>
      </p:sp>
      <p:sp>
        <p:nvSpPr>
          <p:cNvPr id="7" name="Fixture 1 icon circle"/>
          <p:cNvSpPr/>
          <p:nvPr/>
        </p:nvSpPr>
        <p:spPr>
          <a:xfrm>
            <a:off x="5440680" y="1689307"/>
            <a:ext cx="640080" cy="640080"/>
          </a:xfrm>
          <a:prstGeom prst="ellipse">
            <a:avLst/>
          </a:prstGeom>
          <a:solidFill>
            <a:schemeClr val="accent2"/>
          </a:solidFill>
          <a:ln/>
        </p:spPr>
      </p:sp>
      <p:pic>
        <p:nvPicPr>
          <p:cNvPr id="8" name="Fixture 1 icon glyph" descr="crosshairs icon">    </p:cNvPr>
          <p:cNvPicPr>
            <a:picLocks noChangeAspect="1"/>
          </p:cNvPicPr>
          <p:nvPr/>
        </p:nvPicPr>
        <p:blipFill>
          <a:blip r:embed="rId2"/>
          <a:stretch>
            <a:fillRect/>
          </a:stretch>
        </p:blipFill>
        <p:spPr>
          <a:xfrm>
            <a:off x="5600700" y="1849327"/>
            <a:ext cx="320040" cy="320040"/>
          </a:xfrm>
          <a:prstGeom prst="rect">
            <a:avLst/>
          </a:prstGeom>
        </p:spPr>
      </p:pic>
      <p:sp>
        <p:nvSpPr>
          <p:cNvPr id="9" name="Fixture 1 text"/>
          <p:cNvSpPr txBox="1"/>
          <p:nvPr/>
        </p:nvSpPr>
        <p:spPr>
          <a:xfrm>
            <a:off x="6263640" y="1508760"/>
            <a:ext cx="5242255" cy="1001175"/>
          </a:xfrm>
          <a:prstGeom prst="rect">
            <a:avLst/>
          </a:prstGeom>
          <a:noFill/>
          <a:ln/>
        </p:spPr>
        <p:txBody>
          <a:bodyPr wrap="square" lIns="0" tIns="0" rIns="0" bIns="0" rtlCol="0" anchor="ctr"/>
          <a:lstStyle/>
          <a:p>
            <a:pPr algn="l" indent="0" marL="0">
              <a:buNone/>
            </a:pPr>
            <a:r>
              <a:rPr lang="en-US" sz="1800" b="1" dirty="0">
                <a:solidFill>
                  <a:schemeClr val="tx2"/>
                </a:solidFill>
              </a:rPr>
              <a:t>Bevel</a:t>
            </a:r>
            <a:endParaRPr lang="en-US" sz="1600" dirty="0"/>
          </a:p>
          <a:p>
            <a:pPr algn="l" indent="0" marL="0">
              <a:buNone/>
            </a:pPr>
            <a:r>
              <a:rPr lang="en-US" sz="1400" dirty="0">
                <a:solidFill>
                  <a:schemeClr val="tx1"/>
                </a:solidFill>
              </a:rPr>
              <a:t>45 degrees from the plate normal, cut from the back: holes and the window widen away from the sensor, disks and the square narrow away from it</a:t>
            </a:r>
            <a:endParaRPr lang="en-US" sz="1600" dirty="0"/>
          </a:p>
        </p:txBody>
      </p:sp>
      <p:sp>
        <p:nvSpPr>
          <p:cNvPr id="10" name="Fixture 2 card"/>
          <p:cNvSpPr/>
          <p:nvPr/>
        </p:nvSpPr>
        <p:spPr>
          <a:xfrm>
            <a:off x="5212080" y="2738535"/>
            <a:ext cx="6522415" cy="964785"/>
          </a:xfrm>
          <a:prstGeom prst="roundRect">
            <a:avLst>
              <a:gd name="adj" fmla="val 11373"/>
            </a:avLst>
          </a:prstGeom>
          <a:solidFill>
            <a:schemeClr val="bg2"/>
          </a:solidFill>
          <a:ln/>
        </p:spPr>
      </p:sp>
      <p:sp>
        <p:nvSpPr>
          <p:cNvPr id="11" name="Fixture 2 icon circle"/>
          <p:cNvSpPr/>
          <p:nvPr/>
        </p:nvSpPr>
        <p:spPr>
          <a:xfrm>
            <a:off x="5440680" y="2900887"/>
            <a:ext cx="640080" cy="640080"/>
          </a:xfrm>
          <a:prstGeom prst="ellipse">
            <a:avLst/>
          </a:prstGeom>
          <a:solidFill>
            <a:schemeClr val="accent2"/>
          </a:solidFill>
          <a:ln/>
        </p:spPr>
      </p:sp>
      <p:pic>
        <p:nvPicPr>
          <p:cNvPr id="12" name="Fixture 2 icon glyph" descr="ruler icon">    </p:cNvPr>
          <p:cNvPicPr>
            <a:picLocks noChangeAspect="1"/>
          </p:cNvPicPr>
          <p:nvPr/>
        </p:nvPicPr>
        <p:blipFill>
          <a:blip r:embed="rId3"/>
          <a:stretch>
            <a:fillRect/>
          </a:stretch>
        </p:blipFill>
        <p:spPr>
          <a:xfrm>
            <a:off x="5600700" y="3060907"/>
            <a:ext cx="320040" cy="320040"/>
          </a:xfrm>
          <a:prstGeom prst="rect">
            <a:avLst/>
          </a:prstGeom>
        </p:spPr>
      </p:pic>
      <p:sp>
        <p:nvSpPr>
          <p:cNvPr id="13" name="Fixture 2 text"/>
          <p:cNvSpPr txBox="1"/>
          <p:nvPr/>
        </p:nvSpPr>
        <p:spPr>
          <a:xfrm>
            <a:off x="6263640" y="2829975"/>
            <a:ext cx="5242255" cy="781905"/>
          </a:xfrm>
          <a:prstGeom prst="rect">
            <a:avLst/>
          </a:prstGeom>
          <a:noFill/>
          <a:ln/>
        </p:spPr>
        <p:txBody>
          <a:bodyPr wrap="square" lIns="0" tIns="0" rIns="0" bIns="0" rtlCol="0" anchor="ctr"/>
          <a:lstStyle/>
          <a:p>
            <a:pPr algn="l" indent="0" marL="0">
              <a:buNone/>
            </a:pPr>
            <a:r>
              <a:rPr lang="en-US" sz="1800" b="1" dirty="0">
                <a:solidFill>
                  <a:schemeClr val="tx2"/>
                </a:solidFill>
              </a:rPr>
              <a:t>Land</a:t>
            </a:r>
            <a:endParaRPr lang="en-US" sz="1600" dirty="0"/>
          </a:p>
          <a:p>
            <a:pPr algn="l" indent="0" marL="0">
              <a:buNone/>
            </a:pPr>
            <a:r>
              <a:rPr lang="en-US" sz="1400" dirty="0">
                <a:solidFill>
                  <a:schemeClr val="tx1"/>
                </a:solidFill>
              </a:rPr>
              <a:t>The flat land at the front edge is 0.2 mm or less, dimensioned 0.1 plus or minus 0.1 mm</a:t>
            </a:r>
            <a:endParaRPr lang="en-US" sz="1600" dirty="0"/>
          </a:p>
        </p:txBody>
      </p:sp>
      <p:sp>
        <p:nvSpPr>
          <p:cNvPr id="14" name="Fixture 3 card"/>
          <p:cNvSpPr/>
          <p:nvPr/>
        </p:nvSpPr>
        <p:spPr>
          <a:xfrm>
            <a:off x="5212080" y="3840480"/>
            <a:ext cx="6522415" cy="1184055"/>
          </a:xfrm>
          <a:prstGeom prst="roundRect">
            <a:avLst>
              <a:gd name="adj" fmla="val 9267"/>
            </a:avLst>
          </a:prstGeom>
          <a:solidFill>
            <a:schemeClr val="bg2"/>
          </a:solidFill>
          <a:ln/>
        </p:spPr>
      </p:sp>
      <p:sp>
        <p:nvSpPr>
          <p:cNvPr id="15" name="Fixture 3 icon circle"/>
          <p:cNvSpPr/>
          <p:nvPr/>
        </p:nvSpPr>
        <p:spPr>
          <a:xfrm>
            <a:off x="5440680" y="4112467"/>
            <a:ext cx="640080" cy="640080"/>
          </a:xfrm>
          <a:prstGeom prst="ellipse">
            <a:avLst/>
          </a:prstGeom>
          <a:solidFill>
            <a:schemeClr val="accent2"/>
          </a:solidFill>
          <a:ln/>
        </p:spPr>
      </p:sp>
      <p:pic>
        <p:nvPicPr>
          <p:cNvPr id="16" name="Fixture 3 icon glyph" descr="layers icon">    </p:cNvPr>
          <p:cNvPicPr>
            <a:picLocks noChangeAspect="1"/>
          </p:cNvPicPr>
          <p:nvPr/>
        </p:nvPicPr>
        <p:blipFill>
          <a:blip r:embed="rId4"/>
          <a:stretch>
            <a:fillRect/>
          </a:stretch>
        </p:blipFill>
        <p:spPr>
          <a:xfrm>
            <a:off x="5600700" y="4272487"/>
            <a:ext cx="320040" cy="320040"/>
          </a:xfrm>
          <a:prstGeom prst="rect">
            <a:avLst/>
          </a:prstGeom>
        </p:spPr>
      </p:pic>
      <p:sp>
        <p:nvSpPr>
          <p:cNvPr id="17" name="Fixture 3 text"/>
          <p:cNvSpPr txBox="1"/>
          <p:nvPr/>
        </p:nvSpPr>
        <p:spPr>
          <a:xfrm>
            <a:off x="6263640" y="3931920"/>
            <a:ext cx="5242255" cy="1001175"/>
          </a:xfrm>
          <a:prstGeom prst="rect">
            <a:avLst/>
          </a:prstGeom>
          <a:noFill/>
          <a:ln/>
        </p:spPr>
        <p:txBody>
          <a:bodyPr wrap="square" lIns="0" tIns="0" rIns="0" bIns="0" rtlCol="0" anchor="ctr"/>
          <a:lstStyle/>
          <a:p>
            <a:pPr algn="l" indent="0" marL="0">
              <a:buNone/>
            </a:pPr>
            <a:r>
              <a:rPr lang="en-US" sz="1800" b="1" dirty="0">
                <a:solidFill>
                  <a:schemeClr val="tx2"/>
                </a:solidFill>
              </a:rPr>
              <a:t>Posts</a:t>
            </a:r>
            <a:endParaRPr lang="en-US" sz="1600" dirty="0"/>
          </a:p>
          <a:p>
            <a:pPr algn="l" indent="0" marL="0">
              <a:buNone/>
            </a:pPr>
            <a:r>
              <a:rPr lang="en-US" sz="1400" dirty="0">
                <a:solidFill>
                  <a:schemeClr val="tx1"/>
                </a:solidFill>
              </a:rPr>
              <a:t>Disks stand on 2 mm stainless posts, thinner than half the expected minimum detectable size; a post-only site shows whether the post itself is seen</a:t>
            </a:r>
            <a:endParaRPr lang="en-US" sz="1600" dirty="0"/>
          </a:p>
        </p:txBody>
      </p:sp>
      <p:sp>
        <p:nvSpPr>
          <p:cNvPr id="18" name="Fixture 4 card"/>
          <p:cNvSpPr/>
          <p:nvPr/>
        </p:nvSpPr>
        <p:spPr>
          <a:xfrm>
            <a:off x="5212080" y="5161695"/>
            <a:ext cx="6522415" cy="964785"/>
          </a:xfrm>
          <a:prstGeom prst="roundRect">
            <a:avLst>
              <a:gd name="adj" fmla="val 11373"/>
            </a:avLst>
          </a:prstGeom>
          <a:solidFill>
            <a:schemeClr val="bg2"/>
          </a:solidFill>
          <a:ln/>
        </p:spPr>
      </p:sp>
      <p:sp>
        <p:nvSpPr>
          <p:cNvPr id="19" name="Fixture 4 icon circle"/>
          <p:cNvSpPr/>
          <p:nvPr/>
        </p:nvSpPr>
        <p:spPr>
          <a:xfrm>
            <a:off x="5440680" y="5324047"/>
            <a:ext cx="640080" cy="640080"/>
          </a:xfrm>
          <a:prstGeom prst="ellipse">
            <a:avLst/>
          </a:prstGeom>
          <a:solidFill>
            <a:schemeClr val="accent2"/>
          </a:solidFill>
          <a:ln/>
        </p:spPr>
      </p:sp>
      <p:pic>
        <p:nvPicPr>
          <p:cNvPr id="20" name="Fixture 4 icon glyph" descr="paint icon">    </p:cNvPr>
          <p:cNvPicPr>
            <a:picLocks noChangeAspect="1"/>
          </p:cNvPicPr>
          <p:nvPr/>
        </p:nvPicPr>
        <p:blipFill>
          <a:blip r:embed="rId5"/>
          <a:stretch>
            <a:fillRect/>
          </a:stretch>
        </p:blipFill>
        <p:spPr>
          <a:xfrm>
            <a:off x="5600700" y="5484067"/>
            <a:ext cx="320040" cy="320040"/>
          </a:xfrm>
          <a:prstGeom prst="rect">
            <a:avLst/>
          </a:prstGeom>
        </p:spPr>
      </p:pic>
      <p:sp>
        <p:nvSpPr>
          <p:cNvPr id="21" name="Fixture 4 text"/>
          <p:cNvSpPr txBox="1"/>
          <p:nvPr/>
        </p:nvSpPr>
        <p:spPr>
          <a:xfrm>
            <a:off x="6263640" y="5253135"/>
            <a:ext cx="5242255" cy="781905"/>
          </a:xfrm>
          <a:prstGeom prst="rect">
            <a:avLst/>
          </a:prstGeom>
          <a:noFill/>
          <a:ln/>
        </p:spPr>
        <p:txBody>
          <a:bodyPr wrap="square" lIns="0" tIns="0" rIns="0" bIns="0" rtlCol="0" anchor="ctr"/>
          <a:lstStyle/>
          <a:p>
            <a:pPr algn="l" indent="0" marL="0">
              <a:buNone/>
            </a:pPr>
            <a:r>
              <a:rPr lang="en-US" sz="1800" b="1" dirty="0">
                <a:solidFill>
                  <a:schemeClr val="tx2"/>
                </a:solidFill>
              </a:rPr>
              <a:t>One finish</a:t>
            </a:r>
            <a:endParaRPr lang="en-US" sz="1600" dirty="0"/>
          </a:p>
          <a:p>
            <a:pPr algn="l" indent="0" marL="0">
              <a:buNone/>
            </a:pPr>
            <a:r>
              <a:rPr lang="en-US" sz="1400" dirty="0">
                <a:solidFill>
                  <a:schemeClr val="tx1"/>
                </a:solidFill>
              </a:rPr>
              <a:t>Fine glass-bead blast on every face the sensor sees, all plates in one batch, so no reflectance difference biases an edge</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What must be built</a:t>
            </a:r>
            <a:endParaRPr lang="en-US" sz="3400" dirty="0"/>
          </a:p>
        </p:txBody>
      </p:sp>
      <p:graphicFrame>
        <p:nvGraphicFramePr>
          <p:cNvPr id="5" name="Build list table"/>
          <p:cNvGraphicFramePr>
            <a:graphicFrameLocks noGrp="1"/>
          </p:cNvGraphicFramePr>
          <p:nvPr>
            <p:extLst>
              <p:ext uri="{D42A27DB-BD31-4B8C-83A1-F6EECF244321}">
                <p14:modId xmlns:p14="http://schemas.microsoft.com/office/powerpoint/2010/main" val="1579011935"/>
              </p:ext>
            </p:extLst>
          </p:nvPr>
        </p:nvGraphicFramePr>
        <p:xfrm>
          <a:off x="457200" y="1417320"/>
          <a:ext cx="8686800" cy="914400"/>
        </p:xfrm>
        <a:graphic>
          <a:graphicData uri="http://schemas.openxmlformats.org/drawingml/2006/table">
            <a:tbl>
              <a:tblPr/>
              <a:tblGrid>
                <a:gridCol w="4480560"/>
                <a:gridCol w="1920240"/>
                <a:gridCol w="1463040"/>
                <a:gridCol w="822960"/>
              </a:tblGrid>
              <a:tr h="457200">
                <a:tc>
                  <a:txBody>
                    <a:bodyPr/>
                    <a:lstStyle/>
                    <a:p>
                      <a:pPr algn="l" indent="0" marL="0">
                        <a:buNone/>
                      </a:pPr>
                      <a:r>
                        <a:rPr lang="en-US" sz="1300" b="1" dirty="0">
                          <a:solidFill>
                            <a:schemeClr val="bg1"/>
                          </a:solidFill>
                        </a:rPr>
                        <a:t>Item</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300" b="1" dirty="0">
                          <a:solidFill>
                            <a:schemeClr val="bg1"/>
                          </a:solidFill>
                        </a:rPr>
                        <a:t>Quantity</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300" b="1" dirty="0">
                          <a:solidFill>
                            <a:schemeClr val="bg1"/>
                          </a:solidFill>
                        </a:rPr>
                        <a:t>Drawing</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300" b="1" dirty="0">
                          <a:solidFill>
                            <a:schemeClr val="bg1"/>
                          </a:solidFill>
                        </a:rPr>
                        <a:t>From</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487680">
                <a:tc>
                  <a:txBody>
                    <a:bodyPr/>
                    <a:lstStyle/>
                    <a:p>
                      <a:pPr algn="l" indent="0" marL="0">
                        <a:buNone/>
                      </a:pPr>
                      <a:r>
                        <a:rPr lang="en-US" sz="1300" dirty="0">
                          <a:solidFill>
                            <a:schemeClr val="tx1"/>
                          </a:solidFill>
                        </a:rPr>
                        <a:t>Target adapter: flange plate with the spigot bore and the cross-pin hole</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1</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PT-01</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new</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318135">
                <a:tc>
                  <a:txBody>
                    <a:bodyPr/>
                    <a:lstStyle/>
                    <a:p>
                      <a:pPr algn="l" indent="0" marL="0">
                        <a:buNone/>
                      </a:pPr>
                      <a:r>
                        <a:rPr lang="en-US" sz="1300" dirty="0">
                          <a:solidFill>
                            <a:schemeClr val="tx1"/>
                          </a:solidFill>
                        </a:rPr>
                        <a:t>Target spigots, one per feature target</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4</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PT-02</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new</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487680">
                <a:tc>
                  <a:txBody>
                    <a:bodyPr/>
                    <a:lstStyle/>
                    <a:p>
                      <a:pPr algn="l" indent="0" marL="0">
                        <a:buNone/>
                      </a:pPr>
                      <a:r>
                        <a:rPr lang="en-US" sz="1300" dirty="0">
                          <a:solidFill>
                            <a:schemeClr val="tx1"/>
                          </a:solidFill>
                        </a:rPr>
                        <a:t>Standoff sets, 15 mm and 60 mm gaps</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4 lengths, 32 pieces with spares</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PT-03</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new</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318135">
                <a:tc>
                  <a:txBody>
                    <a:bodyPr/>
                    <a:lstStyle/>
                    <a:p>
                      <a:pPr algn="l" indent="0" marL="0">
                        <a:buNone/>
                      </a:pPr>
                      <a:r>
                        <a:rPr lang="en-US" sz="1300" dirty="0">
                          <a:solidFill>
                            <a:schemeClr val="tx1"/>
                          </a:solidFill>
                        </a:rPr>
                        <a:t>T3a, raised square</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1</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PT-04</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new</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318135">
                <a:tc>
                  <a:txBody>
                    <a:bodyPr/>
                    <a:lstStyle/>
                    <a:p>
                      <a:pPr algn="l" indent="0" marL="0">
                        <a:buNone/>
                      </a:pPr>
                      <a:r>
                        <a:rPr lang="en-US" sz="1300" dirty="0">
                          <a:solidFill>
                            <a:schemeClr val="tx1"/>
                          </a:solidFill>
                        </a:rPr>
                        <a:t>T3b, square window</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1</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PT-05</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new</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318135">
                <a:tc>
                  <a:txBody>
                    <a:bodyPr/>
                    <a:lstStyle/>
                    <a:p>
                      <a:pPr algn="l" indent="0" marL="0">
                        <a:buNone/>
                      </a:pPr>
                      <a:r>
                        <a:rPr lang="en-US" sz="1300" dirty="0">
                          <a:solidFill>
                            <a:schemeClr val="tx1"/>
                          </a:solidFill>
                        </a:rPr>
                        <a:t>T4, disk plate</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1</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PT-06</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new</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318135">
                <a:tc>
                  <a:txBody>
                    <a:bodyPr/>
                    <a:lstStyle/>
                    <a:p>
                      <a:pPr algn="l" indent="0" marL="0">
                        <a:buNone/>
                      </a:pPr>
                      <a:r>
                        <a:rPr lang="en-US" sz="1300" dirty="0">
                          <a:solidFill>
                            <a:schemeClr val="tx1"/>
                          </a:solidFill>
                        </a:rPr>
                        <a:t>T5, cutout plate with its edge bracket</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1</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PT-07</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new</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318135">
                <a:tc>
                  <a:txBody>
                    <a:bodyPr/>
                    <a:lstStyle/>
                    <a:p>
                      <a:pPr algn="l" indent="0" marL="0">
                        <a:buNone/>
                      </a:pPr>
                      <a:r>
                        <a:rPr lang="en-US" sz="1300" dirty="0">
                          <a:solidFill>
                            <a:schemeClr val="tx1"/>
                          </a:solidFill>
                        </a:rPr>
                        <a:t>Noise and registration board (T2) with its adapter</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1</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SC1-05</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stage 1</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318135">
                <a:tc>
                  <a:txBody>
                    <a:bodyPr/>
                    <a:lstStyle/>
                    <a:p>
                      <a:pPr algn="l" indent="0" marL="0">
                        <a:buNone/>
                      </a:pPr>
                      <a:r>
                        <a:rPr lang="en-US" sz="1300" dirty="0">
                          <a:solidFill>
                            <a:schemeClr val="tx1"/>
                          </a:solidFill>
                        </a:rPr>
                        <a:t>Run-out fixture</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1</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none needed</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stage 1</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318135">
                <a:tc>
                  <a:txBody>
                    <a:bodyPr/>
                    <a:lstStyle/>
                    <a:p>
                      <a:pPr algn="l" indent="0" marL="0">
                        <a:buNone/>
                      </a:pPr>
                      <a:r>
                        <a:rPr lang="en-US" sz="1300" dirty="0">
                          <a:solidFill>
                            <a:schemeClr val="tx1"/>
                          </a:solidFill>
                        </a:rPr>
                        <a:t>Rigid sensor mount</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1</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existing drawing</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stage 1</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bl>
          </a:graphicData>
        </a:graphic>
      </p:graphicFrame>
      <p:sp>
        <p:nvSpPr>
          <p:cNvPr id="4" name="Visual card"/>
          <p:cNvSpPr/>
          <p:nvPr/>
        </p:nvSpPr>
        <p:spPr>
          <a:xfrm>
            <a:off x="9418320" y="1417320"/>
            <a:ext cx="2316175" cy="3977640"/>
          </a:xfrm>
          <a:prstGeom prst="roundRect">
            <a:avLst>
              <a:gd name="adj" fmla="val 4737"/>
            </a:avLst>
          </a:prstGeom>
          <a:solidFill>
            <a:schemeClr val="bg2"/>
          </a:solidFill>
          <a:ln/>
        </p:spPr>
      </p:sp>
      <p:sp>
        <p:nvSpPr>
          <p:cNvPr id="5" name="Toolbox icon circle"/>
          <p:cNvSpPr/>
          <p:nvPr/>
        </p:nvSpPr>
        <p:spPr>
          <a:xfrm>
            <a:off x="9844888" y="2674620"/>
            <a:ext cx="1463040" cy="1463040"/>
          </a:xfrm>
          <a:prstGeom prst="ellipse">
            <a:avLst/>
          </a:prstGeom>
          <a:solidFill>
            <a:schemeClr val="accent2"/>
          </a:solidFill>
          <a:ln/>
        </p:spPr>
      </p:sp>
      <p:pic>
        <p:nvPicPr>
          <p:cNvPr id="6" name="Toolbox icon glyph" descr="toolbox icon">    </p:cNvPr>
          <p:cNvPicPr>
            <a:picLocks noChangeAspect="1"/>
          </p:cNvPicPr>
          <p:nvPr/>
        </p:nvPicPr>
        <p:blipFill>
          <a:blip r:embed="rId1"/>
          <a:stretch>
            <a:fillRect/>
          </a:stretch>
        </p:blipFill>
        <p:spPr>
          <a:xfrm>
            <a:off x="10210648" y="3040380"/>
            <a:ext cx="731520" cy="731520"/>
          </a:xfrm>
          <a:prstGeom prst="rect">
            <a:avLst/>
          </a:prstGeom>
        </p:spPr>
      </p:pic>
      <p:sp>
        <p:nvSpPr>
          <p:cNvPr id="7" name="Build list caption"/>
          <p:cNvSpPr txBox="1"/>
          <p:nvPr/>
        </p:nvSpPr>
        <p:spPr>
          <a:xfrm>
            <a:off x="457200" y="5669280"/>
            <a:ext cx="11277295" cy="457200"/>
          </a:xfrm>
          <a:prstGeom prst="rect">
            <a:avLst/>
          </a:prstGeom>
          <a:noFill/>
          <a:ln/>
        </p:spPr>
        <p:txBody>
          <a:bodyPr wrap="square" lIns="0" tIns="0" rIns="0" bIns="0" rtlCol="0" anchor="b"/>
          <a:lstStyle/>
          <a:p>
            <a:pPr algn="l" indent="0" marL="0">
              <a:buNone/>
            </a:pPr>
            <a:r>
              <a:rPr lang="en-US" sz="1200" dirty="0">
                <a:solidFill>
                  <a:schemeClr val="accent5"/>
                </a:solidFill>
              </a:rPr>
              <a:t>Section 1b of the procedure. The stage-1 items exist if the stage-1 calibration project has been run; otherwise they are built to the stage-1 drawing and specification.</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What must be bought</a:t>
            </a:r>
            <a:endParaRPr lang="en-US" sz="3400" dirty="0"/>
          </a:p>
        </p:txBody>
      </p:sp>
      <p:graphicFrame>
        <p:nvGraphicFramePr>
          <p:cNvPr id="6" name="Buy list table"/>
          <p:cNvGraphicFramePr>
            <a:graphicFrameLocks noGrp="1"/>
          </p:cNvGraphicFramePr>
          <p:nvPr>
            <p:extLst>
              <p:ext uri="{D42A27DB-BD31-4B8C-83A1-F6EECF244321}">
                <p14:modId xmlns:p14="http://schemas.microsoft.com/office/powerpoint/2010/main" val="1579011935"/>
              </p:ext>
            </p:extLst>
          </p:nvPr>
        </p:nvGraphicFramePr>
        <p:xfrm>
          <a:off x="457200" y="1417320"/>
          <a:ext cx="11277295" cy="914400"/>
        </p:xfrm>
        <a:graphic>
          <a:graphicData uri="http://schemas.openxmlformats.org/drawingml/2006/table">
            <a:tbl>
              <a:tblPr/>
              <a:tblGrid>
                <a:gridCol w="3840480"/>
                <a:gridCol w="3962095"/>
                <a:gridCol w="2103120"/>
                <a:gridCol w="1371600"/>
              </a:tblGrid>
              <a:tr h="457200">
                <a:tc>
                  <a:txBody>
                    <a:bodyPr/>
                    <a:lstStyle/>
                    <a:p>
                      <a:pPr algn="l" indent="0" marL="0">
                        <a:buNone/>
                      </a:pPr>
                      <a:r>
                        <a:rPr lang="en-US" sz="1400" b="1" dirty="0">
                          <a:solidFill>
                            <a:schemeClr val="bg1"/>
                          </a:solidFill>
                        </a:rPr>
                        <a:t>Item</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Purpose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Estimated cost (USD)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From</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586740">
                <a:tc>
                  <a:txBody>
                    <a:bodyPr/>
                    <a:lstStyle/>
                    <a:p>
                      <a:pPr algn="l" indent="0" marL="0">
                        <a:buNone/>
                      </a:pPr>
                      <a:r>
                        <a:rPr lang="en-US" sz="1400" dirty="0">
                          <a:solidFill>
                            <a:schemeClr val="tx1"/>
                          </a:solidFill>
                        </a:rPr>
                        <a:t>Ball-lock pins, 8 mm, 2 off</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Hold a target's spigot in the adapter; one spare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$40 to $120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new</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586740">
                <a:tc>
                  <a:txBody>
                    <a:bodyPr/>
                    <a:lstStyle/>
                    <a:p>
                      <a:pPr algn="l" indent="0" marL="0">
                        <a:buNone/>
                      </a:pPr>
                      <a:r>
                        <a:rPr lang="en-US" sz="1400" dirty="0">
                          <a:solidFill>
                            <a:schemeClr val="tx1"/>
                          </a:solidFill>
                        </a:rPr>
                        <a:t>Calipers, 600 mm, or a 500 mm steel rule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Plate width and length, the in-house size check</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$40 to $250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new</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586740">
                <a:tc>
                  <a:txBody>
                    <a:bodyPr/>
                    <a:lstStyle/>
                    <a:p>
                      <a:pPr algn="l" indent="0" marL="0">
                        <a:buNone/>
                      </a:pPr>
                      <a:r>
                        <a:rPr lang="en-US" sz="1400" dirty="0">
                          <a:solidFill>
                            <a:schemeClr val="tx1"/>
                          </a:solidFill>
                        </a:rPr>
                        <a:t>Calipers with depth rod, 150 mm</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Gap G and standoff lengths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$30 to $150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stage 1</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586740">
                <a:tc>
                  <a:txBody>
                    <a:bodyPr/>
                    <a:lstStyle/>
                    <a:p>
                      <a:pPr algn="l" indent="0" marL="0">
                        <a:buNone/>
                      </a:pPr>
                      <a:r>
                        <a:rPr lang="en-US" sz="1400" dirty="0">
                          <a:solidFill>
                            <a:schemeClr val="tx1"/>
                          </a:solidFill>
                        </a:rPr>
                        <a:t>Torque wrench</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Recorded adapter and spigot screw torques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$80 to $250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stage 1</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586740">
                <a:tc>
                  <a:txBody>
                    <a:bodyPr/>
                    <a:lstStyle/>
                    <a:p>
                      <a:pPr algn="l" indent="0" marL="0">
                        <a:buNone/>
                      </a:pPr>
                      <a:r>
                        <a:rPr lang="en-US" sz="1400" dirty="0">
                          <a:solidFill>
                            <a:schemeClr val="tx1"/>
                          </a:solidFill>
                        </a:rPr>
                        <a:t>Temperature loggers, 2</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Sensor housing and air, one sample per minute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$60 to $200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new</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586740">
                <a:tc>
                  <a:txBody>
                    <a:bodyPr/>
                    <a:lstStyle/>
                    <a:p>
                      <a:pPr algn="l" indent="0" marL="0">
                        <a:buNone/>
                      </a:pPr>
                      <a:r>
                        <a:rPr lang="en-US" sz="1400" dirty="0">
                          <a:solidFill>
                            <a:schemeClr val="tx1"/>
                          </a:solidFill>
                        </a:rPr>
                        <a:t>Consumables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Thread locker, retaining compound for the disk posts, isopropyl alcohol, padded cases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$40 to $120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new</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bl>
          </a:graphicData>
        </a:graphic>
      </p:graphicFrame>
      <p:sp>
        <p:nvSpPr>
          <p:cNvPr id="4" name="Buy list caption"/>
          <p:cNvSpPr txBox="1"/>
          <p:nvPr/>
        </p:nvSpPr>
        <p:spPr>
          <a:xfrm>
            <a:off x="457200" y="5669280"/>
            <a:ext cx="11277295" cy="457200"/>
          </a:xfrm>
          <a:prstGeom prst="rect">
            <a:avLst/>
          </a:prstGeom>
          <a:noFill/>
          <a:ln/>
        </p:spPr>
        <p:txBody>
          <a:bodyPr wrap="square" lIns="0" tIns="0" rIns="0" bIns="0" rtlCol="0" anchor="b"/>
          <a:lstStyle/>
          <a:p>
            <a:pPr algn="l" indent="0" marL="0">
              <a:buNone/>
            </a:pPr>
            <a:r>
              <a:rPr lang="en-US" sz="1200" dirty="0">
                <a:solidFill>
                  <a:schemeClr val="accent5"/>
                </a:solidFill>
              </a:rPr>
              <a:t>A phone camera is enough for the setup photos. Already in hand: the sensor on its rigid mount, the robot, the capture computer with the VSX3000 SDK and the robot interface, the analysis computer.</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New spending: $2,470 to $6,540</a:t>
            </a:r>
            <a:endParaRPr lang="en-US" sz="3400" dirty="0"/>
          </a:p>
        </p:txBody>
      </p:sp>
      <p:graphicFrame>
        <p:nvGraphicFramePr>
          <p:cNvPr id="7" name="Cost table"/>
          <p:cNvGraphicFramePr>
            <a:graphicFrameLocks noGrp="1"/>
          </p:cNvGraphicFramePr>
          <p:nvPr>
            <p:extLst>
              <p:ext uri="{D42A27DB-BD31-4B8C-83A1-F6EECF244321}">
                <p14:modId xmlns:p14="http://schemas.microsoft.com/office/powerpoint/2010/main" val="1579011935"/>
              </p:ext>
            </p:extLst>
          </p:nvPr>
        </p:nvGraphicFramePr>
        <p:xfrm>
          <a:off x="457200" y="1417320"/>
          <a:ext cx="7223760" cy="914400"/>
        </p:xfrm>
        <a:graphic>
          <a:graphicData uri="http://schemas.openxmlformats.org/drawingml/2006/table">
            <a:tbl>
              <a:tblPr/>
              <a:tblGrid>
                <a:gridCol w="5120640"/>
                <a:gridCol w="2103120"/>
              </a:tblGrid>
              <a:tr h="457200">
                <a:tc>
                  <a:txBody>
                    <a:bodyPr/>
                    <a:lstStyle/>
                    <a:p>
                      <a:pPr algn="l" indent="0" marL="0">
                        <a:buNone/>
                      </a:pPr>
                      <a:r>
                        <a:rPr lang="en-US" sz="1400" b="1" dirty="0">
                          <a:solidFill>
                            <a:schemeClr val="bg1"/>
                          </a:solidFill>
                        </a:rPr>
                        <a:t>Item to build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Estimated cost (USD)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502920">
                <a:tc>
                  <a:txBody>
                    <a:bodyPr/>
                    <a:lstStyle/>
                    <a:p>
                      <a:pPr algn="l" indent="0" marL="0">
                        <a:buNone/>
                      </a:pPr>
                      <a:r>
                        <a:rPr lang="en-US" sz="1400" dirty="0">
                          <a:solidFill>
                            <a:schemeClr val="tx1"/>
                          </a:solidFill>
                        </a:rPr>
                        <a:t>Target adapter (PT-01)</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$300 to $700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502920">
                <a:tc>
                  <a:txBody>
                    <a:bodyPr/>
                    <a:lstStyle/>
                    <a:p>
                      <a:pPr algn="l" indent="0" marL="0">
                        <a:buNone/>
                      </a:pPr>
                      <a:r>
                        <a:rPr lang="en-US" sz="1400" dirty="0">
                          <a:solidFill>
                            <a:schemeClr val="tx1"/>
                          </a:solidFill>
                        </a:rPr>
                        <a:t>Target spigots, 4 (PT-02)</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$240 to $600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502920">
                <a:tc>
                  <a:txBody>
                    <a:bodyPr/>
                    <a:lstStyle/>
                    <a:p>
                      <a:pPr algn="l" indent="0" marL="0">
                        <a:buNone/>
                      </a:pPr>
                      <a:r>
                        <a:rPr lang="en-US" sz="1400" dirty="0">
                          <a:solidFill>
                            <a:schemeClr val="tx1"/>
                          </a:solidFill>
                        </a:rPr>
                        <a:t>Standoff sets (PT-03)</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$150 to $450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502920">
                <a:tc>
                  <a:txBody>
                    <a:bodyPr/>
                    <a:lstStyle/>
                    <a:p>
                      <a:pPr algn="l" indent="0" marL="0">
                        <a:buNone/>
                      </a:pPr>
                      <a:r>
                        <a:rPr lang="en-US" sz="1400" dirty="0">
                          <a:solidFill>
                            <a:schemeClr val="tx1"/>
                          </a:solidFill>
                        </a:rPr>
                        <a:t>T3a, raised square (PT-04)</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$350 to $900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502920">
                <a:tc>
                  <a:txBody>
                    <a:bodyPr/>
                    <a:lstStyle/>
                    <a:p>
                      <a:pPr algn="l" indent="0" marL="0">
                        <a:buNone/>
                      </a:pPr>
                      <a:r>
                        <a:rPr lang="en-US" sz="1400" dirty="0">
                          <a:solidFill>
                            <a:schemeClr val="tx1"/>
                          </a:solidFill>
                        </a:rPr>
                        <a:t>T3b, square window (PT-05)</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$350 to $900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502920">
                <a:tc>
                  <a:txBody>
                    <a:bodyPr/>
                    <a:lstStyle/>
                    <a:p>
                      <a:pPr algn="l" indent="0" marL="0">
                        <a:buNone/>
                      </a:pPr>
                      <a:r>
                        <a:rPr lang="en-US" sz="1400" dirty="0">
                          <a:solidFill>
                            <a:schemeClr val="tx1"/>
                          </a:solidFill>
                        </a:rPr>
                        <a:t>T4, disk plate (PT-06)</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$450 to $1,200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502920">
                <a:tc>
                  <a:txBody>
                    <a:bodyPr/>
                    <a:lstStyle/>
                    <a:p>
                      <a:pPr algn="l" indent="0" marL="0">
                        <a:buNone/>
                      </a:pPr>
                      <a:r>
                        <a:rPr lang="en-US" sz="1400" dirty="0">
                          <a:solidFill>
                            <a:schemeClr val="tx1"/>
                          </a:solidFill>
                        </a:rPr>
                        <a:t>T5, cutout plate (PT-07)</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$450 to $1,100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bl>
          </a:graphicData>
        </a:graphic>
      </p:graphicFrame>
      <p:sp>
        <p:nvSpPr>
          <p:cNvPr id="4" name="Total 1 card"/>
          <p:cNvSpPr/>
          <p:nvPr/>
        </p:nvSpPr>
        <p:spPr>
          <a:xfrm>
            <a:off x="7955280" y="1417320"/>
            <a:ext cx="3779215" cy="1851660"/>
          </a:xfrm>
          <a:prstGeom prst="roundRect">
            <a:avLst>
              <a:gd name="adj" fmla="val 5926"/>
            </a:avLst>
          </a:prstGeom>
          <a:solidFill>
            <a:schemeClr val="bg2"/>
          </a:solidFill>
          <a:ln/>
        </p:spPr>
      </p:sp>
      <p:sp>
        <p:nvSpPr>
          <p:cNvPr id="5" name="Total 1 value"/>
          <p:cNvSpPr txBox="1"/>
          <p:nvPr/>
        </p:nvSpPr>
        <p:spPr>
          <a:xfrm>
            <a:off x="8183880" y="1703070"/>
            <a:ext cx="3322015" cy="548640"/>
          </a:xfrm>
          <a:prstGeom prst="rect">
            <a:avLst/>
          </a:prstGeom>
          <a:noFill/>
          <a:ln/>
        </p:spPr>
        <p:txBody>
          <a:bodyPr wrap="square" lIns="0" tIns="0" rIns="0" bIns="0" rtlCol="0" anchor="ctr"/>
          <a:lstStyle/>
          <a:p>
            <a:pPr algn="l" indent="0" marL="0">
              <a:buNone/>
            </a:pPr>
            <a:r>
              <a:rPr lang="en-US" sz="2600" b="1" dirty="0">
                <a:solidFill>
                  <a:schemeClr val="accent1"/>
                </a:solidFill>
                <a:latin typeface="+mj-lt" pitchFamily="34" charset="0"/>
                <a:ea typeface="+mj-lt" pitchFamily="34" charset="-122"/>
                <a:cs typeface="+mj-lt" pitchFamily="34" charset="-120"/>
              </a:rPr>
              <a:t>$2,470 to $6,540</a:t>
            </a:r>
            <a:endParaRPr lang="en-US" sz="2600" dirty="0"/>
          </a:p>
        </p:txBody>
      </p:sp>
      <p:sp>
        <p:nvSpPr>
          <p:cNvPr id="6" name="Total 1 label"/>
          <p:cNvSpPr txBox="1"/>
          <p:nvPr/>
        </p:nvSpPr>
        <p:spPr>
          <a:xfrm>
            <a:off x="8183880" y="2251710"/>
            <a:ext cx="3322015" cy="731520"/>
          </a:xfrm>
          <a:prstGeom prst="rect">
            <a:avLst/>
          </a:prstGeom>
          <a:noFill/>
          <a:ln/>
        </p:spPr>
        <p:txBody>
          <a:bodyPr wrap="square" lIns="0" tIns="0" rIns="0" bIns="0" rtlCol="0" anchor="t"/>
          <a:lstStyle/>
          <a:p>
            <a:pPr algn="l" indent="0" marL="0">
              <a:buNone/>
            </a:pPr>
            <a:r>
              <a:rPr lang="en-US" sz="1400" dirty="0">
                <a:solidFill>
                  <a:schemeClr val="tx1"/>
                </a:solidFill>
              </a:rPr>
              <a:t>new items: $2,290 to $5,850 to build, $180 to $690 to buy</a:t>
            </a:r>
            <a:endParaRPr lang="en-US" sz="1400" dirty="0"/>
          </a:p>
        </p:txBody>
      </p:sp>
      <p:sp>
        <p:nvSpPr>
          <p:cNvPr id="7" name="Total 2 card"/>
          <p:cNvSpPr/>
          <p:nvPr/>
        </p:nvSpPr>
        <p:spPr>
          <a:xfrm>
            <a:off x="7955280" y="3543300"/>
            <a:ext cx="3779215" cy="1851660"/>
          </a:xfrm>
          <a:prstGeom prst="roundRect">
            <a:avLst>
              <a:gd name="adj" fmla="val 5926"/>
            </a:avLst>
          </a:prstGeom>
          <a:solidFill>
            <a:schemeClr val="bg2"/>
          </a:solidFill>
          <a:ln/>
        </p:spPr>
      </p:sp>
      <p:sp>
        <p:nvSpPr>
          <p:cNvPr id="8" name="Total 2 value"/>
          <p:cNvSpPr txBox="1"/>
          <p:nvPr/>
        </p:nvSpPr>
        <p:spPr>
          <a:xfrm>
            <a:off x="8183880" y="3829050"/>
            <a:ext cx="3322015" cy="548640"/>
          </a:xfrm>
          <a:prstGeom prst="rect">
            <a:avLst/>
          </a:prstGeom>
          <a:noFill/>
          <a:ln/>
        </p:spPr>
        <p:txBody>
          <a:bodyPr wrap="square" lIns="0" tIns="0" rIns="0" bIns="0" rtlCol="0" anchor="ctr"/>
          <a:lstStyle/>
          <a:p>
            <a:pPr algn="l" indent="0" marL="0">
              <a:buNone/>
            </a:pPr>
            <a:r>
              <a:rPr lang="en-US" sz="2600" b="1" dirty="0">
                <a:solidFill>
                  <a:schemeClr val="accent1"/>
                </a:solidFill>
                <a:latin typeface="+mj-lt" pitchFamily="34" charset="0"/>
                <a:ea typeface="+mj-lt" pitchFamily="34" charset="-122"/>
                <a:cs typeface="+mj-lt" pitchFamily="34" charset="-120"/>
              </a:rPr>
              <a:t>$3,120 to $8,510</a:t>
            </a:r>
            <a:endParaRPr lang="en-US" sz="2600" dirty="0"/>
          </a:p>
        </p:txBody>
      </p:sp>
      <p:sp>
        <p:nvSpPr>
          <p:cNvPr id="9" name="Total 2 label"/>
          <p:cNvSpPr txBox="1"/>
          <p:nvPr/>
        </p:nvSpPr>
        <p:spPr>
          <a:xfrm>
            <a:off x="8183880" y="4377690"/>
            <a:ext cx="3322015" cy="731520"/>
          </a:xfrm>
          <a:prstGeom prst="rect">
            <a:avLst/>
          </a:prstGeom>
          <a:noFill/>
          <a:ln/>
        </p:spPr>
        <p:txBody>
          <a:bodyPr wrap="square" lIns="0" tIns="0" rIns="0" bIns="0" rtlCol="0" anchor="t"/>
          <a:lstStyle/>
          <a:p>
            <a:pPr algn="l" indent="0" marL="0">
              <a:buNone/>
            </a:pPr>
            <a:r>
              <a:rPr lang="en-US" sz="1400" dirty="0">
                <a:solidFill>
                  <a:schemeClr val="tx1"/>
                </a:solidFill>
              </a:rPr>
              <a:t>if stage 1 has not been run: its board, adapter, run-out fixture, calipers and torque wrench added</a:t>
            </a:r>
            <a:endParaRPr lang="en-US" sz="1400" dirty="0"/>
          </a:p>
        </p:txBody>
      </p:sp>
      <p:sp>
        <p:nvSpPr>
          <p:cNvPr id="10" name="Cost caption"/>
          <p:cNvSpPr txBox="1"/>
          <p:nvPr/>
        </p:nvSpPr>
        <p:spPr>
          <a:xfrm>
            <a:off x="457200" y="5669280"/>
            <a:ext cx="11277295" cy="457200"/>
          </a:xfrm>
          <a:prstGeom prst="rect">
            <a:avLst/>
          </a:prstGeom>
          <a:noFill/>
          <a:ln/>
        </p:spPr>
        <p:txBody>
          <a:bodyPr wrap="square" lIns="0" tIns="0" rIns="0" bIns="0" rtlCol="0" anchor="b"/>
          <a:lstStyle/>
          <a:p>
            <a:pPr algn="l" indent="0" marL="0">
              <a:buNone/>
            </a:pPr>
            <a:r>
              <a:rPr lang="en-US" sz="1200" dirty="0">
                <a:solidFill>
                  <a:schemeClr val="accent5"/>
                </a:solidFill>
              </a:rPr>
              <a:t>Estimates of October 2026 from suppliers' list prices and job-shop rates of $80 to $150 per hour, plus or minus 50 percent; the four two-plane targets are the least certain figures.</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Purchase specification: the four feature targets</a:t>
            </a:r>
            <a:endParaRPr lang="en-US" sz="3400" dirty="0"/>
          </a:p>
        </p:txBody>
      </p:sp>
      <p:graphicFrame>
        <p:nvGraphicFramePr>
          <p:cNvPr id="8" name="Plate specification table"/>
          <p:cNvGraphicFramePr>
            <a:graphicFrameLocks noGrp="1"/>
          </p:cNvGraphicFramePr>
          <p:nvPr>
            <p:extLst>
              <p:ext uri="{D42A27DB-BD31-4B8C-83A1-F6EECF244321}">
                <p14:modId xmlns:p14="http://schemas.microsoft.com/office/powerpoint/2010/main" val="1579011935"/>
              </p:ext>
            </p:extLst>
          </p:nvPr>
        </p:nvGraphicFramePr>
        <p:xfrm>
          <a:off x="457200" y="1417320"/>
          <a:ext cx="11277295" cy="914400"/>
        </p:xfrm>
        <a:graphic>
          <a:graphicData uri="http://schemas.openxmlformats.org/drawingml/2006/table">
            <a:tbl>
              <a:tblPr/>
              <a:tblGrid>
                <a:gridCol w="1828800"/>
                <a:gridCol w="4754880"/>
                <a:gridCol w="4693615"/>
              </a:tblGrid>
              <a:tr h="457200">
                <a:tc>
                  <a:txBody>
                    <a:bodyPr/>
                    <a:lstStyle/>
                    <a:p>
                      <a:pPr algn="l" indent="0" marL="0">
                        <a:buNone/>
                      </a:pPr>
                      <a:r>
                        <a:rPr lang="en-US" sz="1300" b="1" dirty="0">
                          <a:solidFill>
                            <a:schemeClr val="bg1"/>
                          </a:solidFill>
                        </a:rPr>
                        <a:t>Requirement</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300" b="1" dirty="0">
                          <a:solidFill>
                            <a:schemeClr val="bg1"/>
                          </a:solidFill>
                        </a:rPr>
                        <a:t>T3a and T3b (edge targets)</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300" b="1" dirty="0">
                          <a:solidFill>
                            <a:schemeClr val="bg1"/>
                          </a:solidFill>
                        </a:rPr>
                        <a:t>T4 and T5 (feature plates)</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502920">
                <a:tc>
                  <a:txBody>
                    <a:bodyPr/>
                    <a:lstStyle/>
                    <a:p>
                      <a:pPr algn="l" indent="0" marL="0">
                        <a:buNone/>
                      </a:pPr>
                      <a:r>
                        <a:rPr lang="en-US" sz="1300" b="1" dirty="0">
                          <a:solidFill>
                            <a:schemeClr val="tx2"/>
                          </a:solidFill>
                        </a:rPr>
                        <a:t>Plates</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300 x 300 mm; the raised square and the window 160 mm, slanted 5 degrees</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336 x 198 mm; disks and holes of 7.0, 19.7 and 55.8 mm; three blank sites each, one post-only site on T4</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502920">
                <a:tc>
                  <a:txBody>
                    <a:bodyPr/>
                    <a:lstStyle/>
                    <a:p>
                      <a:pPr algn="l" indent="0" marL="0">
                        <a:buNone/>
                      </a:pPr>
                      <a:r>
                        <a:rPr lang="en-US" sz="1300" b="1" dirty="0">
                          <a:solidFill>
                            <a:schemeClr val="tx2"/>
                          </a:solidFill>
                        </a:rPr>
                        <a:t>Thickness</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Front plate 6 mm, back plates 8 mm, raised square 10 mm</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Front plate 6 mm, back plates 8 mm; disks 2, 3 and 4 mm</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502920">
                <a:tc>
                  <a:txBody>
                    <a:bodyPr/>
                    <a:lstStyle/>
                    <a:p>
                      <a:pPr algn="l" indent="0" marL="0">
                        <a:buNone/>
                      </a:pPr>
                      <a:r>
                        <a:rPr lang="en-US" sz="1300" b="1" dirty="0">
                          <a:solidFill>
                            <a:schemeClr val="tx2"/>
                          </a:solidFill>
                        </a:rPr>
                        <a:t>Knife edges</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Beveled or countersunk from the back at 45 degrees; land 0.2 mm or less</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same</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502920">
                <a:tc>
                  <a:txBody>
                    <a:bodyPr/>
                    <a:lstStyle/>
                    <a:p>
                      <a:pPr algn="l" indent="0" marL="0">
                        <a:buNone/>
                      </a:pPr>
                      <a:r>
                        <a:rPr lang="en-US" sz="1300" b="1" dirty="0">
                          <a:solidFill>
                            <a:schemeClr val="tx2"/>
                          </a:solidFill>
                        </a:rPr>
                        <a:t>Sizes known to</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The fabricator's inspection report: size, land, bevel, position from the spigot datum, each with its uncertainty</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same</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502920">
                <a:tc>
                  <a:txBody>
                    <a:bodyPr/>
                    <a:lstStyle/>
                    <a:p>
                      <a:pPr algn="l" indent="0" marL="0">
                        <a:buNone/>
                      </a:pPr>
                      <a:r>
                        <a:rPr lang="en-US" sz="1300" b="1" dirty="0">
                          <a:solidFill>
                            <a:schemeClr val="tx2"/>
                          </a:solidFill>
                        </a:rPr>
                        <a:t>Flatness</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0.05 mm over each front face, checked in-house with the run-out fixture after mounting</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same</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502920">
                <a:tc>
                  <a:txBody>
                    <a:bodyPr/>
                    <a:lstStyle/>
                    <a:p>
                      <a:pPr algn="l" indent="0" marL="0">
                        <a:buNone/>
                      </a:pPr>
                      <a:r>
                        <a:rPr lang="en-US" sz="1300" b="1" dirty="0">
                          <a:solidFill>
                            <a:schemeClr val="tx2"/>
                          </a:solidFill>
                        </a:rPr>
                        <a:t>Material and finish</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Finish-ground aluminum tooling plate; fine glass-bead blast on every face the sensor sees, all plates in one batch</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same; disks turned from aluminum on 2 mm stainless posts</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502920">
                <a:tc>
                  <a:txBody>
                    <a:bodyPr/>
                    <a:lstStyle/>
                    <a:p>
                      <a:pPr algn="l" indent="0" marL="0">
                        <a:buNone/>
                      </a:pPr>
                      <a:r>
                        <a:rPr lang="en-US" sz="1300" b="1" dirty="0">
                          <a:solidFill>
                            <a:schemeClr val="tx2"/>
                          </a:solidFill>
                        </a:rPr>
                        <a:t>Mounting</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Spigot PT-02 on the back plate: four M5 on a 60 mm pitch circle; standoffs PT-03 for both gaps</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same; T5's spigot sits on an edge bracket so the back plate can be removed</a:t>
                      </a:r>
                      <a:endParaRPr lang="en-US" sz="13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bl>
          </a:graphicData>
        </a:graphic>
      </p:graphicFrame>
      <p:sp>
        <p:nvSpPr>
          <p:cNvPr id="4" name="Plate specification caption"/>
          <p:cNvSpPr txBox="1"/>
          <p:nvPr/>
        </p:nvSpPr>
        <p:spPr>
          <a:xfrm>
            <a:off x="457200" y="5669280"/>
            <a:ext cx="11277295" cy="457200"/>
          </a:xfrm>
          <a:prstGeom prst="rect">
            <a:avLst/>
          </a:prstGeom>
          <a:noFill/>
          <a:ln/>
        </p:spPr>
        <p:txBody>
          <a:bodyPr wrap="square" lIns="0" tIns="0" rIns="0" bIns="0" rtlCol="0" anchor="b"/>
          <a:lstStyle/>
          <a:p>
            <a:pPr algn="l" indent="0" marL="0">
              <a:buNone/>
            </a:pPr>
            <a:r>
              <a:rPr lang="en-US" sz="1200" dirty="0">
                <a:solidFill>
                  <a:schemeClr val="accent5"/>
                </a:solidFill>
              </a:rPr>
              <a:t>Procedure section 1d, Table 3; hand it to the fabricator with the drawings of appendix F. The four targets are one order so that every surface has the same finish.</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Purchase specification: the board (from stage 1)</a:t>
            </a:r>
            <a:endParaRPr lang="en-US" sz="3400" dirty="0"/>
          </a:p>
        </p:txBody>
      </p:sp>
      <p:graphicFrame>
        <p:nvGraphicFramePr>
          <p:cNvPr id="9" name="Plate specification table"/>
          <p:cNvGraphicFramePr>
            <a:graphicFrameLocks noGrp="1"/>
          </p:cNvGraphicFramePr>
          <p:nvPr>
            <p:extLst>
              <p:ext uri="{D42A27DB-BD31-4B8C-83A1-F6EECF244321}">
                <p14:modId xmlns:p14="http://schemas.microsoft.com/office/powerpoint/2010/main" val="1579011935"/>
              </p:ext>
            </p:extLst>
          </p:nvPr>
        </p:nvGraphicFramePr>
        <p:xfrm>
          <a:off x="457200" y="1417320"/>
          <a:ext cx="7680960" cy="914400"/>
        </p:xfrm>
        <a:graphic>
          <a:graphicData uri="http://schemas.openxmlformats.org/drawingml/2006/table">
            <a:tbl>
              <a:tblPr/>
              <a:tblGrid>
                <a:gridCol w="1554480"/>
                <a:gridCol w="6126480"/>
              </a:tblGrid>
              <a:tr h="457200">
                <a:tc>
                  <a:txBody>
                    <a:bodyPr/>
                    <a:lstStyle/>
                    <a:p>
                      <a:pPr algn="l" indent="0" marL="0">
                        <a:buNone/>
                      </a:pPr>
                      <a:r>
                        <a:rPr lang="en-US" sz="1400" b="1" dirty="0">
                          <a:solidFill>
                            <a:schemeClr val="bg1"/>
                          </a:solidFill>
                        </a:rPr>
                        <a:t>Requirement</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Noise and registration board (T2)</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617220">
                <a:tc>
                  <a:txBody>
                    <a:bodyPr/>
                    <a:lstStyle/>
                    <a:p>
                      <a:pPr algn="l" indent="0" marL="0">
                        <a:buNone/>
                      </a:pPr>
                      <a:r>
                        <a:rPr lang="en-US" sz="1400" b="1" dirty="0">
                          <a:solidFill>
                            <a:schemeClr val="tx2"/>
                          </a:solidFill>
                        </a:rPr>
                        <a:t>Size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200 x 150 mm, at least 6 mm thick</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617220">
                <a:tc>
                  <a:txBody>
                    <a:bodyPr/>
                    <a:lstStyle/>
                    <a:p>
                      <a:pPr algn="l" indent="0" marL="0">
                        <a:buNone/>
                      </a:pPr>
                      <a:r>
                        <a:rPr lang="en-US" sz="1400" b="1" dirty="0">
                          <a:solidFill>
                            <a:schemeClr val="tx2"/>
                          </a:solidFill>
                        </a:rPr>
                        <a:t>Material</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Finish-ground aluminum tooling plate (for example MIC-6) or float glass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617220">
                <a:tc>
                  <a:txBody>
                    <a:bodyPr/>
                    <a:lstStyle/>
                    <a:p>
                      <a:pPr algn="l" indent="0" marL="0">
                        <a:buNone/>
                      </a:pPr>
                      <a:r>
                        <a:rPr lang="en-US" sz="1400" b="1" dirty="0">
                          <a:solidFill>
                            <a:schemeClr val="tx2"/>
                          </a:solidFill>
                        </a:rPr>
                        <a:t>Flatness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0.05 mm over the front face, checked in-house with the run-out fixture after mounting on the board adapter</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617220">
                <a:tc>
                  <a:txBody>
                    <a:bodyPr/>
                    <a:lstStyle/>
                    <a:p>
                      <a:pPr algn="l" indent="0" marL="0">
                        <a:buNone/>
                      </a:pPr>
                      <a:r>
                        <a:rPr lang="en-US" sz="1400" b="1" dirty="0">
                          <a:solidFill>
                            <a:schemeClr val="tx2"/>
                          </a:solidFill>
                        </a:rPr>
                        <a:t>Front face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Thin, even matte light-gray paint, or bead blast if the plate is 10 mm or thicker; the same mid-range reflectance as the feature targets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617220">
                <a:tc>
                  <a:txBody>
                    <a:bodyPr/>
                    <a:lstStyle/>
                    <a:p>
                      <a:pPr algn="l" indent="0" marL="0">
                        <a:buNone/>
                      </a:pPr>
                      <a:r>
                        <a:rPr lang="en-US" sz="1400" b="1" dirty="0">
                          <a:solidFill>
                            <a:schemeClr val="tx2"/>
                          </a:solidFill>
                        </a:rPr>
                        <a:t>Edges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Bottom long edge and left short edge square and clean: they rest on the adapter's edge pins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617220">
                <a:tc>
                  <a:txBody>
                    <a:bodyPr/>
                    <a:lstStyle/>
                    <a:p>
                      <a:pPr algn="l" indent="0" marL="0">
                        <a:buNone/>
                      </a:pPr>
                      <a:r>
                        <a:rPr lang="en-US" sz="1400" b="1" dirty="0">
                          <a:solidFill>
                            <a:schemeClr val="tx2"/>
                          </a:solidFill>
                        </a:rPr>
                        <a:t>Documents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Supplier's flatness report, kept with the session notes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bl>
          </a:graphicData>
        </a:graphic>
      </p:graphicFrame>
      <p:sp>
        <p:nvSpPr>
          <p:cNvPr id="4" name="Plate drawing card"/>
          <p:cNvSpPr/>
          <p:nvPr/>
        </p:nvSpPr>
        <p:spPr>
          <a:xfrm>
            <a:off x="8412480" y="1417320"/>
            <a:ext cx="3322015" cy="4160520"/>
          </a:xfrm>
          <a:prstGeom prst="roundRect">
            <a:avLst>
              <a:gd name="adj" fmla="val 3303"/>
            </a:avLst>
          </a:prstGeom>
          <a:solidFill>
            <a:schemeClr val="bg1"/>
          </a:solidFill>
          <a:ln w="12700">
            <a:solidFill>
              <a:schemeClr val="accent6"/>
            </a:solidFill>
            <a:prstDash val="solid"/>
          </a:ln>
        </p:spPr>
      </p:sp>
      <p:sp>
        <p:nvSpPr>
          <p:cNvPr id="5" name="Plate outline"/>
          <p:cNvSpPr/>
          <p:nvPr/>
        </p:nvSpPr>
        <p:spPr>
          <a:xfrm>
            <a:off x="8701888" y="1965960"/>
            <a:ext cx="2743200" cy="2057400"/>
          </a:xfrm>
          <a:prstGeom prst="rect">
            <a:avLst/>
          </a:prstGeom>
          <a:solidFill>
            <a:schemeClr val="bg2"/>
          </a:solidFill>
          <a:ln w="19050">
            <a:solidFill>
              <a:schemeClr val="accent5"/>
            </a:solidFill>
            <a:prstDash val="solid"/>
          </a:ln>
        </p:spPr>
      </p:sp>
      <p:sp>
        <p:nvSpPr>
          <p:cNvPr id="6" name="Plate bottom edge (locating)"/>
          <p:cNvSpPr/>
          <p:nvPr/>
        </p:nvSpPr>
        <p:spPr>
          <a:xfrm>
            <a:off x="8701888" y="4023360"/>
            <a:ext cx="2743200" cy="0"/>
          </a:xfrm>
          <a:prstGeom prst="line">
            <a:avLst/>
          </a:prstGeom>
          <a:noFill/>
          <a:ln w="63500">
            <a:solidFill>
              <a:schemeClr val="accent1"/>
            </a:solidFill>
            <a:prstDash val="solid"/>
          </a:ln>
        </p:spPr>
      </p:sp>
      <p:sp>
        <p:nvSpPr>
          <p:cNvPr id="7" name="Plate left edge (locating)"/>
          <p:cNvSpPr/>
          <p:nvPr/>
        </p:nvSpPr>
        <p:spPr>
          <a:xfrm>
            <a:off x="8701888" y="1965960"/>
            <a:ext cx="0" cy="2057400"/>
          </a:xfrm>
          <a:prstGeom prst="line">
            <a:avLst/>
          </a:prstGeom>
          <a:noFill/>
          <a:ln w="63500">
            <a:solidFill>
              <a:schemeClr val="accent1"/>
            </a:solidFill>
            <a:prstDash val="solid"/>
          </a:ln>
        </p:spPr>
      </p:sp>
      <p:sp>
        <p:nvSpPr>
          <p:cNvPr id="8" name="Support pad 1"/>
          <p:cNvSpPr/>
          <p:nvPr/>
        </p:nvSpPr>
        <p:spPr>
          <a:xfrm>
            <a:off x="8708746" y="3810762"/>
            <a:ext cx="205740" cy="205740"/>
          </a:xfrm>
          <a:prstGeom prst="ellipse">
            <a:avLst/>
          </a:prstGeom>
          <a:solidFill>
            <a:schemeClr val="accent2"/>
          </a:solidFill>
          <a:ln/>
        </p:spPr>
      </p:sp>
      <p:sp>
        <p:nvSpPr>
          <p:cNvPr id="9" name="Support pad 2"/>
          <p:cNvSpPr/>
          <p:nvPr/>
        </p:nvSpPr>
        <p:spPr>
          <a:xfrm>
            <a:off x="11232490" y="3810762"/>
            <a:ext cx="205740" cy="205740"/>
          </a:xfrm>
          <a:prstGeom prst="ellipse">
            <a:avLst/>
          </a:prstGeom>
          <a:solidFill>
            <a:schemeClr val="accent2"/>
          </a:solidFill>
          <a:ln/>
        </p:spPr>
      </p:sp>
      <p:sp>
        <p:nvSpPr>
          <p:cNvPr id="10" name="Support pad 3"/>
          <p:cNvSpPr/>
          <p:nvPr/>
        </p:nvSpPr>
        <p:spPr>
          <a:xfrm>
            <a:off x="9970618" y="1972818"/>
            <a:ext cx="205740" cy="205740"/>
          </a:xfrm>
          <a:prstGeom prst="ellipse">
            <a:avLst/>
          </a:prstGeom>
          <a:solidFill>
            <a:schemeClr val="accent2"/>
          </a:solidFill>
          <a:ln/>
        </p:spPr>
      </p:sp>
      <p:sp>
        <p:nvSpPr>
          <p:cNvPr id="11" name="Legend key locating edges"/>
          <p:cNvSpPr/>
          <p:nvPr/>
        </p:nvSpPr>
        <p:spPr>
          <a:xfrm>
            <a:off x="8701888" y="4366260"/>
            <a:ext cx="457200" cy="0"/>
          </a:xfrm>
          <a:prstGeom prst="line">
            <a:avLst/>
          </a:prstGeom>
          <a:noFill/>
          <a:ln w="63500">
            <a:solidFill>
              <a:schemeClr val="accent1"/>
            </a:solidFill>
            <a:prstDash val="solid"/>
          </a:ln>
        </p:spPr>
      </p:sp>
      <p:sp>
        <p:nvSpPr>
          <p:cNvPr id="12" name="Legend Locating edges"/>
          <p:cNvSpPr txBox="1"/>
          <p:nvPr/>
        </p:nvSpPr>
        <p:spPr>
          <a:xfrm>
            <a:off x="9341968" y="4206240"/>
            <a:ext cx="2103120" cy="320040"/>
          </a:xfrm>
          <a:prstGeom prst="rect">
            <a:avLst/>
          </a:prstGeom>
          <a:noFill/>
          <a:ln/>
        </p:spPr>
        <p:txBody>
          <a:bodyPr wrap="square" lIns="0" tIns="0" rIns="0" bIns="0" rtlCol="0" anchor="ctr"/>
          <a:lstStyle/>
          <a:p>
            <a:pPr algn="l" indent="0" marL="0">
              <a:buNone/>
            </a:pPr>
            <a:r>
              <a:rPr lang="en-US" sz="1400" dirty="0">
                <a:solidFill>
                  <a:schemeClr val="tx1"/>
                </a:solidFill>
              </a:rPr>
              <a:t>Locating edges</a:t>
            </a:r>
            <a:endParaRPr lang="en-US" sz="1400" dirty="0"/>
          </a:p>
        </p:txBody>
      </p:sp>
      <p:sp>
        <p:nvSpPr>
          <p:cNvPr id="13" name="Legend key support pads"/>
          <p:cNvSpPr/>
          <p:nvPr/>
        </p:nvSpPr>
        <p:spPr>
          <a:xfrm>
            <a:off x="8827618" y="4766310"/>
            <a:ext cx="205740" cy="205740"/>
          </a:xfrm>
          <a:prstGeom prst="ellipse">
            <a:avLst/>
          </a:prstGeom>
          <a:solidFill>
            <a:schemeClr val="accent2"/>
          </a:solidFill>
          <a:ln/>
        </p:spPr>
      </p:sp>
      <p:sp>
        <p:nvSpPr>
          <p:cNvPr id="14" name="Legend Support pads"/>
          <p:cNvSpPr txBox="1"/>
          <p:nvPr/>
        </p:nvSpPr>
        <p:spPr>
          <a:xfrm>
            <a:off x="9341968" y="4709160"/>
            <a:ext cx="2103120" cy="320040"/>
          </a:xfrm>
          <a:prstGeom prst="rect">
            <a:avLst/>
          </a:prstGeom>
          <a:noFill/>
          <a:ln/>
        </p:spPr>
        <p:txBody>
          <a:bodyPr wrap="square" lIns="0" tIns="0" rIns="0" bIns="0" rtlCol="0" anchor="ctr"/>
          <a:lstStyle/>
          <a:p>
            <a:pPr algn="l" indent="0" marL="0">
              <a:buNone/>
            </a:pPr>
            <a:r>
              <a:rPr lang="en-US" sz="1400" dirty="0">
                <a:solidFill>
                  <a:schemeClr val="tx1"/>
                </a:solidFill>
              </a:rPr>
              <a:t>Support pads</a:t>
            </a:r>
            <a:endParaRPr lang="en-US" sz="1400" dirty="0"/>
          </a:p>
        </p:txBody>
      </p:sp>
      <p:sp>
        <p:nvSpPr>
          <p:cNvPr id="15" name="Plate specification caption"/>
          <p:cNvSpPr txBox="1"/>
          <p:nvPr/>
        </p:nvSpPr>
        <p:spPr>
          <a:xfrm>
            <a:off x="457200" y="5852160"/>
            <a:ext cx="11277295" cy="274320"/>
          </a:xfrm>
          <a:prstGeom prst="rect">
            <a:avLst/>
          </a:prstGeom>
          <a:noFill/>
          <a:ln/>
        </p:spPr>
        <p:txBody>
          <a:bodyPr wrap="square" lIns="0" tIns="0" rIns="0" bIns="0" rtlCol="0" anchor="b"/>
          <a:lstStyle/>
          <a:p>
            <a:pPr algn="l" indent="0" marL="0">
              <a:buNone/>
            </a:pPr>
            <a:r>
              <a:rPr lang="en-US" sz="1200" dirty="0">
                <a:solidFill>
                  <a:schemeClr val="accent5"/>
                </a:solidFill>
              </a:rPr>
              <a:t>Procedure section 1d, Table 4: the stage-1 specification repeated. The board stays on its SC1-05 adapter; it never uses the spigot.</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Candidate suppliers</a:t>
            </a:r>
            <a:endParaRPr lang="en-US" sz="3400" dirty="0"/>
          </a:p>
        </p:txBody>
      </p:sp>
      <p:graphicFrame>
        <p:nvGraphicFramePr>
          <p:cNvPr id="10" name="Suppliers table"/>
          <p:cNvGraphicFramePr>
            <a:graphicFrameLocks noGrp="1"/>
          </p:cNvGraphicFramePr>
          <p:nvPr>
            <p:extLst>
              <p:ext uri="{D42A27DB-BD31-4B8C-83A1-F6EECF244321}">
                <p14:modId xmlns:p14="http://schemas.microsoft.com/office/powerpoint/2010/main" val="1579011935"/>
              </p:ext>
            </p:extLst>
          </p:nvPr>
        </p:nvGraphicFramePr>
        <p:xfrm>
          <a:off x="457200" y="1417320"/>
          <a:ext cx="11277295" cy="914400"/>
        </p:xfrm>
        <a:graphic>
          <a:graphicData uri="http://schemas.openxmlformats.org/drawingml/2006/table">
            <a:tbl>
              <a:tblPr/>
              <a:tblGrid>
                <a:gridCol w="2834640"/>
                <a:gridCol w="4754880"/>
                <a:gridCol w="3687775"/>
              </a:tblGrid>
              <a:tr h="457200">
                <a:tc>
                  <a:txBody>
                    <a:bodyPr/>
                    <a:lstStyle/>
                    <a:p>
                      <a:pPr algn="l" indent="0" marL="0">
                        <a:buNone/>
                      </a:pPr>
                      <a:r>
                        <a:rPr lang="en-US" sz="1400" b="1" dirty="0">
                          <a:solidFill>
                            <a:schemeClr val="bg1"/>
                          </a:solidFill>
                        </a:rPr>
                        <a:t>Item</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Candidate suppliers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Notes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594360">
                <a:tc>
                  <a:txBody>
                    <a:bodyPr/>
                    <a:lstStyle/>
                    <a:p>
                      <a:pPr algn="l" indent="0" marL="0">
                        <a:buNone/>
                      </a:pPr>
                      <a:r>
                        <a:rPr lang="en-US" sz="1400" b="1" dirty="0">
                          <a:solidFill>
                            <a:schemeClr val="tx2"/>
                          </a:solidFill>
                        </a:rPr>
                        <a:t>Plate stock and machining</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McMaster-Carr MIC-6 plate; any job shop with a CNC mill, a lathe and bead blasting</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Finish-grind the front faces; ask for the inspection report with the quote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594360">
                <a:tc>
                  <a:txBody>
                    <a:bodyPr/>
                    <a:lstStyle/>
                    <a:p>
                      <a:pPr algn="l" indent="0" marL="0">
                        <a:buNone/>
                      </a:pPr>
                      <a:r>
                        <a:rPr lang="en-US" sz="1400" b="1" dirty="0">
                          <a:solidFill>
                            <a:schemeClr val="tx2"/>
                          </a:solidFill>
                        </a:rPr>
                        <a:t>Posts and spigot stock</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McMaster-Carr, MSC Industrial</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2 mm stainless drill rod; precision ground bar for the spigots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594360">
                <a:tc>
                  <a:txBody>
                    <a:bodyPr/>
                    <a:lstStyle/>
                    <a:p>
                      <a:pPr algn="l" indent="0" marL="0">
                        <a:buNone/>
                      </a:pPr>
                      <a:r>
                        <a:rPr lang="en-US" sz="1400" b="1" dirty="0">
                          <a:solidFill>
                            <a:schemeClr val="tx2"/>
                          </a:solidFill>
                        </a:rPr>
                        <a:t>Ball-lock pins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McMaster-Carr, Carr Lane, Jergens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8 mm, T-handle, grip length as on PT-01; about $20 to $60 each</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594360">
                <a:tc>
                  <a:txBody>
                    <a:bodyPr/>
                    <a:lstStyle/>
                    <a:p>
                      <a:pPr algn="l" indent="0" marL="0">
                        <a:buNone/>
                      </a:pPr>
                      <a:r>
                        <a:rPr lang="en-US" sz="1400" b="1" dirty="0">
                          <a:solidFill>
                            <a:schemeClr val="tx2"/>
                          </a:solidFill>
                        </a:rPr>
                        <a:t>Temperature loggers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Lascar EL-USB-1, Onset HOBO MX100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0.1 degree C resolution, CSV export; about $30 to $100 each</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731520">
                <a:tc>
                  <a:txBody>
                    <a:bodyPr/>
                    <a:lstStyle/>
                    <a:p>
                      <a:pPr algn="l" indent="0" marL="0">
                        <a:buNone/>
                      </a:pPr>
                      <a:r>
                        <a:rPr lang="en-US" sz="1400" b="1" dirty="0">
                          <a:solidFill>
                            <a:schemeClr val="tx2"/>
                          </a:solidFill>
                        </a:rPr>
                        <a:t>Measuring instruments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Mitutoyo, Starrett, iGaging; McMaster-Carr, Transcat, MSI-Viking</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600 mm calipers or a 500 mm steel rule; the stage-1 calipers, dial indicator, magnetic base and torque wrench</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594360">
                <a:tc>
                  <a:txBody>
                    <a:bodyPr/>
                    <a:lstStyle/>
                    <a:p>
                      <a:pPr algn="l" indent="0" marL="0">
                        <a:buNone/>
                      </a:pPr>
                      <a:r>
                        <a:rPr lang="en-US" sz="1400" b="1" dirty="0">
                          <a:solidFill>
                            <a:schemeClr val="tx2"/>
                          </a:solidFill>
                        </a:rPr>
                        <a:t>Board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McMaster-Carr MIC-6 plus a grinding shop; Edmund Optics float glass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Stage 1; flatness report, matte paint, re-checked after mounting</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bl>
          </a:graphicData>
        </a:graphic>
      </p:graphicFrame>
      <p:sp>
        <p:nvSpPr>
          <p:cNvPr id="4" name="Suppliers caption"/>
          <p:cNvSpPr txBox="1"/>
          <p:nvPr/>
        </p:nvSpPr>
        <p:spPr>
          <a:xfrm>
            <a:off x="457200" y="5852160"/>
            <a:ext cx="11277295" cy="274320"/>
          </a:xfrm>
          <a:prstGeom prst="rect">
            <a:avLst/>
          </a:prstGeom>
          <a:noFill/>
          <a:ln/>
        </p:spPr>
        <p:txBody>
          <a:bodyPr wrap="square" lIns="0" tIns="0" rIns="0" bIns="0" rtlCol="0" anchor="b"/>
          <a:lstStyle/>
          <a:p>
            <a:pPr algn="l" indent="0" marL="0">
              <a:buNone/>
            </a:pPr>
            <a:r>
              <a:rPr lang="en-US" sz="1200" dirty="0">
                <a:solidFill>
                  <a:schemeClr val="accent5"/>
                </a:solidFill>
              </a:rPr>
              <a:t>From suppliers' web pages, October 2026; not an endorsement. Confirm sizes, finishes and prices before ordering.</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One adapter, one spigot per target</a:t>
            </a:r>
            <a:endParaRPr lang="en-US" sz="3400" dirty="0"/>
          </a:p>
        </p:txBody>
      </p:sp>
      <p:sp>
        <p:nvSpPr>
          <p:cNvPr id="3" name="Figure card"/>
          <p:cNvSpPr/>
          <p:nvPr/>
        </p:nvSpPr>
        <p:spPr>
          <a:xfrm>
            <a:off x="457200" y="1417320"/>
            <a:ext cx="4663440" cy="4709160"/>
          </a:xfrm>
          <a:prstGeom prst="roundRect">
            <a:avLst>
              <a:gd name="adj" fmla="val 2353"/>
            </a:avLst>
          </a:prstGeom>
          <a:solidFill>
            <a:schemeClr val="bg1"/>
          </a:solidFill>
          <a:ln w="12700">
            <a:solidFill>
              <a:schemeClr val="accent6"/>
            </a:solidFill>
            <a:prstDash val="solid"/>
          </a:ln>
        </p:spPr>
      </p:sp>
      <p:pic>
        <p:nvPicPr>
          <p:cNvPr id="4" name="Cross-section of the mounting stack: flange, adapter, spigot, ball-lock pin, back plate, standoffs, front plate" descr="Cross-section of the mounting stack: flange, adapter, spigot, ball-lock pin, back plate, standoffs, front plate">    </p:cNvPr>
          <p:cNvPicPr>
            <a:picLocks noChangeAspect="1"/>
          </p:cNvPicPr>
          <p:nvPr/>
        </p:nvPicPr>
        <p:blipFill>
          <a:blip r:embed="rId1"/>
          <a:stretch>
            <a:fillRect/>
          </a:stretch>
        </p:blipFill>
        <p:spPr>
          <a:xfrm>
            <a:off x="685800" y="2408037"/>
            <a:ext cx="4206240" cy="1941342"/>
          </a:xfrm>
          <a:prstGeom prst="rect">
            <a:avLst/>
          </a:prstGeom>
        </p:spPr>
      </p:pic>
      <p:sp>
        <p:nvSpPr>
          <p:cNvPr id="5" name="Figure caption"/>
          <p:cNvSpPr txBox="1"/>
          <p:nvPr/>
        </p:nvSpPr>
        <p:spPr>
          <a:xfrm>
            <a:off x="685800" y="4532259"/>
            <a:ext cx="4206240" cy="603504"/>
          </a:xfrm>
          <a:prstGeom prst="rect">
            <a:avLst/>
          </a:prstGeom>
          <a:noFill/>
          <a:ln/>
        </p:spPr>
        <p:txBody>
          <a:bodyPr wrap="square" lIns="0" tIns="0" rIns="0" bIns="0" rtlCol="0" anchor="t"/>
          <a:lstStyle/>
          <a:p>
            <a:pPr algn="l" indent="0" marL="0">
              <a:buNone/>
            </a:pPr>
            <a:r>
              <a:rPr lang="en-US" sz="1200" dirty="0">
                <a:solidFill>
                  <a:schemeClr val="accent5"/>
                </a:solidFill>
              </a:rPr>
              <a:t>The mounting stack in cross-section, not to scale: robot flange, adapter, spigot with its dowel in the keyway, ball-lock pin, back plate, standoffs, front plate.</a:t>
            </a:r>
            <a:endParaRPr lang="en-US" sz="1200" dirty="0"/>
          </a:p>
        </p:txBody>
      </p:sp>
      <p:sp>
        <p:nvSpPr>
          <p:cNvPr id="6" name="Fixture 1 card"/>
          <p:cNvSpPr/>
          <p:nvPr/>
        </p:nvSpPr>
        <p:spPr>
          <a:xfrm>
            <a:off x="5394960" y="1417320"/>
            <a:ext cx="6339535" cy="1184055"/>
          </a:xfrm>
          <a:prstGeom prst="roundRect">
            <a:avLst>
              <a:gd name="adj" fmla="val 9267"/>
            </a:avLst>
          </a:prstGeom>
          <a:solidFill>
            <a:schemeClr val="bg2"/>
          </a:solidFill>
          <a:ln/>
        </p:spPr>
      </p:sp>
      <p:sp>
        <p:nvSpPr>
          <p:cNvPr id="7" name="Fixture 1 icon circle"/>
          <p:cNvSpPr/>
          <p:nvPr/>
        </p:nvSpPr>
        <p:spPr>
          <a:xfrm>
            <a:off x="5623560" y="1689307"/>
            <a:ext cx="640080" cy="640080"/>
          </a:xfrm>
          <a:prstGeom prst="ellipse">
            <a:avLst/>
          </a:prstGeom>
          <a:solidFill>
            <a:schemeClr val="accent2"/>
          </a:solidFill>
          <a:ln/>
        </p:spPr>
      </p:sp>
      <p:pic>
        <p:nvPicPr>
          <p:cNvPr id="8" name="Fixture 1 icon glyph" descr="wrench icon">    </p:cNvPr>
          <p:cNvPicPr>
            <a:picLocks noChangeAspect="1"/>
          </p:cNvPicPr>
          <p:nvPr/>
        </p:nvPicPr>
        <p:blipFill>
          <a:blip r:embed="rId2"/>
          <a:stretch>
            <a:fillRect/>
          </a:stretch>
        </p:blipFill>
        <p:spPr>
          <a:xfrm>
            <a:off x="5783580" y="1849327"/>
            <a:ext cx="320040" cy="320040"/>
          </a:xfrm>
          <a:prstGeom prst="rect">
            <a:avLst/>
          </a:prstGeom>
        </p:spPr>
      </p:pic>
      <p:sp>
        <p:nvSpPr>
          <p:cNvPr id="9" name="Fixture 1 text"/>
          <p:cNvSpPr txBox="1"/>
          <p:nvPr/>
        </p:nvSpPr>
        <p:spPr>
          <a:xfrm>
            <a:off x="6446520" y="1508760"/>
            <a:ext cx="5059375" cy="1001175"/>
          </a:xfrm>
          <a:prstGeom prst="rect">
            <a:avLst/>
          </a:prstGeom>
          <a:noFill/>
          <a:ln/>
        </p:spPr>
        <p:txBody>
          <a:bodyPr wrap="square" lIns="0" tIns="0" rIns="0" bIns="0" rtlCol="0" anchor="ctr"/>
          <a:lstStyle/>
          <a:p>
            <a:pPr algn="l" indent="0" marL="0">
              <a:buNone/>
            </a:pPr>
            <a:r>
              <a:rPr lang="en-US" sz="1800" b="1" dirty="0">
                <a:solidFill>
                  <a:schemeClr val="tx2"/>
                </a:solidFill>
              </a:rPr>
              <a:t>Target adapter PT-01</a:t>
            </a:r>
            <a:endParaRPr lang="en-US" sz="1600" dirty="0"/>
          </a:p>
          <a:p>
            <a:pPr algn="l" indent="0" marL="0">
              <a:buNone/>
            </a:pPr>
            <a:r>
              <a:rPr lang="en-US" sz="1400" dirty="0">
                <a:solidFill>
                  <a:schemeClr val="tx1"/>
                </a:solidFill>
              </a:rPr>
              <a:t>Aluminum, 120 x 120 x 30 mm, on the ISO 9409-1-50-4-M6 flange; 40 mm H7 bore 25 mm deep with a keyway and an 8 mm cross hole</a:t>
            </a:r>
            <a:endParaRPr lang="en-US" sz="1600" dirty="0"/>
          </a:p>
        </p:txBody>
      </p:sp>
      <p:sp>
        <p:nvSpPr>
          <p:cNvPr id="10" name="Fixture 2 card"/>
          <p:cNvSpPr/>
          <p:nvPr/>
        </p:nvSpPr>
        <p:spPr>
          <a:xfrm>
            <a:off x="5394960" y="2738535"/>
            <a:ext cx="6339535" cy="964785"/>
          </a:xfrm>
          <a:prstGeom prst="roundRect">
            <a:avLst>
              <a:gd name="adj" fmla="val 11373"/>
            </a:avLst>
          </a:prstGeom>
          <a:solidFill>
            <a:schemeClr val="bg2"/>
          </a:solidFill>
          <a:ln/>
        </p:spPr>
      </p:sp>
      <p:sp>
        <p:nvSpPr>
          <p:cNvPr id="11" name="Fixture 2 icon circle"/>
          <p:cNvSpPr/>
          <p:nvPr/>
        </p:nvSpPr>
        <p:spPr>
          <a:xfrm>
            <a:off x="5623560" y="2900887"/>
            <a:ext cx="640080" cy="640080"/>
          </a:xfrm>
          <a:prstGeom prst="ellipse">
            <a:avLst/>
          </a:prstGeom>
          <a:solidFill>
            <a:schemeClr val="accent2"/>
          </a:solidFill>
          <a:ln/>
        </p:spPr>
      </p:sp>
      <p:pic>
        <p:nvPicPr>
          <p:cNvPr id="12" name="Fixture 2 icon glyph" descr="layers icon">    </p:cNvPr>
          <p:cNvPicPr>
            <a:picLocks noChangeAspect="1"/>
          </p:cNvPicPr>
          <p:nvPr/>
        </p:nvPicPr>
        <p:blipFill>
          <a:blip r:embed="rId3"/>
          <a:stretch>
            <a:fillRect/>
          </a:stretch>
        </p:blipFill>
        <p:spPr>
          <a:xfrm>
            <a:off x="5783580" y="3060907"/>
            <a:ext cx="320040" cy="320040"/>
          </a:xfrm>
          <a:prstGeom prst="rect">
            <a:avLst/>
          </a:prstGeom>
        </p:spPr>
      </p:pic>
      <p:sp>
        <p:nvSpPr>
          <p:cNvPr id="13" name="Fixture 2 text"/>
          <p:cNvSpPr txBox="1"/>
          <p:nvPr/>
        </p:nvSpPr>
        <p:spPr>
          <a:xfrm>
            <a:off x="6446520" y="2829975"/>
            <a:ext cx="5059375" cy="781905"/>
          </a:xfrm>
          <a:prstGeom prst="rect">
            <a:avLst/>
          </a:prstGeom>
          <a:noFill/>
          <a:ln/>
        </p:spPr>
        <p:txBody>
          <a:bodyPr wrap="square" lIns="0" tIns="0" rIns="0" bIns="0" rtlCol="0" anchor="ctr"/>
          <a:lstStyle/>
          <a:p>
            <a:pPr algn="l" indent="0" marL="0">
              <a:buNone/>
            </a:pPr>
            <a:r>
              <a:rPr lang="en-US" sz="1800" b="1" dirty="0">
                <a:solidFill>
                  <a:schemeClr val="tx2"/>
                </a:solidFill>
              </a:rPr>
              <a:t>Spigot PT-02</a:t>
            </a:r>
            <a:endParaRPr lang="en-US" sz="1600" dirty="0"/>
          </a:p>
          <a:p>
            <a:pPr algn="l" indent="0" marL="0">
              <a:buNone/>
            </a:pPr>
            <a:r>
              <a:rPr lang="en-US" sz="1400" dirty="0">
                <a:solidFill>
                  <a:schemeClr val="tx1"/>
                </a:solidFill>
              </a:rPr>
              <a:t>Stainless, 40 mm h6 body, 80 mm flange bolted to the target's back plate with four M5; a radial dowel sets the orientation</a:t>
            </a:r>
            <a:endParaRPr lang="en-US" sz="1600" dirty="0"/>
          </a:p>
        </p:txBody>
      </p:sp>
      <p:sp>
        <p:nvSpPr>
          <p:cNvPr id="14" name="Fixture 3 card"/>
          <p:cNvSpPr/>
          <p:nvPr/>
        </p:nvSpPr>
        <p:spPr>
          <a:xfrm>
            <a:off x="5394960" y="3840480"/>
            <a:ext cx="6339535" cy="964785"/>
          </a:xfrm>
          <a:prstGeom prst="roundRect">
            <a:avLst>
              <a:gd name="adj" fmla="val 11373"/>
            </a:avLst>
          </a:prstGeom>
          <a:solidFill>
            <a:schemeClr val="bg2"/>
          </a:solidFill>
          <a:ln/>
        </p:spPr>
      </p:sp>
      <p:sp>
        <p:nvSpPr>
          <p:cNvPr id="15" name="Fixture 3 icon circle"/>
          <p:cNvSpPr/>
          <p:nvPr/>
        </p:nvSpPr>
        <p:spPr>
          <a:xfrm>
            <a:off x="5623560" y="4002833"/>
            <a:ext cx="640080" cy="640080"/>
          </a:xfrm>
          <a:prstGeom prst="ellipse">
            <a:avLst/>
          </a:prstGeom>
          <a:solidFill>
            <a:schemeClr val="accent2"/>
          </a:solidFill>
          <a:ln/>
        </p:spPr>
      </p:sp>
      <p:pic>
        <p:nvPicPr>
          <p:cNvPr id="16" name="Fixture 3 icon glyph" descr="tool icon">    </p:cNvPr>
          <p:cNvPicPr>
            <a:picLocks noChangeAspect="1"/>
          </p:cNvPicPr>
          <p:nvPr/>
        </p:nvPicPr>
        <p:blipFill>
          <a:blip r:embed="rId4"/>
          <a:stretch>
            <a:fillRect/>
          </a:stretch>
        </p:blipFill>
        <p:spPr>
          <a:xfrm>
            <a:off x="5783580" y="4162853"/>
            <a:ext cx="320040" cy="320040"/>
          </a:xfrm>
          <a:prstGeom prst="rect">
            <a:avLst/>
          </a:prstGeom>
        </p:spPr>
      </p:pic>
      <p:sp>
        <p:nvSpPr>
          <p:cNvPr id="17" name="Fixture 3 text"/>
          <p:cNvSpPr txBox="1"/>
          <p:nvPr/>
        </p:nvSpPr>
        <p:spPr>
          <a:xfrm>
            <a:off x="6446520" y="3931920"/>
            <a:ext cx="5059375" cy="781905"/>
          </a:xfrm>
          <a:prstGeom prst="rect">
            <a:avLst/>
          </a:prstGeom>
          <a:noFill/>
          <a:ln/>
        </p:spPr>
        <p:txBody>
          <a:bodyPr wrap="square" lIns="0" tIns="0" rIns="0" bIns="0" rtlCol="0" anchor="ctr"/>
          <a:lstStyle/>
          <a:p>
            <a:pPr algn="l" indent="0" marL="0">
              <a:buNone/>
            </a:pPr>
            <a:r>
              <a:rPr lang="en-US" sz="1800" b="1" dirty="0">
                <a:solidFill>
                  <a:schemeClr val="tx2"/>
                </a:solidFill>
              </a:rPr>
              <a:t>Ball-lock pin</a:t>
            </a:r>
            <a:endParaRPr lang="en-US" sz="1600" dirty="0"/>
          </a:p>
          <a:p>
            <a:pPr algn="l" indent="0" marL="0">
              <a:buNone/>
            </a:pPr>
            <a:r>
              <a:rPr lang="en-US" sz="1400" dirty="0">
                <a:solidFill>
                  <a:schemeClr val="tx1"/>
                </a:solidFill>
              </a:rPr>
              <a:t>Through the adapter's cross hole and the spigot's: pull it, lift the target off, drop the next one in</a:t>
            </a:r>
            <a:endParaRPr lang="en-US" sz="1600" dirty="0"/>
          </a:p>
        </p:txBody>
      </p:sp>
      <p:sp>
        <p:nvSpPr>
          <p:cNvPr id="18" name="Fixture 4 card"/>
          <p:cNvSpPr/>
          <p:nvPr/>
        </p:nvSpPr>
        <p:spPr>
          <a:xfrm>
            <a:off x="5394960" y="4942425"/>
            <a:ext cx="6339535" cy="1184055"/>
          </a:xfrm>
          <a:prstGeom prst="roundRect">
            <a:avLst>
              <a:gd name="adj" fmla="val 9267"/>
            </a:avLst>
          </a:prstGeom>
          <a:solidFill>
            <a:schemeClr val="bg2"/>
          </a:solidFill>
          <a:ln/>
        </p:spPr>
      </p:sp>
      <p:sp>
        <p:nvSpPr>
          <p:cNvPr id="19" name="Fixture 4 icon circle"/>
          <p:cNvSpPr/>
          <p:nvPr/>
        </p:nvSpPr>
        <p:spPr>
          <a:xfrm>
            <a:off x="5623560" y="5214413"/>
            <a:ext cx="640080" cy="640080"/>
          </a:xfrm>
          <a:prstGeom prst="ellipse">
            <a:avLst/>
          </a:prstGeom>
          <a:solidFill>
            <a:schemeClr val="accent2"/>
          </a:solidFill>
          <a:ln/>
        </p:spPr>
      </p:sp>
      <p:pic>
        <p:nvPicPr>
          <p:cNvPr id="20" name="Fixture 4 icon glyph" descr="crosshairs icon">    </p:cNvPr>
          <p:cNvPicPr>
            <a:picLocks noChangeAspect="1"/>
          </p:cNvPicPr>
          <p:nvPr/>
        </p:nvPicPr>
        <p:blipFill>
          <a:blip r:embed="rId5"/>
          <a:stretch>
            <a:fillRect/>
          </a:stretch>
        </p:blipFill>
        <p:spPr>
          <a:xfrm>
            <a:off x="5783580" y="5374433"/>
            <a:ext cx="320040" cy="320040"/>
          </a:xfrm>
          <a:prstGeom prst="rect">
            <a:avLst/>
          </a:prstGeom>
        </p:spPr>
      </p:pic>
      <p:sp>
        <p:nvSpPr>
          <p:cNvPr id="21" name="Fixture 4 text"/>
          <p:cNvSpPr txBox="1"/>
          <p:nvPr/>
        </p:nvSpPr>
        <p:spPr>
          <a:xfrm>
            <a:off x="6446520" y="5033865"/>
            <a:ext cx="5059375" cy="1001175"/>
          </a:xfrm>
          <a:prstGeom prst="rect">
            <a:avLst/>
          </a:prstGeom>
          <a:noFill/>
          <a:ln/>
        </p:spPr>
        <p:txBody>
          <a:bodyPr wrap="square" lIns="0" tIns="0" rIns="0" bIns="0" rtlCol="0" anchor="ctr"/>
          <a:lstStyle/>
          <a:p>
            <a:pPr algn="l" indent="0" marL="0">
              <a:buNone/>
            </a:pPr>
            <a:r>
              <a:rPr lang="en-US" sz="1800" b="1" dirty="0">
                <a:solidFill>
                  <a:schemeClr val="tx2"/>
                </a:solidFill>
              </a:rPr>
              <a:t>The datum</a:t>
            </a:r>
            <a:endParaRPr lang="en-US" sz="1600" dirty="0"/>
          </a:p>
          <a:p>
            <a:pPr algn="l" indent="0" marL="0">
              <a:buNone/>
            </a:pPr>
            <a:r>
              <a:rPr lang="en-US" sz="1400" dirty="0">
                <a:solidFill>
                  <a:schemeClr val="tx1"/>
                </a:solidFill>
              </a:rPr>
              <a:t>The spigot axis and the dowel are the datum every as-built offset refers to; the once-per-mount check confirms each mount</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Target adapter PT-01</a:t>
            </a:r>
            <a:endParaRPr lang="en-US" sz="3400" dirty="0"/>
          </a:p>
        </p:txBody>
      </p:sp>
      <p:pic>
        <p:nvPicPr>
          <p:cNvPr id="3" name="Drawing PT-01, the target adapter" descr="Drawing PT-01, the target adapter">    </p:cNvPr>
          <p:cNvPicPr>
            <a:picLocks noChangeAspect="1"/>
          </p:cNvPicPr>
          <p:nvPr/>
        </p:nvPicPr>
        <p:blipFill>
          <a:blip r:embed="rId1"/>
          <a:stretch>
            <a:fillRect/>
          </a:stretch>
        </p:blipFill>
        <p:spPr>
          <a:xfrm>
            <a:off x="457200" y="1475509"/>
            <a:ext cx="7217229" cy="4592782"/>
          </a:xfrm>
          <a:prstGeom prst="rect">
            <a:avLst/>
          </a:prstGeom>
        </p:spPr>
      </p:pic>
      <p:sp>
        <p:nvSpPr>
          <p:cNvPr id="4" name="Drawing PT-01, the target adapter frame"/>
          <p:cNvSpPr/>
          <p:nvPr/>
        </p:nvSpPr>
        <p:spPr>
          <a:xfrm>
            <a:off x="457200" y="1475509"/>
            <a:ext cx="7217229" cy="4592782"/>
          </a:xfrm>
          <a:prstGeom prst="rect">
            <a:avLst/>
          </a:prstGeom>
          <a:ln w="12700">
            <a:solidFill>
              <a:schemeClr val="accent6"/>
            </a:solidFill>
            <a:prstDash val="solid"/>
          </a:ln>
        </p:spPr>
      </p:sp>
      <p:sp>
        <p:nvSpPr>
          <p:cNvPr id="5" name="Board point icon 1 circle"/>
          <p:cNvSpPr/>
          <p:nvPr/>
        </p:nvSpPr>
        <p:spPr>
          <a:xfrm>
            <a:off x="7948749" y="1566672"/>
            <a:ext cx="411480" cy="411480"/>
          </a:xfrm>
          <a:prstGeom prst="ellipse">
            <a:avLst/>
          </a:prstGeom>
          <a:solidFill>
            <a:schemeClr val="accent2"/>
          </a:solidFill>
          <a:ln/>
        </p:spPr>
      </p:sp>
      <p:pic>
        <p:nvPicPr>
          <p:cNvPr id="6" name="Board point icon 1 glyph" descr="check icon">    </p:cNvPr>
          <p:cNvPicPr>
            <a:picLocks noChangeAspect="1"/>
          </p:cNvPicPr>
          <p:nvPr/>
        </p:nvPicPr>
        <p:blipFill>
          <a:blip r:embed="rId2"/>
          <a:stretch>
            <a:fillRect/>
          </a:stretch>
        </p:blipFill>
        <p:spPr>
          <a:xfrm>
            <a:off x="8051619" y="1669542"/>
            <a:ext cx="205740" cy="205740"/>
          </a:xfrm>
          <a:prstGeom prst="rect">
            <a:avLst/>
          </a:prstGeom>
        </p:spPr>
      </p:pic>
      <p:sp>
        <p:nvSpPr>
          <p:cNvPr id="7" name="Board point text 1"/>
          <p:cNvSpPr txBox="1"/>
          <p:nvPr/>
        </p:nvSpPr>
        <p:spPr>
          <a:xfrm>
            <a:off x="8543109" y="1417320"/>
            <a:ext cx="3191387" cy="710184"/>
          </a:xfrm>
          <a:prstGeom prst="rect">
            <a:avLst/>
          </a:prstGeom>
          <a:noFill/>
          <a:ln/>
        </p:spPr>
        <p:txBody>
          <a:bodyPr wrap="square" lIns="0" tIns="0" rIns="0" bIns="0" rtlCol="0" anchor="ctr"/>
          <a:lstStyle/>
          <a:p>
            <a:pPr algn="l" indent="0" marL="0">
              <a:buNone/>
            </a:pPr>
            <a:r>
              <a:rPr lang="en-US" sz="1400" dirty="0">
                <a:solidFill>
                  <a:schemeClr val="tx1"/>
                </a:solidFill>
              </a:rPr>
              <a:t>Aluminum 6061-T6, 120 x 120 x 30 mm, machined in one setup: back face, spigot, front face, bore and keyway</a:t>
            </a:r>
            <a:endParaRPr lang="en-US" sz="1400" dirty="0"/>
          </a:p>
        </p:txBody>
      </p:sp>
      <p:sp>
        <p:nvSpPr>
          <p:cNvPr id="8" name="Board point icon 2 circle"/>
          <p:cNvSpPr/>
          <p:nvPr/>
        </p:nvSpPr>
        <p:spPr>
          <a:xfrm>
            <a:off x="7948749" y="2566416"/>
            <a:ext cx="411480" cy="411480"/>
          </a:xfrm>
          <a:prstGeom prst="ellipse">
            <a:avLst/>
          </a:prstGeom>
          <a:solidFill>
            <a:schemeClr val="accent2"/>
          </a:solidFill>
          <a:ln/>
        </p:spPr>
      </p:sp>
      <p:pic>
        <p:nvPicPr>
          <p:cNvPr id="9" name="Board point icon 2 glyph" descr="check icon">    </p:cNvPr>
          <p:cNvPicPr>
            <a:picLocks noChangeAspect="1"/>
          </p:cNvPicPr>
          <p:nvPr/>
        </p:nvPicPr>
        <p:blipFill>
          <a:blip r:embed="rId3"/>
          <a:stretch>
            <a:fillRect/>
          </a:stretch>
        </p:blipFill>
        <p:spPr>
          <a:xfrm>
            <a:off x="8051619" y="2669286"/>
            <a:ext cx="205740" cy="205740"/>
          </a:xfrm>
          <a:prstGeom prst="rect">
            <a:avLst/>
          </a:prstGeom>
        </p:spPr>
      </p:pic>
      <p:sp>
        <p:nvSpPr>
          <p:cNvPr id="10" name="Board point text 2"/>
          <p:cNvSpPr txBox="1"/>
          <p:nvPr/>
        </p:nvSpPr>
        <p:spPr>
          <a:xfrm>
            <a:off x="8543109" y="2310384"/>
            <a:ext cx="3191387" cy="923544"/>
          </a:xfrm>
          <a:prstGeom prst="rect">
            <a:avLst/>
          </a:prstGeom>
          <a:noFill/>
          <a:ln/>
        </p:spPr>
        <p:txBody>
          <a:bodyPr wrap="square" lIns="0" tIns="0" rIns="0" bIns="0" rtlCol="0" anchor="ctr"/>
          <a:lstStyle/>
          <a:p>
            <a:pPr algn="l" indent="0" marL="0">
              <a:buNone/>
            </a:pPr>
            <a:r>
              <a:rPr lang="en-US" sz="1400" dirty="0">
                <a:solidFill>
                  <a:schemeClr val="tx1"/>
                </a:solidFill>
              </a:rPr>
              <a:t>ISO 9409-1-50-4-M6 side: 31.5 mm g6 spigot, four M6 x 30 on the 50 mm pitch circle, 6 mm dowel at +Xm; confirm against the robot's flange drawing</a:t>
            </a:r>
            <a:endParaRPr lang="en-US" sz="1400" dirty="0"/>
          </a:p>
        </p:txBody>
      </p:sp>
      <p:sp>
        <p:nvSpPr>
          <p:cNvPr id="11" name="Board point icon 3 circle"/>
          <p:cNvSpPr/>
          <p:nvPr/>
        </p:nvSpPr>
        <p:spPr>
          <a:xfrm>
            <a:off x="7948749" y="3566160"/>
            <a:ext cx="411480" cy="411480"/>
          </a:xfrm>
          <a:prstGeom prst="ellipse">
            <a:avLst/>
          </a:prstGeom>
          <a:solidFill>
            <a:schemeClr val="accent2"/>
          </a:solidFill>
          <a:ln/>
        </p:spPr>
      </p:sp>
      <p:pic>
        <p:nvPicPr>
          <p:cNvPr id="12" name="Board point icon 3 glyph" descr="check icon">    </p:cNvPr>
          <p:cNvPicPr>
            <a:picLocks noChangeAspect="1"/>
          </p:cNvPicPr>
          <p:nvPr/>
        </p:nvPicPr>
        <p:blipFill>
          <a:blip r:embed="rId4"/>
          <a:stretch>
            <a:fillRect/>
          </a:stretch>
        </p:blipFill>
        <p:spPr>
          <a:xfrm>
            <a:off x="8051619" y="3669030"/>
            <a:ext cx="205740" cy="205740"/>
          </a:xfrm>
          <a:prstGeom prst="rect">
            <a:avLst/>
          </a:prstGeom>
        </p:spPr>
      </p:pic>
      <p:sp>
        <p:nvSpPr>
          <p:cNvPr id="13" name="Board point text 3"/>
          <p:cNvSpPr txBox="1"/>
          <p:nvPr/>
        </p:nvSpPr>
        <p:spPr>
          <a:xfrm>
            <a:off x="8543109" y="3416808"/>
            <a:ext cx="3191387" cy="710184"/>
          </a:xfrm>
          <a:prstGeom prst="rect">
            <a:avLst/>
          </a:prstGeom>
          <a:noFill/>
          <a:ln/>
        </p:spPr>
        <p:txBody>
          <a:bodyPr wrap="square" lIns="0" tIns="0" rIns="0" bIns="0" rtlCol="0" anchor="ctr"/>
          <a:lstStyle/>
          <a:p>
            <a:pPr algn="l" indent="0" marL="0">
              <a:buNone/>
            </a:pPr>
            <a:r>
              <a:rPr lang="en-US" sz="1400" dirty="0">
                <a:solidFill>
                  <a:schemeClr val="tx1"/>
                </a:solidFill>
              </a:rPr>
              <a:t>Bore 40 mm H7, 25 mm deep, with a 6 mm keyway 4.5 mm deep for the spigot's dowel</a:t>
            </a:r>
            <a:endParaRPr lang="en-US" sz="1400" dirty="0"/>
          </a:p>
        </p:txBody>
      </p:sp>
      <p:sp>
        <p:nvSpPr>
          <p:cNvPr id="14" name="Board point icon 4 circle"/>
          <p:cNvSpPr/>
          <p:nvPr/>
        </p:nvSpPr>
        <p:spPr>
          <a:xfrm>
            <a:off x="7948749" y="4565904"/>
            <a:ext cx="411480" cy="411480"/>
          </a:xfrm>
          <a:prstGeom prst="ellipse">
            <a:avLst/>
          </a:prstGeom>
          <a:solidFill>
            <a:schemeClr val="accent2"/>
          </a:solidFill>
          <a:ln/>
        </p:spPr>
      </p:sp>
      <p:pic>
        <p:nvPicPr>
          <p:cNvPr id="15" name="Board point icon 4 glyph" descr="check icon">    </p:cNvPr>
          <p:cNvPicPr>
            <a:picLocks noChangeAspect="1"/>
          </p:cNvPicPr>
          <p:nvPr/>
        </p:nvPicPr>
        <p:blipFill>
          <a:blip r:embed="rId5"/>
          <a:stretch>
            <a:fillRect/>
          </a:stretch>
        </p:blipFill>
        <p:spPr>
          <a:xfrm>
            <a:off x="8051619" y="4668774"/>
            <a:ext cx="205740" cy="205740"/>
          </a:xfrm>
          <a:prstGeom prst="rect">
            <a:avLst/>
          </a:prstGeom>
        </p:spPr>
      </p:pic>
      <p:sp>
        <p:nvSpPr>
          <p:cNvPr id="16" name="Board point text 4"/>
          <p:cNvSpPr txBox="1"/>
          <p:nvPr/>
        </p:nvSpPr>
        <p:spPr>
          <a:xfrm>
            <a:off x="8543109" y="4309872"/>
            <a:ext cx="3191387" cy="923544"/>
          </a:xfrm>
          <a:prstGeom prst="rect">
            <a:avLst/>
          </a:prstGeom>
          <a:noFill/>
          <a:ln/>
        </p:spPr>
        <p:txBody>
          <a:bodyPr wrap="square" lIns="0" tIns="0" rIns="0" bIns="0" rtlCol="0" anchor="ctr"/>
          <a:lstStyle/>
          <a:p>
            <a:pPr algn="l" indent="0" marL="0">
              <a:buNone/>
            </a:pPr>
            <a:r>
              <a:rPr lang="en-US" sz="1400" dirty="0">
                <a:solidFill>
                  <a:schemeClr val="tx1"/>
                </a:solidFill>
              </a:rPr>
              <a:t>Cross hole 8 mm H7 from the +Xm side, 15 mm below the front face, for the ball-lock pin; 9 mm clearance on the far side</a:t>
            </a:r>
            <a:endParaRPr lang="en-US" sz="1400" dirty="0"/>
          </a:p>
        </p:txBody>
      </p:sp>
      <p:sp>
        <p:nvSpPr>
          <p:cNvPr id="17" name="Board point icon 5 circle"/>
          <p:cNvSpPr/>
          <p:nvPr/>
        </p:nvSpPr>
        <p:spPr>
          <a:xfrm>
            <a:off x="7948749" y="5565648"/>
            <a:ext cx="411480" cy="411480"/>
          </a:xfrm>
          <a:prstGeom prst="ellipse">
            <a:avLst/>
          </a:prstGeom>
          <a:solidFill>
            <a:schemeClr val="accent2"/>
          </a:solidFill>
          <a:ln/>
        </p:spPr>
      </p:sp>
      <p:pic>
        <p:nvPicPr>
          <p:cNvPr id="18" name="Board point icon 5 glyph" descr="check icon">    </p:cNvPr>
          <p:cNvPicPr>
            <a:picLocks noChangeAspect="1"/>
          </p:cNvPicPr>
          <p:nvPr/>
        </p:nvPicPr>
        <p:blipFill>
          <a:blip r:embed="rId6"/>
          <a:stretch>
            <a:fillRect/>
          </a:stretch>
        </p:blipFill>
        <p:spPr>
          <a:xfrm>
            <a:off x="8051619" y="5668518"/>
            <a:ext cx="205740" cy="205740"/>
          </a:xfrm>
          <a:prstGeom prst="rect">
            <a:avLst/>
          </a:prstGeom>
        </p:spPr>
      </p:pic>
      <p:sp>
        <p:nvSpPr>
          <p:cNvPr id="19" name="Board point text 5"/>
          <p:cNvSpPr txBox="1"/>
          <p:nvPr/>
        </p:nvSpPr>
        <p:spPr>
          <a:xfrm>
            <a:off x="8543109" y="5416296"/>
            <a:ext cx="3191387" cy="710184"/>
          </a:xfrm>
          <a:prstGeom prst="rect">
            <a:avLst/>
          </a:prstGeom>
          <a:noFill/>
          <a:ln/>
        </p:spPr>
        <p:txBody>
          <a:bodyPr wrap="square" lIns="0" tIns="0" rIns="0" bIns="0" rtlCol="0" anchor="ctr"/>
          <a:lstStyle/>
          <a:p>
            <a:pPr algn="l" indent="0" marL="0">
              <a:buNone/>
            </a:pPr>
            <a:r>
              <a:rPr lang="en-US" sz="1400" dirty="0">
                <a:solidFill>
                  <a:schemeClr val="tx1"/>
                </a:solidFill>
              </a:rPr>
              <a:t>Bore axis square to the back face within 0.02 mm per 100 mm; hard anodize optional</a:t>
            </a:r>
            <a:endParaRPr lang="en-US" sz="1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Target spigot PT-02 and its mating pattern</a:t>
            </a:r>
            <a:endParaRPr lang="en-US" sz="3400" dirty="0"/>
          </a:p>
        </p:txBody>
      </p:sp>
      <p:pic>
        <p:nvPicPr>
          <p:cNvPr id="3" name="Drawing PT-02, the target spigot and its mating pattern" descr="Drawing PT-02, the target spigot and its mating pattern">    </p:cNvPr>
          <p:cNvPicPr>
            <a:picLocks noChangeAspect="1"/>
          </p:cNvPicPr>
          <p:nvPr/>
        </p:nvPicPr>
        <p:blipFill>
          <a:blip r:embed="rId1"/>
          <a:stretch>
            <a:fillRect/>
          </a:stretch>
        </p:blipFill>
        <p:spPr>
          <a:xfrm>
            <a:off x="457200" y="1446415"/>
            <a:ext cx="7308669" cy="4650971"/>
          </a:xfrm>
          <a:prstGeom prst="rect">
            <a:avLst/>
          </a:prstGeom>
        </p:spPr>
      </p:pic>
      <p:sp>
        <p:nvSpPr>
          <p:cNvPr id="4" name="Drawing PT-02, the target spigot and its mating pattern frame"/>
          <p:cNvSpPr/>
          <p:nvPr/>
        </p:nvSpPr>
        <p:spPr>
          <a:xfrm>
            <a:off x="457200" y="1446415"/>
            <a:ext cx="7308669" cy="4650971"/>
          </a:xfrm>
          <a:prstGeom prst="rect">
            <a:avLst/>
          </a:prstGeom>
          <a:ln w="12700">
            <a:solidFill>
              <a:schemeClr val="accent6"/>
            </a:solidFill>
            <a:prstDash val="solid"/>
          </a:ln>
        </p:spPr>
      </p:sp>
      <p:sp>
        <p:nvSpPr>
          <p:cNvPr id="5" name="Board point icon 1 circle"/>
          <p:cNvSpPr/>
          <p:nvPr/>
        </p:nvSpPr>
        <p:spPr>
          <a:xfrm>
            <a:off x="8040189" y="1566672"/>
            <a:ext cx="411480" cy="411480"/>
          </a:xfrm>
          <a:prstGeom prst="ellipse">
            <a:avLst/>
          </a:prstGeom>
          <a:solidFill>
            <a:schemeClr val="accent2"/>
          </a:solidFill>
          <a:ln/>
        </p:spPr>
      </p:sp>
      <p:pic>
        <p:nvPicPr>
          <p:cNvPr id="6" name="Board point icon 1 glyph" descr="check icon">    </p:cNvPr>
          <p:cNvPicPr>
            <a:picLocks noChangeAspect="1"/>
          </p:cNvPicPr>
          <p:nvPr/>
        </p:nvPicPr>
        <p:blipFill>
          <a:blip r:embed="rId2"/>
          <a:stretch>
            <a:fillRect/>
          </a:stretch>
        </p:blipFill>
        <p:spPr>
          <a:xfrm>
            <a:off x="8143059" y="1669542"/>
            <a:ext cx="205740" cy="205740"/>
          </a:xfrm>
          <a:prstGeom prst="rect">
            <a:avLst/>
          </a:prstGeom>
        </p:spPr>
      </p:pic>
      <p:sp>
        <p:nvSpPr>
          <p:cNvPr id="7" name="Board point text 1"/>
          <p:cNvSpPr txBox="1"/>
          <p:nvPr/>
        </p:nvSpPr>
        <p:spPr>
          <a:xfrm>
            <a:off x="8634549" y="1417320"/>
            <a:ext cx="3099947" cy="710184"/>
          </a:xfrm>
          <a:prstGeom prst="rect">
            <a:avLst/>
          </a:prstGeom>
          <a:noFill/>
          <a:ln/>
        </p:spPr>
        <p:txBody>
          <a:bodyPr wrap="square" lIns="0" tIns="0" rIns="0" bIns="0" rtlCol="0" anchor="ctr"/>
          <a:lstStyle/>
          <a:p>
            <a:pPr algn="l" indent="0" marL="0">
              <a:buNone/>
            </a:pPr>
            <a:r>
              <a:rPr lang="en-US" sz="1400" dirty="0">
                <a:solidFill>
                  <a:schemeClr val="tx1"/>
                </a:solidFill>
              </a:rPr>
              <a:t>303 or 17-4 PH stainless, turned from 82 mm bar; body 40 mm h6, ground, 24 mm long; flange 80 x 8 mm</a:t>
            </a:r>
            <a:endParaRPr lang="en-US" sz="1400" dirty="0"/>
          </a:p>
        </p:txBody>
      </p:sp>
      <p:sp>
        <p:nvSpPr>
          <p:cNvPr id="8" name="Board point icon 2 circle"/>
          <p:cNvSpPr/>
          <p:nvPr/>
        </p:nvSpPr>
        <p:spPr>
          <a:xfrm>
            <a:off x="8040189" y="2459736"/>
            <a:ext cx="411480" cy="411480"/>
          </a:xfrm>
          <a:prstGeom prst="ellipse">
            <a:avLst/>
          </a:prstGeom>
          <a:solidFill>
            <a:schemeClr val="accent2"/>
          </a:solidFill>
          <a:ln/>
        </p:spPr>
      </p:sp>
      <p:pic>
        <p:nvPicPr>
          <p:cNvPr id="9" name="Board point icon 2 glyph" descr="check icon">    </p:cNvPr>
          <p:cNvPicPr>
            <a:picLocks noChangeAspect="1"/>
          </p:cNvPicPr>
          <p:nvPr/>
        </p:nvPicPr>
        <p:blipFill>
          <a:blip r:embed="rId3"/>
          <a:stretch>
            <a:fillRect/>
          </a:stretch>
        </p:blipFill>
        <p:spPr>
          <a:xfrm>
            <a:off x="8143059" y="2562606"/>
            <a:ext cx="205740" cy="205740"/>
          </a:xfrm>
          <a:prstGeom prst="rect">
            <a:avLst/>
          </a:prstGeom>
        </p:spPr>
      </p:pic>
      <p:sp>
        <p:nvSpPr>
          <p:cNvPr id="10" name="Board point text 2"/>
          <p:cNvSpPr txBox="1"/>
          <p:nvPr/>
        </p:nvSpPr>
        <p:spPr>
          <a:xfrm>
            <a:off x="8634549" y="2310384"/>
            <a:ext cx="3099947" cy="710184"/>
          </a:xfrm>
          <a:prstGeom prst="rect">
            <a:avLst/>
          </a:prstGeom>
          <a:noFill/>
          <a:ln/>
        </p:spPr>
        <p:txBody>
          <a:bodyPr wrap="square" lIns="0" tIns="0" rIns="0" bIns="0" rtlCol="0" anchor="ctr"/>
          <a:lstStyle/>
          <a:p>
            <a:pPr algn="l" indent="0" marL="0">
              <a:buNone/>
            </a:pPr>
            <a:r>
              <a:rPr lang="en-US" sz="1400" dirty="0">
                <a:solidFill>
                  <a:schemeClr val="tx1"/>
                </a:solidFill>
              </a:rPr>
              <a:t>Dowel pin 6 mm, 4 mm proud at +Ym, in a radial hole 6 mm from the flange face: it fixes the target's roll</a:t>
            </a:r>
            <a:endParaRPr lang="en-US" sz="1400" dirty="0"/>
          </a:p>
        </p:txBody>
      </p:sp>
      <p:sp>
        <p:nvSpPr>
          <p:cNvPr id="11" name="Board point icon 3 circle"/>
          <p:cNvSpPr/>
          <p:nvPr/>
        </p:nvSpPr>
        <p:spPr>
          <a:xfrm>
            <a:off x="8040189" y="3352800"/>
            <a:ext cx="411480" cy="411480"/>
          </a:xfrm>
          <a:prstGeom prst="ellipse">
            <a:avLst/>
          </a:prstGeom>
          <a:solidFill>
            <a:schemeClr val="accent2"/>
          </a:solidFill>
          <a:ln/>
        </p:spPr>
      </p:sp>
      <p:pic>
        <p:nvPicPr>
          <p:cNvPr id="12" name="Board point icon 3 glyph" descr="check icon">    </p:cNvPr>
          <p:cNvPicPr>
            <a:picLocks noChangeAspect="1"/>
          </p:cNvPicPr>
          <p:nvPr/>
        </p:nvPicPr>
        <p:blipFill>
          <a:blip r:embed="rId4"/>
          <a:stretch>
            <a:fillRect/>
          </a:stretch>
        </p:blipFill>
        <p:spPr>
          <a:xfrm>
            <a:off x="8143059" y="3455670"/>
            <a:ext cx="205740" cy="205740"/>
          </a:xfrm>
          <a:prstGeom prst="rect">
            <a:avLst/>
          </a:prstGeom>
        </p:spPr>
      </p:pic>
      <p:sp>
        <p:nvSpPr>
          <p:cNvPr id="13" name="Board point text 3"/>
          <p:cNvSpPr txBox="1"/>
          <p:nvPr/>
        </p:nvSpPr>
        <p:spPr>
          <a:xfrm>
            <a:off x="8634549" y="3203448"/>
            <a:ext cx="3099947" cy="710184"/>
          </a:xfrm>
          <a:prstGeom prst="rect">
            <a:avLst/>
          </a:prstGeom>
          <a:noFill/>
          <a:ln/>
        </p:spPr>
        <p:txBody>
          <a:bodyPr wrap="square" lIns="0" tIns="0" rIns="0" bIns="0" rtlCol="0" anchor="ctr"/>
          <a:lstStyle/>
          <a:p>
            <a:pPr algn="l" indent="0" marL="0">
              <a:buNone/>
            </a:pPr>
            <a:r>
              <a:rPr lang="en-US" sz="1400" dirty="0">
                <a:solidFill>
                  <a:schemeClr val="tx1"/>
                </a:solidFill>
              </a:rPr>
              <a:t>Cross hole 8.2 mm along x, 15 mm from the flange face, for the ball-lock pin</a:t>
            </a:r>
            <a:endParaRPr lang="en-US" sz="1400" dirty="0"/>
          </a:p>
        </p:txBody>
      </p:sp>
      <p:sp>
        <p:nvSpPr>
          <p:cNvPr id="14" name="Board point icon 4 circle"/>
          <p:cNvSpPr/>
          <p:nvPr/>
        </p:nvSpPr>
        <p:spPr>
          <a:xfrm>
            <a:off x="8040189" y="4352544"/>
            <a:ext cx="411480" cy="411480"/>
          </a:xfrm>
          <a:prstGeom prst="ellipse">
            <a:avLst/>
          </a:prstGeom>
          <a:solidFill>
            <a:schemeClr val="accent2"/>
          </a:solidFill>
          <a:ln/>
        </p:spPr>
      </p:sp>
      <p:pic>
        <p:nvPicPr>
          <p:cNvPr id="15" name="Board point icon 4 glyph" descr="check icon">    </p:cNvPr>
          <p:cNvPicPr>
            <a:picLocks noChangeAspect="1"/>
          </p:cNvPicPr>
          <p:nvPr/>
        </p:nvPicPr>
        <p:blipFill>
          <a:blip r:embed="rId5"/>
          <a:stretch>
            <a:fillRect/>
          </a:stretch>
        </p:blipFill>
        <p:spPr>
          <a:xfrm>
            <a:off x="8143059" y="4455414"/>
            <a:ext cx="205740" cy="205740"/>
          </a:xfrm>
          <a:prstGeom prst="rect">
            <a:avLst/>
          </a:prstGeom>
        </p:spPr>
      </p:pic>
      <p:sp>
        <p:nvSpPr>
          <p:cNvPr id="16" name="Board point text 4"/>
          <p:cNvSpPr txBox="1"/>
          <p:nvPr/>
        </p:nvSpPr>
        <p:spPr>
          <a:xfrm>
            <a:off x="8634549" y="4096512"/>
            <a:ext cx="3099947" cy="923544"/>
          </a:xfrm>
          <a:prstGeom prst="rect">
            <a:avLst/>
          </a:prstGeom>
          <a:noFill/>
          <a:ln/>
        </p:spPr>
        <p:txBody>
          <a:bodyPr wrap="square" lIns="0" tIns="0" rIns="0" bIns="0" rtlCol="0" anchor="ctr"/>
          <a:lstStyle/>
          <a:p>
            <a:pPr algn="l" indent="0" marL="0">
              <a:buNone/>
            </a:pPr>
            <a:r>
              <a:rPr lang="en-US" sz="1400" dirty="0">
                <a:solidFill>
                  <a:schemeClr val="tx1"/>
                </a:solidFill>
              </a:rPr>
              <a:t>Four M5 x 10 screws on a 60 mm pitch circle at 45, 135, 225 and 315 degrees from the dowel, counterbored from the body side</a:t>
            </a:r>
            <a:endParaRPr lang="en-US" sz="1400" dirty="0"/>
          </a:p>
        </p:txBody>
      </p:sp>
      <p:sp>
        <p:nvSpPr>
          <p:cNvPr id="17" name="Board point icon 5 circle"/>
          <p:cNvSpPr/>
          <p:nvPr/>
        </p:nvSpPr>
        <p:spPr>
          <a:xfrm>
            <a:off x="8040189" y="5458968"/>
            <a:ext cx="411480" cy="411480"/>
          </a:xfrm>
          <a:prstGeom prst="ellipse">
            <a:avLst/>
          </a:prstGeom>
          <a:solidFill>
            <a:schemeClr val="accent2"/>
          </a:solidFill>
          <a:ln/>
        </p:spPr>
      </p:sp>
      <p:pic>
        <p:nvPicPr>
          <p:cNvPr id="18" name="Board point icon 5 glyph" descr="check icon">    </p:cNvPr>
          <p:cNvPicPr>
            <a:picLocks noChangeAspect="1"/>
          </p:cNvPicPr>
          <p:nvPr/>
        </p:nvPicPr>
        <p:blipFill>
          <a:blip r:embed="rId6"/>
          <a:stretch>
            <a:fillRect/>
          </a:stretch>
        </p:blipFill>
        <p:spPr>
          <a:xfrm>
            <a:off x="8143059" y="5561838"/>
            <a:ext cx="205740" cy="205740"/>
          </a:xfrm>
          <a:prstGeom prst="rect">
            <a:avLst/>
          </a:prstGeom>
        </p:spPr>
      </p:pic>
      <p:sp>
        <p:nvSpPr>
          <p:cNvPr id="19" name="Board point text 5"/>
          <p:cNvSpPr txBox="1"/>
          <p:nvPr/>
        </p:nvSpPr>
        <p:spPr>
          <a:xfrm>
            <a:off x="8634549" y="5202936"/>
            <a:ext cx="3099947" cy="923544"/>
          </a:xfrm>
          <a:prstGeom prst="rect">
            <a:avLst/>
          </a:prstGeom>
          <a:noFill/>
          <a:ln/>
        </p:spPr>
        <p:txBody>
          <a:bodyPr wrap="square" lIns="0" tIns="0" rIns="0" bIns="0" rtlCol="0" anchor="ctr"/>
          <a:lstStyle/>
          <a:p>
            <a:pPr algn="l" indent="0" marL="0">
              <a:buNone/>
            </a:pPr>
            <a:r>
              <a:rPr lang="en-US" sz="1400" dirty="0">
                <a:solidFill>
                  <a:schemeClr val="tx1"/>
                </a:solidFill>
              </a:rPr>
              <a:t>Every target's back plate carries the same pattern: four M5 tapped through the 8 mm plate, centered on the plate axis</a:t>
            </a:r>
            <a:endParaRPr lang="en-US" sz="1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Standoff set PT-03: the body length is the gap</a:t>
            </a:r>
            <a:endParaRPr lang="en-US" sz="3400" dirty="0"/>
          </a:p>
        </p:txBody>
      </p:sp>
      <p:pic>
        <p:nvPicPr>
          <p:cNvPr id="3" name="Drawing PT-03, the standoff set" descr="Drawing PT-03, the standoff set">    </p:cNvPr>
          <p:cNvPicPr>
            <a:picLocks noChangeAspect="1"/>
          </p:cNvPicPr>
          <p:nvPr/>
        </p:nvPicPr>
        <p:blipFill>
          <a:blip r:embed="rId1"/>
          <a:stretch>
            <a:fillRect/>
          </a:stretch>
        </p:blipFill>
        <p:spPr>
          <a:xfrm>
            <a:off x="457200" y="1650076"/>
            <a:ext cx="6668589" cy="4243647"/>
          </a:xfrm>
          <a:prstGeom prst="rect">
            <a:avLst/>
          </a:prstGeom>
        </p:spPr>
      </p:pic>
      <p:sp>
        <p:nvSpPr>
          <p:cNvPr id="4" name="Drawing PT-03, the standoff set frame"/>
          <p:cNvSpPr/>
          <p:nvPr/>
        </p:nvSpPr>
        <p:spPr>
          <a:xfrm>
            <a:off x="457200" y="1650076"/>
            <a:ext cx="6668589" cy="4243647"/>
          </a:xfrm>
          <a:prstGeom prst="rect">
            <a:avLst/>
          </a:prstGeom>
          <a:ln w="12700">
            <a:solidFill>
              <a:schemeClr val="accent6"/>
            </a:solidFill>
            <a:prstDash val="solid"/>
          </a:ln>
        </p:spPr>
      </p:sp>
      <p:sp>
        <p:nvSpPr>
          <p:cNvPr id="5" name="Board point icon 1 circle"/>
          <p:cNvSpPr/>
          <p:nvPr/>
        </p:nvSpPr>
        <p:spPr>
          <a:xfrm>
            <a:off x="7400109" y="1787042"/>
            <a:ext cx="411480" cy="411480"/>
          </a:xfrm>
          <a:prstGeom prst="ellipse">
            <a:avLst/>
          </a:prstGeom>
          <a:solidFill>
            <a:schemeClr val="accent2"/>
          </a:solidFill>
          <a:ln/>
        </p:spPr>
      </p:sp>
      <p:pic>
        <p:nvPicPr>
          <p:cNvPr id="6" name="Board point icon 1 glyph" descr="check icon">    </p:cNvPr>
          <p:cNvPicPr>
            <a:picLocks noChangeAspect="1"/>
          </p:cNvPicPr>
          <p:nvPr/>
        </p:nvPicPr>
        <p:blipFill>
          <a:blip r:embed="rId2"/>
          <a:stretch>
            <a:fillRect/>
          </a:stretch>
        </p:blipFill>
        <p:spPr>
          <a:xfrm>
            <a:off x="7502979" y="1889912"/>
            <a:ext cx="205740" cy="205740"/>
          </a:xfrm>
          <a:prstGeom prst="rect">
            <a:avLst/>
          </a:prstGeom>
        </p:spPr>
      </p:pic>
      <p:sp>
        <p:nvSpPr>
          <p:cNvPr id="7" name="Board point text 1"/>
          <p:cNvSpPr txBox="1"/>
          <p:nvPr/>
        </p:nvSpPr>
        <p:spPr>
          <a:xfrm>
            <a:off x="7994469" y="1417320"/>
            <a:ext cx="3740027" cy="1150925"/>
          </a:xfrm>
          <a:prstGeom prst="rect">
            <a:avLst/>
          </a:prstGeom>
          <a:noFill/>
          <a:ln/>
        </p:spPr>
        <p:txBody>
          <a:bodyPr wrap="square" lIns="0" tIns="0" rIns="0" bIns="0" rtlCol="0" anchor="ctr"/>
          <a:lstStyle/>
          <a:p>
            <a:pPr algn="l" indent="0" marL="0">
              <a:buNone/>
            </a:pPr>
            <a:r>
              <a:rPr lang="en-US" sz="1400" dirty="0">
                <a:solidFill>
                  <a:schemeClr val="tx1"/>
                </a:solidFill>
              </a:rPr>
              <a:t>Aluminum, 10 mm body; the body length is G minus the front part's thickness, so the step the sensor sees is G: 9 and 54 mm for the 6 mm front plates, 5 and 50 mm for the 10 mm raised square, plus or minus 0.05 mm</a:t>
            </a:r>
            <a:endParaRPr lang="en-US" sz="1400" dirty="0"/>
          </a:p>
        </p:txBody>
      </p:sp>
      <p:sp>
        <p:nvSpPr>
          <p:cNvPr id="8" name="Board point icon 2 circle"/>
          <p:cNvSpPr/>
          <p:nvPr/>
        </p:nvSpPr>
        <p:spPr>
          <a:xfrm>
            <a:off x="7400109" y="3014167"/>
            <a:ext cx="411480" cy="411480"/>
          </a:xfrm>
          <a:prstGeom prst="ellipse">
            <a:avLst/>
          </a:prstGeom>
          <a:solidFill>
            <a:schemeClr val="accent2"/>
          </a:solidFill>
          <a:ln/>
        </p:spPr>
      </p:sp>
      <p:pic>
        <p:nvPicPr>
          <p:cNvPr id="9" name="Board point icon 2 glyph" descr="check icon">    </p:cNvPr>
          <p:cNvPicPr>
            <a:picLocks noChangeAspect="1"/>
          </p:cNvPicPr>
          <p:nvPr/>
        </p:nvPicPr>
        <p:blipFill>
          <a:blip r:embed="rId3"/>
          <a:stretch>
            <a:fillRect/>
          </a:stretch>
        </p:blipFill>
        <p:spPr>
          <a:xfrm>
            <a:off x="7502979" y="3117037"/>
            <a:ext cx="205740" cy="205740"/>
          </a:xfrm>
          <a:prstGeom prst="rect">
            <a:avLst/>
          </a:prstGeom>
        </p:spPr>
      </p:pic>
      <p:sp>
        <p:nvSpPr>
          <p:cNvPr id="10" name="Board point text 2"/>
          <p:cNvSpPr txBox="1"/>
          <p:nvPr/>
        </p:nvSpPr>
        <p:spPr>
          <a:xfrm>
            <a:off x="7994469" y="2751125"/>
            <a:ext cx="3740027" cy="937565"/>
          </a:xfrm>
          <a:prstGeom prst="rect">
            <a:avLst/>
          </a:prstGeom>
          <a:noFill/>
          <a:ln/>
        </p:spPr>
        <p:txBody>
          <a:bodyPr wrap="square" lIns="0" tIns="0" rIns="0" bIns="0" rtlCol="0" anchor="ctr"/>
          <a:lstStyle/>
          <a:p>
            <a:pPr algn="l" indent="0" marL="0">
              <a:buNone/>
            </a:pPr>
            <a:r>
              <a:rPr lang="en-US" sz="1400" dirty="0">
                <a:solidFill>
                  <a:schemeClr val="tx1"/>
                </a:solidFill>
              </a:rPr>
              <a:t>Asymmetric studs: M5 x 8 at the back end into the 8 mm back plate, M5 x 5.5 at the front end so it sits 0.5 mm below a 6 mm front face; a groove marks the front end</a:t>
            </a:r>
            <a:endParaRPr lang="en-US" sz="1400" dirty="0"/>
          </a:p>
        </p:txBody>
      </p:sp>
      <p:sp>
        <p:nvSpPr>
          <p:cNvPr id="11" name="Board point icon 3 circle"/>
          <p:cNvSpPr/>
          <p:nvPr/>
        </p:nvSpPr>
        <p:spPr>
          <a:xfrm>
            <a:off x="7400109" y="4027932"/>
            <a:ext cx="411480" cy="411480"/>
          </a:xfrm>
          <a:prstGeom prst="ellipse">
            <a:avLst/>
          </a:prstGeom>
          <a:solidFill>
            <a:schemeClr val="accent2"/>
          </a:solidFill>
          <a:ln/>
        </p:spPr>
      </p:sp>
      <p:pic>
        <p:nvPicPr>
          <p:cNvPr id="12" name="Board point icon 3 glyph" descr="check icon">    </p:cNvPr>
          <p:cNvPicPr>
            <a:picLocks noChangeAspect="1"/>
          </p:cNvPicPr>
          <p:nvPr/>
        </p:nvPicPr>
        <p:blipFill>
          <a:blip r:embed="rId4"/>
          <a:stretch>
            <a:fillRect/>
          </a:stretch>
        </p:blipFill>
        <p:spPr>
          <a:xfrm>
            <a:off x="7502979" y="4130802"/>
            <a:ext cx="205740" cy="205740"/>
          </a:xfrm>
          <a:prstGeom prst="rect">
            <a:avLst/>
          </a:prstGeom>
        </p:spPr>
      </p:pic>
      <p:sp>
        <p:nvSpPr>
          <p:cNvPr id="13" name="Board point text 3"/>
          <p:cNvSpPr txBox="1"/>
          <p:nvPr/>
        </p:nvSpPr>
        <p:spPr>
          <a:xfrm>
            <a:off x="7994469" y="3871570"/>
            <a:ext cx="3740027" cy="724205"/>
          </a:xfrm>
          <a:prstGeom prst="rect">
            <a:avLst/>
          </a:prstGeom>
          <a:noFill/>
          <a:ln/>
        </p:spPr>
        <p:txBody>
          <a:bodyPr wrap="square" lIns="0" tIns="0" rIns="0" bIns="0" rtlCol="0" anchor="ctr"/>
          <a:lstStyle/>
          <a:p>
            <a:pPr algn="l" indent="0" marL="0">
              <a:buNone/>
            </a:pPr>
            <a:r>
              <a:rPr lang="en-US" sz="1400" dirty="0">
                <a:solidFill>
                  <a:schemeClr val="tx1"/>
                </a:solidFill>
              </a:rPr>
              <a:t>Four standoffs of one group are matched in length within 0.02 mm; the measured length is recorded as the gap in the as-built record</a:t>
            </a:r>
            <a:endParaRPr lang="en-US" sz="1400" dirty="0"/>
          </a:p>
        </p:txBody>
      </p:sp>
      <p:sp>
        <p:nvSpPr>
          <p:cNvPr id="14" name="Board point icon 4 circle"/>
          <p:cNvSpPr/>
          <p:nvPr/>
        </p:nvSpPr>
        <p:spPr>
          <a:xfrm>
            <a:off x="7400109" y="4935017"/>
            <a:ext cx="411480" cy="411480"/>
          </a:xfrm>
          <a:prstGeom prst="ellipse">
            <a:avLst/>
          </a:prstGeom>
          <a:solidFill>
            <a:schemeClr val="accent2"/>
          </a:solidFill>
          <a:ln/>
        </p:spPr>
      </p:sp>
      <p:pic>
        <p:nvPicPr>
          <p:cNvPr id="15" name="Board point icon 4 glyph" descr="check icon">    </p:cNvPr>
          <p:cNvPicPr>
            <a:picLocks noChangeAspect="1"/>
          </p:cNvPicPr>
          <p:nvPr/>
        </p:nvPicPr>
        <p:blipFill>
          <a:blip r:embed="rId5"/>
          <a:stretch>
            <a:fillRect/>
          </a:stretch>
        </p:blipFill>
        <p:spPr>
          <a:xfrm>
            <a:off x="7502979" y="5037887"/>
            <a:ext cx="205740" cy="205740"/>
          </a:xfrm>
          <a:prstGeom prst="rect">
            <a:avLst/>
          </a:prstGeom>
        </p:spPr>
      </p:pic>
      <p:sp>
        <p:nvSpPr>
          <p:cNvPr id="16" name="Board point text 4"/>
          <p:cNvSpPr txBox="1"/>
          <p:nvPr/>
        </p:nvSpPr>
        <p:spPr>
          <a:xfrm>
            <a:off x="7994469" y="4778654"/>
            <a:ext cx="3740027" cy="724205"/>
          </a:xfrm>
          <a:prstGeom prst="rect">
            <a:avLst/>
          </a:prstGeom>
          <a:noFill/>
          <a:ln/>
        </p:spPr>
        <p:txBody>
          <a:bodyPr wrap="square" lIns="0" tIns="0" rIns="0" bIns="0" rtlCol="0" anchor="ctr"/>
          <a:lstStyle/>
          <a:p>
            <a:pPr algn="l" indent="0" marL="0">
              <a:buNone/>
            </a:pPr>
            <a:r>
              <a:rPr lang="en-US" sz="1400" dirty="0">
                <a:solidFill>
                  <a:schemeClr val="tx1"/>
                </a:solidFill>
              </a:rPr>
              <a:t>Three targets use them: hidden behind the raised square of T3a, at the corners of T3b and T5; 32 pieces with spares</a:t>
            </a:r>
            <a:endParaRPr lang="en-US" sz="1400" dirty="0"/>
          </a:p>
        </p:txBody>
      </p:sp>
      <p:sp>
        <p:nvSpPr>
          <p:cNvPr id="17" name="Board point icon 5 circle"/>
          <p:cNvSpPr/>
          <p:nvPr/>
        </p:nvSpPr>
        <p:spPr>
          <a:xfrm>
            <a:off x="7400109" y="5700370"/>
            <a:ext cx="411480" cy="411480"/>
          </a:xfrm>
          <a:prstGeom prst="ellipse">
            <a:avLst/>
          </a:prstGeom>
          <a:solidFill>
            <a:schemeClr val="accent2"/>
          </a:solidFill>
          <a:ln/>
        </p:spPr>
      </p:sp>
      <p:pic>
        <p:nvPicPr>
          <p:cNvPr id="18" name="Board point icon 5 glyph" descr="check icon">    </p:cNvPr>
          <p:cNvPicPr>
            <a:picLocks noChangeAspect="1"/>
          </p:cNvPicPr>
          <p:nvPr/>
        </p:nvPicPr>
        <p:blipFill>
          <a:blip r:embed="rId6"/>
          <a:stretch>
            <a:fillRect/>
          </a:stretch>
        </p:blipFill>
        <p:spPr>
          <a:xfrm>
            <a:off x="7502979" y="5803240"/>
            <a:ext cx="205740" cy="205740"/>
          </a:xfrm>
          <a:prstGeom prst="rect">
            <a:avLst/>
          </a:prstGeom>
        </p:spPr>
      </p:pic>
      <p:sp>
        <p:nvSpPr>
          <p:cNvPr id="19" name="Board point text 5"/>
          <p:cNvSpPr txBox="1"/>
          <p:nvPr/>
        </p:nvSpPr>
        <p:spPr>
          <a:xfrm>
            <a:off x="7994469" y="5685739"/>
            <a:ext cx="3740027" cy="440741"/>
          </a:xfrm>
          <a:prstGeom prst="rect">
            <a:avLst/>
          </a:prstGeom>
          <a:noFill/>
          <a:ln/>
        </p:spPr>
        <p:txBody>
          <a:bodyPr wrap="square" lIns="0" tIns="0" rIns="0" bIns="0" rtlCol="0" anchor="ctr"/>
          <a:lstStyle/>
          <a:p>
            <a:pPr algn="l" indent="0" marL="0">
              <a:buNone/>
            </a:pPr>
            <a:r>
              <a:rPr lang="en-US" sz="1400" dirty="0">
                <a:solidFill>
                  <a:schemeClr val="tx1"/>
                </a:solidFill>
              </a:rPr>
              <a:t>Bead blast to match the plates, then measure</a:t>
            </a:r>
            <a:endParaRPr lang="en-US" sz="1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Edge targets PT-04 and PT-05</a:t>
            </a:r>
            <a:endParaRPr lang="en-US" sz="3400" dirty="0"/>
          </a:p>
        </p:txBody>
      </p:sp>
      <p:pic>
        <p:nvPicPr>
          <p:cNvPr id="3" name="Drawing 1: PT-04_T3a_raised_square" descr="Drawing 1: PT-04_T3a_raised_square">    </p:cNvPr>
          <p:cNvPicPr>
            <a:picLocks noChangeAspect="1"/>
          </p:cNvPicPr>
          <p:nvPr/>
        </p:nvPicPr>
        <p:blipFill>
          <a:blip r:embed="rId1"/>
          <a:stretch>
            <a:fillRect/>
          </a:stretch>
        </p:blipFill>
        <p:spPr>
          <a:xfrm>
            <a:off x="457200" y="1701387"/>
            <a:ext cx="5501488" cy="3500947"/>
          </a:xfrm>
          <a:prstGeom prst="rect">
            <a:avLst/>
          </a:prstGeom>
        </p:spPr>
      </p:pic>
      <p:sp>
        <p:nvSpPr>
          <p:cNvPr id="4" name="Drawing 1: PT-04_T3a_raised_square frame"/>
          <p:cNvSpPr/>
          <p:nvPr/>
        </p:nvSpPr>
        <p:spPr>
          <a:xfrm>
            <a:off x="457200" y="1701387"/>
            <a:ext cx="5501488" cy="3500947"/>
          </a:xfrm>
          <a:prstGeom prst="rect">
            <a:avLst/>
          </a:prstGeom>
          <a:ln w="12700">
            <a:solidFill>
              <a:schemeClr val="accent6"/>
            </a:solidFill>
            <a:prstDash val="solid"/>
          </a:ln>
        </p:spPr>
      </p:sp>
      <p:pic>
        <p:nvPicPr>
          <p:cNvPr id="5" name="Drawing 2: PT-05_T3b_square_window" descr="Drawing 2: PT-05_T3b_square_window">    </p:cNvPr>
          <p:cNvPicPr>
            <a:picLocks noChangeAspect="1"/>
          </p:cNvPicPr>
          <p:nvPr/>
        </p:nvPicPr>
        <p:blipFill>
          <a:blip r:embed="rId2"/>
          <a:stretch>
            <a:fillRect/>
          </a:stretch>
        </p:blipFill>
        <p:spPr>
          <a:xfrm>
            <a:off x="6233008" y="1701387"/>
            <a:ext cx="5501488" cy="3500947"/>
          </a:xfrm>
          <a:prstGeom prst="rect">
            <a:avLst/>
          </a:prstGeom>
        </p:spPr>
      </p:pic>
      <p:sp>
        <p:nvSpPr>
          <p:cNvPr id="6" name="Drawing 2: PT-05_T3b_square_window frame"/>
          <p:cNvSpPr/>
          <p:nvPr/>
        </p:nvSpPr>
        <p:spPr>
          <a:xfrm>
            <a:off x="6233008" y="1701387"/>
            <a:ext cx="5501488" cy="3500947"/>
          </a:xfrm>
          <a:prstGeom prst="rect">
            <a:avLst/>
          </a:prstGeom>
          <a:ln w="12700">
            <a:solidFill>
              <a:schemeClr val="accent6"/>
            </a:solidFill>
            <a:prstDash val="solid"/>
          </a:ln>
        </p:spPr>
      </p:sp>
      <p:sp>
        <p:nvSpPr>
          <p:cNvPr id="7" name="Figure caption"/>
          <p:cNvSpPr txBox="1"/>
          <p:nvPr/>
        </p:nvSpPr>
        <p:spPr>
          <a:xfrm>
            <a:off x="457200" y="5385213"/>
            <a:ext cx="11277295" cy="457200"/>
          </a:xfrm>
          <a:prstGeom prst="rect">
            <a:avLst/>
          </a:prstGeom>
          <a:noFill/>
          <a:ln/>
        </p:spPr>
        <p:txBody>
          <a:bodyPr wrap="square" lIns="0" tIns="0" rIns="0" bIns="0" rtlCol="0" anchor="t"/>
          <a:lstStyle/>
          <a:p>
            <a:pPr algn="l" indent="0" marL="0">
              <a:buNone/>
            </a:pPr>
            <a:r>
              <a:rPr lang="en-US" sz="1200" dirty="0">
                <a:solidFill>
                  <a:schemeClr val="accent5"/>
                </a:solidFill>
              </a:rPr>
              <a:t>Left: T3a, the raised 160 mm square on four hidden standoffs above a 300 mm back plate. Right: T3b, the 160 mm window countersunk from the back of a 300 mm front plate, standoffs at the corners.</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Feature plates PT-06 and PT-07</a:t>
            </a:r>
            <a:endParaRPr lang="en-US" sz="3400" dirty="0"/>
          </a:p>
        </p:txBody>
      </p:sp>
      <p:pic>
        <p:nvPicPr>
          <p:cNvPr id="3" name="Drawing 1: PT-06_T4_disk_plate_sheet1" descr="Drawing 1: PT-06_T4_disk_plate_sheet1">    </p:cNvPr>
          <p:cNvPicPr>
            <a:picLocks noChangeAspect="1"/>
          </p:cNvPicPr>
          <p:nvPr/>
        </p:nvPicPr>
        <p:blipFill>
          <a:blip r:embed="rId1"/>
          <a:stretch>
            <a:fillRect/>
          </a:stretch>
        </p:blipFill>
        <p:spPr>
          <a:xfrm>
            <a:off x="457200" y="1701387"/>
            <a:ext cx="5501488" cy="3500947"/>
          </a:xfrm>
          <a:prstGeom prst="rect">
            <a:avLst/>
          </a:prstGeom>
        </p:spPr>
      </p:pic>
      <p:sp>
        <p:nvSpPr>
          <p:cNvPr id="4" name="Drawing 1: PT-06_T4_disk_plate_sheet1 frame"/>
          <p:cNvSpPr/>
          <p:nvPr/>
        </p:nvSpPr>
        <p:spPr>
          <a:xfrm>
            <a:off x="457200" y="1701387"/>
            <a:ext cx="5501488" cy="3500947"/>
          </a:xfrm>
          <a:prstGeom prst="rect">
            <a:avLst/>
          </a:prstGeom>
          <a:ln w="12700">
            <a:solidFill>
              <a:schemeClr val="accent6"/>
            </a:solidFill>
            <a:prstDash val="solid"/>
          </a:ln>
        </p:spPr>
      </p:sp>
      <p:pic>
        <p:nvPicPr>
          <p:cNvPr id="5" name="Drawing 2: PT-07_T5_cutout_plate" descr="Drawing 2: PT-07_T5_cutout_plate">    </p:cNvPr>
          <p:cNvPicPr>
            <a:picLocks noChangeAspect="1"/>
          </p:cNvPicPr>
          <p:nvPr/>
        </p:nvPicPr>
        <p:blipFill>
          <a:blip r:embed="rId2"/>
          <a:stretch>
            <a:fillRect/>
          </a:stretch>
        </p:blipFill>
        <p:spPr>
          <a:xfrm>
            <a:off x="6233008" y="1701387"/>
            <a:ext cx="5501488" cy="3500947"/>
          </a:xfrm>
          <a:prstGeom prst="rect">
            <a:avLst/>
          </a:prstGeom>
        </p:spPr>
      </p:pic>
      <p:sp>
        <p:nvSpPr>
          <p:cNvPr id="6" name="Drawing 2: PT-07_T5_cutout_plate frame"/>
          <p:cNvSpPr/>
          <p:nvPr/>
        </p:nvSpPr>
        <p:spPr>
          <a:xfrm>
            <a:off x="6233008" y="1701387"/>
            <a:ext cx="5501488" cy="3500947"/>
          </a:xfrm>
          <a:prstGeom prst="rect">
            <a:avLst/>
          </a:prstGeom>
          <a:ln w="12700">
            <a:solidFill>
              <a:schemeClr val="accent6"/>
            </a:solidFill>
            <a:prstDash val="solid"/>
          </a:ln>
        </p:spPr>
      </p:sp>
      <p:sp>
        <p:nvSpPr>
          <p:cNvPr id="7" name="Figure caption"/>
          <p:cNvSpPr txBox="1"/>
          <p:nvPr/>
        </p:nvSpPr>
        <p:spPr>
          <a:xfrm>
            <a:off x="457200" y="5385213"/>
            <a:ext cx="11277295" cy="457200"/>
          </a:xfrm>
          <a:prstGeom prst="rect">
            <a:avLst/>
          </a:prstGeom>
          <a:noFill/>
          <a:ln/>
        </p:spPr>
        <p:txBody>
          <a:bodyPr wrap="square" lIns="0" tIns="0" rIns="0" bIns="0" rtlCol="0" anchor="t"/>
          <a:lstStyle/>
          <a:p>
            <a:pPr algn="l" indent="0" marL="0">
              <a:buNone/>
            </a:pPr>
            <a:r>
              <a:rPr lang="en-US" sz="1200" dirty="0">
                <a:solidFill>
                  <a:schemeClr val="accent5"/>
                </a:solidFill>
              </a:rPr>
              <a:t>Left: T4, the disk plate; the site table gives each disk, post and blank site from the plate center. Right: T5, the cutout plate with its removable back plate and the edge bracket that carries the spigot.</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Fixtures that are bought, not drawn</a:t>
            </a:r>
            <a:endParaRPr lang="en-US" sz="3400" dirty="0"/>
          </a:p>
        </p:txBody>
      </p:sp>
      <p:sp>
        <p:nvSpPr>
          <p:cNvPr id="3" name="Figure card"/>
          <p:cNvSpPr/>
          <p:nvPr/>
        </p:nvSpPr>
        <p:spPr>
          <a:xfrm>
            <a:off x="457200" y="1417320"/>
            <a:ext cx="4114800" cy="4709160"/>
          </a:xfrm>
          <a:prstGeom prst="roundRect">
            <a:avLst>
              <a:gd name="adj" fmla="val 2667"/>
            </a:avLst>
          </a:prstGeom>
          <a:solidFill>
            <a:schemeClr val="bg1"/>
          </a:solidFill>
          <a:ln w="12700">
            <a:solidFill>
              <a:schemeClr val="accent6"/>
            </a:solidFill>
            <a:prstDash val="solid"/>
          </a:ln>
        </p:spPr>
      </p:sp>
      <p:pic>
        <p:nvPicPr>
          <p:cNvPr id="4" name="The setup: the sensor on its rigid stand and the robot carrying a target on the adapter" descr="The setup: the sensor on its rigid stand and the robot carrying a target on the adapter">    </p:cNvPr>
          <p:cNvPicPr>
            <a:picLocks noChangeAspect="1"/>
          </p:cNvPicPr>
          <p:nvPr/>
        </p:nvPicPr>
        <p:blipFill>
          <a:blip r:embed="rId1"/>
          <a:stretch>
            <a:fillRect/>
          </a:stretch>
        </p:blipFill>
        <p:spPr>
          <a:xfrm>
            <a:off x="685800" y="2583883"/>
            <a:ext cx="3657600" cy="1406769"/>
          </a:xfrm>
          <a:prstGeom prst="rect">
            <a:avLst/>
          </a:prstGeom>
        </p:spPr>
      </p:pic>
      <p:sp>
        <p:nvSpPr>
          <p:cNvPr id="5" name="Figure caption"/>
          <p:cNvSpPr txBox="1"/>
          <p:nvPr/>
        </p:nvSpPr>
        <p:spPr>
          <a:xfrm>
            <a:off x="685800" y="4173533"/>
            <a:ext cx="3657600" cy="786384"/>
          </a:xfrm>
          <a:prstGeom prst="rect">
            <a:avLst/>
          </a:prstGeom>
          <a:noFill/>
          <a:ln/>
        </p:spPr>
        <p:txBody>
          <a:bodyPr wrap="square" lIns="0" tIns="0" rIns="0" bIns="0" rtlCol="0" anchor="t"/>
          <a:lstStyle/>
          <a:p>
            <a:pPr algn="l" indent="0" marL="0">
              <a:buNone/>
            </a:pPr>
            <a:r>
              <a:rPr lang="en-US" sz="1200" dirty="0">
                <a:solidFill>
                  <a:schemeClr val="accent5"/>
                </a:solidFill>
              </a:rPr>
              <a:t>The setup: the sensor on its rigid stand, the robot carrying a target on the adapter, the working range 400 to 1600 mm, the enclosed laboratory with constant lighting.</a:t>
            </a:r>
            <a:endParaRPr lang="en-US" sz="1200" dirty="0"/>
          </a:p>
        </p:txBody>
      </p:sp>
      <p:sp>
        <p:nvSpPr>
          <p:cNvPr id="6" name="Run-out part 1 card"/>
          <p:cNvSpPr/>
          <p:nvPr/>
        </p:nvSpPr>
        <p:spPr>
          <a:xfrm>
            <a:off x="4846320" y="1417320"/>
            <a:ext cx="6888175" cy="1184055"/>
          </a:xfrm>
          <a:prstGeom prst="roundRect">
            <a:avLst>
              <a:gd name="adj" fmla="val 9267"/>
            </a:avLst>
          </a:prstGeom>
          <a:solidFill>
            <a:schemeClr val="bg2"/>
          </a:solidFill>
          <a:ln/>
        </p:spPr>
      </p:sp>
      <p:sp>
        <p:nvSpPr>
          <p:cNvPr id="7" name="Run-out part 1 icon circle"/>
          <p:cNvSpPr/>
          <p:nvPr/>
        </p:nvSpPr>
        <p:spPr>
          <a:xfrm>
            <a:off x="5074920" y="1689307"/>
            <a:ext cx="640080" cy="640080"/>
          </a:xfrm>
          <a:prstGeom prst="ellipse">
            <a:avLst/>
          </a:prstGeom>
          <a:solidFill>
            <a:schemeClr val="accent2"/>
          </a:solidFill>
          <a:ln/>
        </p:spPr>
      </p:sp>
      <p:pic>
        <p:nvPicPr>
          <p:cNvPr id="8" name="Run-out part 1 icon glyph" descr="gauge icon">    </p:cNvPr>
          <p:cNvPicPr>
            <a:picLocks noChangeAspect="1"/>
          </p:cNvPicPr>
          <p:nvPr/>
        </p:nvPicPr>
        <p:blipFill>
          <a:blip r:embed="rId2"/>
          <a:stretch>
            <a:fillRect/>
          </a:stretch>
        </p:blipFill>
        <p:spPr>
          <a:xfrm>
            <a:off x="5234940" y="1849327"/>
            <a:ext cx="320040" cy="320040"/>
          </a:xfrm>
          <a:prstGeom prst="rect">
            <a:avLst/>
          </a:prstGeom>
        </p:spPr>
      </p:pic>
      <p:sp>
        <p:nvSpPr>
          <p:cNvPr id="9" name="Run-out part 1 text"/>
          <p:cNvSpPr txBox="1"/>
          <p:nvPr/>
        </p:nvSpPr>
        <p:spPr>
          <a:xfrm>
            <a:off x="5897880" y="1508760"/>
            <a:ext cx="5608015" cy="1001175"/>
          </a:xfrm>
          <a:prstGeom prst="rect">
            <a:avLst/>
          </a:prstGeom>
          <a:noFill/>
          <a:ln/>
        </p:spPr>
        <p:txBody>
          <a:bodyPr wrap="square" lIns="0" tIns="0" rIns="0" bIns="0" rtlCol="0" anchor="ctr"/>
          <a:lstStyle/>
          <a:p>
            <a:pPr algn="l" indent="0" marL="0">
              <a:buNone/>
            </a:pPr>
            <a:r>
              <a:rPr lang="en-US" sz="1800" b="1" dirty="0">
                <a:solidFill>
                  <a:schemeClr val="tx2"/>
                </a:solidFill>
              </a:rPr>
              <a:t>Run-out fixture</a:t>
            </a:r>
            <a:endParaRPr lang="en-US" sz="1600" dirty="0"/>
          </a:p>
          <a:p>
            <a:pPr algn="l" indent="0" marL="0">
              <a:buNone/>
            </a:pPr>
            <a:r>
              <a:rPr lang="en-US" sz="1400" dirty="0">
                <a:solidFill>
                  <a:schemeClr val="tx1"/>
                </a:solidFill>
              </a:rPr>
              <a:t>Stage 1: dial indicator, 0.01 mm graduation, on an articulating magnetic base on a steel plate bolted to the cell table; the in-house flatness check of every plate</a:t>
            </a:r>
            <a:endParaRPr lang="en-US" sz="1600" dirty="0"/>
          </a:p>
        </p:txBody>
      </p:sp>
      <p:sp>
        <p:nvSpPr>
          <p:cNvPr id="10" name="Run-out part 2 card"/>
          <p:cNvSpPr/>
          <p:nvPr/>
        </p:nvSpPr>
        <p:spPr>
          <a:xfrm>
            <a:off x="4846320" y="2738535"/>
            <a:ext cx="6888175" cy="1184055"/>
          </a:xfrm>
          <a:prstGeom prst="roundRect">
            <a:avLst>
              <a:gd name="adj" fmla="val 9267"/>
            </a:avLst>
          </a:prstGeom>
          <a:solidFill>
            <a:schemeClr val="bg2"/>
          </a:solidFill>
          <a:ln/>
        </p:spPr>
      </p:sp>
      <p:sp>
        <p:nvSpPr>
          <p:cNvPr id="11" name="Run-out part 2 icon circle"/>
          <p:cNvSpPr/>
          <p:nvPr/>
        </p:nvSpPr>
        <p:spPr>
          <a:xfrm>
            <a:off x="5074920" y="3010522"/>
            <a:ext cx="640080" cy="640080"/>
          </a:xfrm>
          <a:prstGeom prst="ellipse">
            <a:avLst/>
          </a:prstGeom>
          <a:solidFill>
            <a:schemeClr val="accent2"/>
          </a:solidFill>
          <a:ln/>
        </p:spPr>
      </p:sp>
      <p:pic>
        <p:nvPicPr>
          <p:cNvPr id="12" name="Run-out part 2 icon glyph" descr="layers icon">    </p:cNvPr>
          <p:cNvPicPr>
            <a:picLocks noChangeAspect="1"/>
          </p:cNvPicPr>
          <p:nvPr/>
        </p:nvPicPr>
        <p:blipFill>
          <a:blip r:embed="rId3"/>
          <a:stretch>
            <a:fillRect/>
          </a:stretch>
        </p:blipFill>
        <p:spPr>
          <a:xfrm>
            <a:off x="5234940" y="3170542"/>
            <a:ext cx="320040" cy="320040"/>
          </a:xfrm>
          <a:prstGeom prst="rect">
            <a:avLst/>
          </a:prstGeom>
        </p:spPr>
      </p:pic>
      <p:sp>
        <p:nvSpPr>
          <p:cNvPr id="13" name="Run-out part 2 text"/>
          <p:cNvSpPr txBox="1"/>
          <p:nvPr/>
        </p:nvSpPr>
        <p:spPr>
          <a:xfrm>
            <a:off x="5897880" y="2829975"/>
            <a:ext cx="5608015" cy="1001175"/>
          </a:xfrm>
          <a:prstGeom prst="rect">
            <a:avLst/>
          </a:prstGeom>
          <a:noFill/>
          <a:ln/>
        </p:spPr>
        <p:txBody>
          <a:bodyPr wrap="square" lIns="0" tIns="0" rIns="0" bIns="0" rtlCol="0" anchor="ctr"/>
          <a:lstStyle/>
          <a:p>
            <a:pPr algn="l" indent="0" marL="0">
              <a:buNone/>
            </a:pPr>
            <a:r>
              <a:rPr lang="en-US" sz="1800" b="1" dirty="0">
                <a:solidFill>
                  <a:schemeClr val="tx2"/>
                </a:solidFill>
              </a:rPr>
              <a:t>Drift-run stand</a:t>
            </a:r>
            <a:endParaRPr lang="en-US" sz="1600" dirty="0"/>
          </a:p>
          <a:p>
            <a:pPr algn="l" indent="0" marL="0">
              <a:buNone/>
            </a:pPr>
            <a:r>
              <a:rPr lang="en-US" sz="1400" dirty="0">
                <a:solidFill>
                  <a:schemeClr val="tx1"/>
                </a:solidFill>
              </a:rPr>
              <a:t>Any rigid laboratory stand that holds the board on its adapter without creeping, for the optional 8 hour drift run with the robot idle; no drawing</a:t>
            </a:r>
            <a:endParaRPr lang="en-US" sz="1600" dirty="0"/>
          </a:p>
        </p:txBody>
      </p:sp>
      <p:sp>
        <p:nvSpPr>
          <p:cNvPr id="14" name="Run-out part 3 card"/>
          <p:cNvSpPr/>
          <p:nvPr/>
        </p:nvSpPr>
        <p:spPr>
          <a:xfrm>
            <a:off x="4846320" y="4059749"/>
            <a:ext cx="6888175" cy="964785"/>
          </a:xfrm>
          <a:prstGeom prst="roundRect">
            <a:avLst>
              <a:gd name="adj" fmla="val 11373"/>
            </a:avLst>
          </a:prstGeom>
          <a:solidFill>
            <a:schemeClr val="bg2"/>
          </a:solidFill>
          <a:ln/>
        </p:spPr>
      </p:sp>
      <p:sp>
        <p:nvSpPr>
          <p:cNvPr id="15" name="Run-out part 3 icon circle"/>
          <p:cNvSpPr/>
          <p:nvPr/>
        </p:nvSpPr>
        <p:spPr>
          <a:xfrm>
            <a:off x="5074920" y="4222102"/>
            <a:ext cx="640080" cy="640080"/>
          </a:xfrm>
          <a:prstGeom prst="ellipse">
            <a:avLst/>
          </a:prstGeom>
          <a:solidFill>
            <a:schemeClr val="accent2"/>
          </a:solidFill>
          <a:ln/>
        </p:spPr>
      </p:sp>
      <p:pic>
        <p:nvPicPr>
          <p:cNvPr id="16" name="Run-out part 3 icon glyph" descr="wrench icon">    </p:cNvPr>
          <p:cNvPicPr>
            <a:picLocks noChangeAspect="1"/>
          </p:cNvPicPr>
          <p:nvPr/>
        </p:nvPicPr>
        <p:blipFill>
          <a:blip r:embed="rId4"/>
          <a:stretch>
            <a:fillRect/>
          </a:stretch>
        </p:blipFill>
        <p:spPr>
          <a:xfrm>
            <a:off x="5234940" y="4382122"/>
            <a:ext cx="320040" cy="320040"/>
          </a:xfrm>
          <a:prstGeom prst="rect">
            <a:avLst/>
          </a:prstGeom>
        </p:spPr>
      </p:pic>
      <p:sp>
        <p:nvSpPr>
          <p:cNvPr id="17" name="Run-out part 3 text"/>
          <p:cNvSpPr txBox="1"/>
          <p:nvPr/>
        </p:nvSpPr>
        <p:spPr>
          <a:xfrm>
            <a:off x="5897880" y="4151189"/>
            <a:ext cx="5608015" cy="781905"/>
          </a:xfrm>
          <a:prstGeom prst="rect">
            <a:avLst/>
          </a:prstGeom>
          <a:noFill/>
          <a:ln/>
        </p:spPr>
        <p:txBody>
          <a:bodyPr wrap="square" lIns="0" tIns="0" rIns="0" bIns="0" rtlCol="0" anchor="ctr"/>
          <a:lstStyle/>
          <a:p>
            <a:pPr algn="l" indent="0" marL="0">
              <a:buNone/>
            </a:pPr>
            <a:r>
              <a:rPr lang="en-US" sz="1800" b="1" dirty="0">
                <a:solidFill>
                  <a:schemeClr val="tx2"/>
                </a:solidFill>
              </a:rPr>
              <a:t>Ball-lock pins</a:t>
            </a:r>
            <a:endParaRPr lang="en-US" sz="1600" dirty="0"/>
          </a:p>
          <a:p>
            <a:pPr algn="l" indent="0" marL="0">
              <a:buNone/>
            </a:pPr>
            <a:r>
              <a:rPr lang="en-US" sz="1400" dirty="0">
                <a:solidFill>
                  <a:schemeClr val="tx1"/>
                </a:solidFill>
              </a:rPr>
              <a:t>Two 8 mm quick-release pins with a T-handle, one spare, grip length as on PT-01</a:t>
            </a:r>
            <a:endParaRPr lang="en-US" sz="1600" dirty="0"/>
          </a:p>
        </p:txBody>
      </p:sp>
      <p:sp>
        <p:nvSpPr>
          <p:cNvPr id="18" name="Run-out part 4 card"/>
          <p:cNvSpPr/>
          <p:nvPr/>
        </p:nvSpPr>
        <p:spPr>
          <a:xfrm>
            <a:off x="4846320" y="5161695"/>
            <a:ext cx="6888175" cy="964785"/>
          </a:xfrm>
          <a:prstGeom prst="roundRect">
            <a:avLst>
              <a:gd name="adj" fmla="val 11373"/>
            </a:avLst>
          </a:prstGeom>
          <a:solidFill>
            <a:schemeClr val="bg2"/>
          </a:solidFill>
          <a:ln/>
        </p:spPr>
      </p:sp>
      <p:sp>
        <p:nvSpPr>
          <p:cNvPr id="19" name="Run-out part 4 icon circle"/>
          <p:cNvSpPr/>
          <p:nvPr/>
        </p:nvSpPr>
        <p:spPr>
          <a:xfrm>
            <a:off x="5074920" y="5324047"/>
            <a:ext cx="640080" cy="640080"/>
          </a:xfrm>
          <a:prstGeom prst="ellipse">
            <a:avLst/>
          </a:prstGeom>
          <a:solidFill>
            <a:schemeClr val="accent2"/>
          </a:solidFill>
          <a:ln/>
        </p:spPr>
      </p:sp>
      <p:pic>
        <p:nvPicPr>
          <p:cNvPr id="20" name="Run-out part 4 icon glyph" descr="clock icon">    </p:cNvPr>
          <p:cNvPicPr>
            <a:picLocks noChangeAspect="1"/>
          </p:cNvPicPr>
          <p:nvPr/>
        </p:nvPicPr>
        <p:blipFill>
          <a:blip r:embed="rId5"/>
          <a:stretch>
            <a:fillRect/>
          </a:stretch>
        </p:blipFill>
        <p:spPr>
          <a:xfrm>
            <a:off x="5234940" y="5484067"/>
            <a:ext cx="320040" cy="320040"/>
          </a:xfrm>
          <a:prstGeom prst="rect">
            <a:avLst/>
          </a:prstGeom>
        </p:spPr>
      </p:pic>
      <p:sp>
        <p:nvSpPr>
          <p:cNvPr id="21" name="Run-out part 4 text"/>
          <p:cNvSpPr txBox="1"/>
          <p:nvPr/>
        </p:nvSpPr>
        <p:spPr>
          <a:xfrm>
            <a:off x="5897880" y="5253135"/>
            <a:ext cx="5608015" cy="781905"/>
          </a:xfrm>
          <a:prstGeom prst="rect">
            <a:avLst/>
          </a:prstGeom>
          <a:noFill/>
          <a:ln/>
        </p:spPr>
        <p:txBody>
          <a:bodyPr wrap="square" lIns="0" tIns="0" rIns="0" bIns="0" rtlCol="0" anchor="ctr"/>
          <a:lstStyle/>
          <a:p>
            <a:pPr algn="l" indent="0" marL="0">
              <a:buNone/>
            </a:pPr>
            <a:r>
              <a:rPr lang="en-US" sz="1800" b="1" dirty="0">
                <a:solidFill>
                  <a:schemeClr val="tx2"/>
                </a:solidFill>
              </a:rPr>
              <a:t>Temperature loggers</a:t>
            </a:r>
            <a:endParaRPr lang="en-US" sz="1600" dirty="0"/>
          </a:p>
          <a:p>
            <a:pPr algn="l" indent="0" marL="0">
              <a:buNone/>
            </a:pPr>
            <a:r>
              <a:rPr lang="en-US" sz="1400" dirty="0">
                <a:solidFill>
                  <a:schemeClr val="tx1"/>
                </a:solidFill>
              </a:rPr>
              <a:t>Two, 0.1 degree C resolution, one strapped to the sensor housing and one in the air near the target, one sample per minute, CSV export</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Checks before the targets go to the robot cell</a:t>
            </a:r>
            <a:endParaRPr lang="en-US" sz="3400" dirty="0"/>
          </a:p>
        </p:txBody>
      </p:sp>
      <p:pic>
        <p:nvPicPr>
          <p:cNvPr id="3" name="Checklist check 1" descr="check icon">    </p:cNvPr>
          <p:cNvPicPr>
            <a:picLocks noChangeAspect="1"/>
          </p:cNvPicPr>
          <p:nvPr/>
        </p:nvPicPr>
        <p:blipFill>
          <a:blip r:embed="rId1"/>
          <a:stretch>
            <a:fillRect/>
          </a:stretch>
        </p:blipFill>
        <p:spPr>
          <a:xfrm>
            <a:off x="457200" y="1465898"/>
            <a:ext cx="411480" cy="411480"/>
          </a:xfrm>
          <a:prstGeom prst="rect">
            <a:avLst/>
          </a:prstGeom>
        </p:spPr>
      </p:pic>
      <p:sp>
        <p:nvSpPr>
          <p:cNvPr id="4" name="Checklist text 1"/>
          <p:cNvSpPr txBox="1"/>
          <p:nvPr/>
        </p:nvSpPr>
        <p:spPr>
          <a:xfrm>
            <a:off x="1051560" y="1417320"/>
            <a:ext cx="7360920" cy="508635"/>
          </a:xfrm>
          <a:prstGeom prst="rect">
            <a:avLst/>
          </a:prstGeom>
          <a:noFill/>
          <a:ln/>
        </p:spPr>
        <p:txBody>
          <a:bodyPr wrap="square" lIns="0" tIns="0" rIns="0" bIns="0" rtlCol="0" anchor="ctr"/>
          <a:lstStyle/>
          <a:p>
            <a:pPr algn="l" indent="0" marL="0">
              <a:buNone/>
            </a:pPr>
            <a:r>
              <a:rPr lang="en-US" sz="1400" dirty="0">
                <a:solidFill>
                  <a:schemeClr val="tx1"/>
                </a:solidFill>
              </a:rPr>
              <a:t>Adapter PT-01 made to drawing; its flange interface confirmed against the chosen robot's flange drawing</a:t>
            </a:r>
            <a:endParaRPr lang="en-US" sz="1400" dirty="0"/>
          </a:p>
        </p:txBody>
      </p:sp>
      <p:pic>
        <p:nvPicPr>
          <p:cNvPr id="5" name="Checklist check 2" descr="check icon">    </p:cNvPr>
          <p:cNvPicPr>
            <a:picLocks noChangeAspect="1"/>
          </p:cNvPicPr>
          <p:nvPr/>
        </p:nvPicPr>
        <p:blipFill>
          <a:blip r:embed="rId2"/>
          <a:stretch>
            <a:fillRect/>
          </a:stretch>
        </p:blipFill>
        <p:spPr>
          <a:xfrm>
            <a:off x="457200" y="2065973"/>
            <a:ext cx="411480" cy="411480"/>
          </a:xfrm>
          <a:prstGeom prst="rect">
            <a:avLst/>
          </a:prstGeom>
        </p:spPr>
      </p:pic>
      <p:sp>
        <p:nvSpPr>
          <p:cNvPr id="6" name="Checklist text 2"/>
          <p:cNvSpPr txBox="1"/>
          <p:nvPr/>
        </p:nvSpPr>
        <p:spPr>
          <a:xfrm>
            <a:off x="1051560" y="2017395"/>
            <a:ext cx="7360920" cy="508635"/>
          </a:xfrm>
          <a:prstGeom prst="rect">
            <a:avLst/>
          </a:prstGeom>
          <a:noFill/>
          <a:ln/>
        </p:spPr>
        <p:txBody>
          <a:bodyPr wrap="square" lIns="0" tIns="0" rIns="0" bIns="0" rtlCol="0" anchor="ctr"/>
          <a:lstStyle/>
          <a:p>
            <a:pPr algn="l" indent="0" marL="0">
              <a:buNone/>
            </a:pPr>
            <a:r>
              <a:rPr lang="en-US" sz="1400" dirty="0">
                <a:solidFill>
                  <a:schemeClr val="tx1"/>
                </a:solidFill>
              </a:rPr>
              <a:t>Each spigot drops into the adapter, its dowel in the keyway, and the ball-lock pin passes; no play</a:t>
            </a:r>
            <a:endParaRPr lang="en-US" sz="1400" dirty="0"/>
          </a:p>
        </p:txBody>
      </p:sp>
      <p:pic>
        <p:nvPicPr>
          <p:cNvPr id="7" name="Checklist check 3" descr="check icon">    </p:cNvPr>
          <p:cNvPicPr>
            <a:picLocks noChangeAspect="1"/>
          </p:cNvPicPr>
          <p:nvPr/>
        </p:nvPicPr>
        <p:blipFill>
          <a:blip r:embed="rId3"/>
          <a:stretch>
            <a:fillRect/>
          </a:stretch>
        </p:blipFill>
        <p:spPr>
          <a:xfrm>
            <a:off x="457200" y="2666048"/>
            <a:ext cx="411480" cy="411480"/>
          </a:xfrm>
          <a:prstGeom prst="rect">
            <a:avLst/>
          </a:prstGeom>
        </p:spPr>
      </p:pic>
      <p:sp>
        <p:nvSpPr>
          <p:cNvPr id="8" name="Checklist text 3"/>
          <p:cNvSpPr txBox="1"/>
          <p:nvPr/>
        </p:nvSpPr>
        <p:spPr>
          <a:xfrm>
            <a:off x="1051560" y="2617470"/>
            <a:ext cx="7360920" cy="508635"/>
          </a:xfrm>
          <a:prstGeom prst="rect">
            <a:avLst/>
          </a:prstGeom>
          <a:noFill/>
          <a:ln/>
        </p:spPr>
        <p:txBody>
          <a:bodyPr wrap="square" lIns="0" tIns="0" rIns="0" bIns="0" rtlCol="0" anchor="ctr"/>
          <a:lstStyle/>
          <a:p>
            <a:pPr algn="l" indent="0" marL="0">
              <a:buNone/>
            </a:pPr>
            <a:r>
              <a:rPr lang="en-US" sz="1400" dirty="0">
                <a:solidFill>
                  <a:schemeClr val="tx1"/>
                </a:solidFill>
              </a:rPr>
              <a:t>Fabricator's inspection report received for every feature: size, land, bevel and position from the spigot datum, with uncertainties, entered in the as-built record</a:t>
            </a:r>
            <a:endParaRPr lang="en-US" sz="1400" dirty="0"/>
          </a:p>
        </p:txBody>
      </p:sp>
      <p:pic>
        <p:nvPicPr>
          <p:cNvPr id="9" name="Checklist check 4" descr="check icon">    </p:cNvPr>
          <p:cNvPicPr>
            <a:picLocks noChangeAspect="1"/>
          </p:cNvPicPr>
          <p:nvPr/>
        </p:nvPicPr>
        <p:blipFill>
          <a:blip r:embed="rId4"/>
          <a:stretch>
            <a:fillRect/>
          </a:stretch>
        </p:blipFill>
        <p:spPr>
          <a:xfrm>
            <a:off x="457200" y="3266123"/>
            <a:ext cx="411480" cy="411480"/>
          </a:xfrm>
          <a:prstGeom prst="rect">
            <a:avLst/>
          </a:prstGeom>
        </p:spPr>
      </p:pic>
      <p:sp>
        <p:nvSpPr>
          <p:cNvPr id="10" name="Checklist text 4"/>
          <p:cNvSpPr txBox="1"/>
          <p:nvPr/>
        </p:nvSpPr>
        <p:spPr>
          <a:xfrm>
            <a:off x="1051560" y="3217545"/>
            <a:ext cx="7360920" cy="508635"/>
          </a:xfrm>
          <a:prstGeom prst="rect">
            <a:avLst/>
          </a:prstGeom>
          <a:noFill/>
          <a:ln/>
        </p:spPr>
        <p:txBody>
          <a:bodyPr wrap="square" lIns="0" tIns="0" rIns="0" bIns="0" rtlCol="0" anchor="ctr"/>
          <a:lstStyle/>
          <a:p>
            <a:pPr algn="l" indent="0" marL="0">
              <a:buNone/>
            </a:pPr>
            <a:r>
              <a:rPr lang="en-US" sz="1400" dirty="0">
                <a:solidFill>
                  <a:schemeClr val="tx1"/>
                </a:solidFill>
              </a:rPr>
              <a:t>Every plate flat to 0.05 mm after mounting, checked with the run-out fixture; width and length recorded</a:t>
            </a:r>
            <a:endParaRPr lang="en-US" sz="1400" dirty="0"/>
          </a:p>
        </p:txBody>
      </p:sp>
      <p:pic>
        <p:nvPicPr>
          <p:cNvPr id="11" name="Checklist check 5" descr="check icon">    </p:cNvPr>
          <p:cNvPicPr>
            <a:picLocks noChangeAspect="1"/>
          </p:cNvPicPr>
          <p:nvPr/>
        </p:nvPicPr>
        <p:blipFill>
          <a:blip r:embed="rId5"/>
          <a:stretch>
            <a:fillRect/>
          </a:stretch>
        </p:blipFill>
        <p:spPr>
          <a:xfrm>
            <a:off x="457200" y="3866197"/>
            <a:ext cx="411480" cy="411480"/>
          </a:xfrm>
          <a:prstGeom prst="rect">
            <a:avLst/>
          </a:prstGeom>
        </p:spPr>
      </p:pic>
      <p:sp>
        <p:nvSpPr>
          <p:cNvPr id="12" name="Checklist text 5"/>
          <p:cNvSpPr txBox="1"/>
          <p:nvPr/>
        </p:nvSpPr>
        <p:spPr>
          <a:xfrm>
            <a:off x="1051560" y="3817620"/>
            <a:ext cx="7360920" cy="508635"/>
          </a:xfrm>
          <a:prstGeom prst="rect">
            <a:avLst/>
          </a:prstGeom>
          <a:noFill/>
          <a:ln/>
        </p:spPr>
        <p:txBody>
          <a:bodyPr wrap="square" lIns="0" tIns="0" rIns="0" bIns="0" rtlCol="0" anchor="ctr"/>
          <a:lstStyle/>
          <a:p>
            <a:pPr algn="l" indent="0" marL="0">
              <a:buNone/>
            </a:pPr>
            <a:r>
              <a:rPr lang="en-US" sz="1400" dirty="0">
                <a:solidFill>
                  <a:schemeClr val="tx1"/>
                </a:solidFill>
              </a:rPr>
              <a:t>Standoffs measured and grouped; the measured lengths recorded as the gaps</a:t>
            </a:r>
            <a:endParaRPr lang="en-US" sz="1400" dirty="0"/>
          </a:p>
        </p:txBody>
      </p:sp>
      <p:pic>
        <p:nvPicPr>
          <p:cNvPr id="13" name="Checklist check 6" descr="check icon">    </p:cNvPr>
          <p:cNvPicPr>
            <a:picLocks noChangeAspect="1"/>
          </p:cNvPicPr>
          <p:nvPr/>
        </p:nvPicPr>
        <p:blipFill>
          <a:blip r:embed="rId6"/>
          <a:stretch>
            <a:fillRect/>
          </a:stretch>
        </p:blipFill>
        <p:spPr>
          <a:xfrm>
            <a:off x="457200" y="4466272"/>
            <a:ext cx="411480" cy="411480"/>
          </a:xfrm>
          <a:prstGeom prst="rect">
            <a:avLst/>
          </a:prstGeom>
        </p:spPr>
      </p:pic>
      <p:sp>
        <p:nvSpPr>
          <p:cNvPr id="14" name="Checklist text 6"/>
          <p:cNvSpPr txBox="1"/>
          <p:nvPr/>
        </p:nvSpPr>
        <p:spPr>
          <a:xfrm>
            <a:off x="1051560" y="4417695"/>
            <a:ext cx="7360920" cy="508635"/>
          </a:xfrm>
          <a:prstGeom prst="rect">
            <a:avLst/>
          </a:prstGeom>
          <a:noFill/>
          <a:ln/>
        </p:spPr>
        <p:txBody>
          <a:bodyPr wrap="square" lIns="0" tIns="0" rIns="0" bIns="0" rtlCol="0" anchor="ctr"/>
          <a:lstStyle/>
          <a:p>
            <a:pPr algn="l" indent="0" marL="0">
              <a:buNone/>
            </a:pPr>
            <a:r>
              <a:rPr lang="en-US" sz="1400" dirty="0">
                <a:solidFill>
                  <a:schemeClr val="tx1"/>
                </a:solidFill>
              </a:rPr>
              <a:t>Every face the sensor sees matte, uniform, the same finish on all plates; posts of T4 not detected in the post check</a:t>
            </a:r>
            <a:endParaRPr lang="en-US" sz="1400" dirty="0"/>
          </a:p>
        </p:txBody>
      </p:sp>
      <p:pic>
        <p:nvPicPr>
          <p:cNvPr id="15" name="Checklist check 7" descr="check icon">    </p:cNvPr>
          <p:cNvPicPr>
            <a:picLocks noChangeAspect="1"/>
          </p:cNvPicPr>
          <p:nvPr/>
        </p:nvPicPr>
        <p:blipFill>
          <a:blip r:embed="rId7"/>
          <a:stretch>
            <a:fillRect/>
          </a:stretch>
        </p:blipFill>
        <p:spPr>
          <a:xfrm>
            <a:off x="457200" y="5066347"/>
            <a:ext cx="411480" cy="411480"/>
          </a:xfrm>
          <a:prstGeom prst="rect">
            <a:avLst/>
          </a:prstGeom>
        </p:spPr>
      </p:pic>
      <p:sp>
        <p:nvSpPr>
          <p:cNvPr id="16" name="Checklist text 7"/>
          <p:cNvSpPr txBox="1"/>
          <p:nvPr/>
        </p:nvSpPr>
        <p:spPr>
          <a:xfrm>
            <a:off x="1051560" y="5017770"/>
            <a:ext cx="7360920" cy="508635"/>
          </a:xfrm>
          <a:prstGeom prst="rect">
            <a:avLst/>
          </a:prstGeom>
          <a:noFill/>
          <a:ln/>
        </p:spPr>
        <p:txBody>
          <a:bodyPr wrap="square" lIns="0" tIns="0" rIns="0" bIns="0" rtlCol="0" anchor="ctr"/>
          <a:lstStyle/>
          <a:p>
            <a:pPr algn="l" indent="0" marL="0">
              <a:buNone/>
            </a:pPr>
            <a:r>
              <a:rPr lang="en-US" sz="1400" dirty="0">
                <a:solidFill>
                  <a:schemeClr val="tx1"/>
                </a:solidFill>
              </a:rPr>
              <a:t>Each target weighed with its spigot and the adapter, for the robot's tool load data</a:t>
            </a:r>
            <a:endParaRPr lang="en-US" sz="1400" dirty="0"/>
          </a:p>
        </p:txBody>
      </p:sp>
      <p:pic>
        <p:nvPicPr>
          <p:cNvPr id="17" name="Checklist check 8" descr="check icon">    </p:cNvPr>
          <p:cNvPicPr>
            <a:picLocks noChangeAspect="1"/>
          </p:cNvPicPr>
          <p:nvPr/>
        </p:nvPicPr>
        <p:blipFill>
          <a:blip r:embed="rId8"/>
          <a:stretch>
            <a:fillRect/>
          </a:stretch>
        </p:blipFill>
        <p:spPr>
          <a:xfrm>
            <a:off x="457200" y="5666422"/>
            <a:ext cx="411480" cy="411480"/>
          </a:xfrm>
          <a:prstGeom prst="rect">
            <a:avLst/>
          </a:prstGeom>
        </p:spPr>
      </p:pic>
      <p:sp>
        <p:nvSpPr>
          <p:cNvPr id="18" name="Checklist text 8"/>
          <p:cNvSpPr txBox="1"/>
          <p:nvPr/>
        </p:nvSpPr>
        <p:spPr>
          <a:xfrm>
            <a:off x="1051560" y="5617845"/>
            <a:ext cx="7360920" cy="508635"/>
          </a:xfrm>
          <a:prstGeom prst="rect">
            <a:avLst/>
          </a:prstGeom>
          <a:noFill/>
          <a:ln/>
        </p:spPr>
        <p:txBody>
          <a:bodyPr wrap="square" lIns="0" tIns="0" rIns="0" bIns="0" rtlCol="0" anchor="ctr"/>
          <a:lstStyle/>
          <a:p>
            <a:pPr algn="l" indent="0" marL="0">
              <a:buNone/>
            </a:pPr>
            <a:r>
              <a:rPr lang="en-US" sz="1400" dirty="0">
                <a:solidFill>
                  <a:schemeClr val="tx1"/>
                </a:solidFill>
              </a:rPr>
              <a:t>Screw torques recorded; witness lines marked across the adapter and the flange</a:t>
            </a:r>
            <a:endParaRPr lang="en-US" sz="1400" dirty="0"/>
          </a:p>
        </p:txBody>
      </p:sp>
      <p:sp>
        <p:nvSpPr>
          <p:cNvPr id="19" name="Visual card"/>
          <p:cNvSpPr/>
          <p:nvPr/>
        </p:nvSpPr>
        <p:spPr>
          <a:xfrm>
            <a:off x="8686800" y="1417320"/>
            <a:ext cx="3047695" cy="4709160"/>
          </a:xfrm>
          <a:prstGeom prst="roundRect">
            <a:avLst>
              <a:gd name="adj" fmla="val 3600"/>
            </a:avLst>
          </a:prstGeom>
          <a:solidFill>
            <a:schemeClr val="bg2"/>
          </a:solidFill>
          <a:ln/>
        </p:spPr>
      </p:sp>
      <p:sp>
        <p:nvSpPr>
          <p:cNvPr id="20" name="Clipboard check icon circle"/>
          <p:cNvSpPr/>
          <p:nvPr/>
        </p:nvSpPr>
        <p:spPr>
          <a:xfrm>
            <a:off x="9021928" y="2583180"/>
            <a:ext cx="2377440" cy="2377440"/>
          </a:xfrm>
          <a:prstGeom prst="ellipse">
            <a:avLst/>
          </a:prstGeom>
          <a:solidFill>
            <a:schemeClr val="accent2"/>
          </a:solidFill>
          <a:ln/>
        </p:spPr>
      </p:sp>
      <p:pic>
        <p:nvPicPr>
          <p:cNvPr id="21" name="Clipboard check icon glyph" descr="clipboardCheck icon">    </p:cNvPr>
          <p:cNvPicPr>
            <a:picLocks noChangeAspect="1"/>
          </p:cNvPicPr>
          <p:nvPr/>
        </p:nvPicPr>
        <p:blipFill>
          <a:blip r:embed="rId9"/>
          <a:stretch>
            <a:fillRect/>
          </a:stretch>
        </p:blipFill>
        <p:spPr>
          <a:xfrm>
            <a:off x="9616288" y="3177540"/>
            <a:ext cx="1188720" cy="1188720"/>
          </a:xfrm>
          <a:prstGeom prst="rect">
            <a:avLst/>
          </a:prstGeom>
        </p:spPr>
      </p:pic>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VSX3000 Performance">
  <a:themeElements>
    <a:clrScheme name="VSX3000 Performance">
      <a:dk1>
        <a:srgbClr val="1F2A30"/>
      </a:dk1>
      <a:lt1>
        <a:srgbClr val="FFFFFF"/>
      </a:lt1>
      <a:dk2>
        <a:srgbClr val="2E4A52"/>
      </a:dk2>
      <a:lt2>
        <a:srgbClr val="EEF2F3"/>
      </a:lt2>
      <a:accent1>
        <a:srgbClr val="D9731A"/>
      </a:accent1>
      <a:accent2>
        <a:srgbClr val="3E7C87"/>
      </a:accent2>
      <a:accent3>
        <a:srgbClr val="8FA9AE"/>
      </a:accent3>
      <a:accent4>
        <a:srgbClr val="B23A2E"/>
      </a:accent4>
      <a:accent5>
        <a:srgbClr val="5B6B70"/>
      </a:accent5>
      <a:accent6>
        <a:srgbClr val="C9D6D8"/>
      </a:accent6>
      <a:hlink>
        <a:srgbClr val="3E7C87"/>
      </a:hlink>
      <a:folHlink>
        <a:srgbClr val="5B6B70"/>
      </a:folHlink>
    </a:clrScheme>
    <a:fontScheme name="VSX3000 Performa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VSX3000 Performance Testing: Procurement and Build</dc:title>
  <dc:subject>VSX3000 performance testing</dc:subject>
  <dc:creator>Sensor performance estimation</dc:creator>
  <cp:lastModifiedBy>Sensor performance estimation</cp:lastModifiedBy>
  <cp:revision>1</cp:revision>
  <dcterms:created xsi:type="dcterms:W3CDTF">2026-10-08T19:30:40Z</dcterms:created>
  <dcterms:modified xsi:type="dcterms:W3CDTF">2026-10-08T19:30:40Z</dcterms:modified>
</cp:coreProperties>
</file>